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E8F0FE"/>
    <a:srgbClr val="768093"/>
    <a:srgbClr val="C6D0DE"/>
    <a:srgbClr val="424A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991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(Nhóm trưởng) — 40 giây. Đây là video RIÊNG cho bài thực hành. Giới thiệu tên đề tài theo nhánh kỹ thuật, không khóa vào một thuật toán.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25 giây.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55 giây. Vào thẳng quy trình và điểm đau, không nói vòng vo về doanh nghiệp — cô đã nhắc nhóm chỗ này ở buổi 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55 giây. Mở bằng câu 'một kết quả dự báo phục vụ ba phòng ban' — đó là điểm ăn tiền.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50 giây. Câu cuối rất quan trọng nếu cô đối chiếu với video đồ 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60 giây. Phải giải thích được VÌ SAO MAPE có hai mốc — đây là câu hỏi khả năng cao.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 55 giây. Không đọc hết bảng — nói 3 chỉ số quan trọng nhất rồi nhấn câu cuối.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 50 giây.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TV5 — 60 giây. Hai ô dưới là phần cô góp ý ở buổi 6 — phải nói rõ.</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TV5 — 50 giây. Nói 2 use case chính (BR-01, BR-03), phần còn lại để hội đồng đọc.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TV6 — 55 giây. Giới thiệu theo module, mỗi module một câu tóm tắt.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TV6 — 50 giây. Nhấn cột KPI liên kết bên phải.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TV7 — 55 giây. Nhấn dòng 08:00 — đó là điểm kiểm soát của con người.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TV7 — 55 giây. Ba tầng bên trái, ERD bên phải, đừng đọc hết thuộc tính.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TV8 — 55 giây. Nhấn pha 6 Hypercare — nhiều nhóm quên pha này.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TV8 — 60 giây. Ô bên phải là điểm phòng thủ: nhóm đã tính trước việc không trùng chi phí với đồ án.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TV9 — 55 giây. Nhấn R02 — đây là rủi ro nghề nghiệp của bài toán dữ liệu và nhóm đã có phương án.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TV9 — 55 giây. Nhấn ô cuối: nhóm không dừng ở nghiệm thu kỹ thuật mà đo cả giá trị nghiệp vụ.</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45 giây. Kết thúc video bài thực hành.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txBox="1"/>
          <p:nvPr/>
        </p:nvSpPr>
        <p:spPr>
          <a:xfrm>
            <a:off x="687887" y="1828676"/>
            <a:ext cx="7863840" cy="1325880"/>
          </a:xfrm>
          <a:prstGeom prst="rect">
            <a:avLst/>
          </a:prstGeom>
          <a:noFill/>
          <a:ln/>
        </p:spPr>
        <p:txBody>
          <a:bodyPr wrap="square" lIns="0" tIns="0" rIns="0" bIns="0" rtlCol="0" anchor="ctr"/>
          <a:lstStyle/>
          <a:p>
            <a:pPr marL="0" indent="0" algn="ctr">
              <a:lnSpc>
                <a:spcPts val="4000"/>
              </a:lnSpc>
              <a:buNone/>
            </a:pPr>
            <a:r>
              <a:rPr lang="en-US" sz="3600" b="1" dirty="0">
                <a:solidFill>
                  <a:srgbClr val="1E2761"/>
                </a:solidFill>
                <a:latin typeface="Cambria" pitchFamily="34" charset="0"/>
                <a:ea typeface="Cambria" pitchFamily="34" charset="-122"/>
                <a:cs typeface="Cambria" pitchFamily="34" charset="-120"/>
              </a:rPr>
              <a:t>Ứng dụng AI </a:t>
            </a:r>
            <a:r>
              <a:rPr lang="en-US" sz="3600" b="1" dirty="0" err="1">
                <a:solidFill>
                  <a:srgbClr val="1E2761"/>
                </a:solidFill>
                <a:latin typeface="Cambria" pitchFamily="34" charset="0"/>
                <a:ea typeface="Cambria" pitchFamily="34" charset="-122"/>
                <a:cs typeface="Cambria" pitchFamily="34" charset="-120"/>
              </a:rPr>
              <a:t>dự</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báo</a:t>
            </a:r>
            <a:r>
              <a:rPr lang="en-US" sz="3600" dirty="0">
                <a:solidFill>
                  <a:srgbClr val="1E2761"/>
                </a:solidFill>
              </a:rPr>
              <a:t> </a:t>
            </a:r>
            <a:r>
              <a:rPr lang="en-US" sz="3600" b="1" dirty="0" err="1">
                <a:solidFill>
                  <a:srgbClr val="1E2761"/>
                </a:solidFill>
                <a:latin typeface="Cambria" pitchFamily="34" charset="0"/>
                <a:ea typeface="Cambria" pitchFamily="34" charset="-122"/>
                <a:cs typeface="Cambria" pitchFamily="34" charset="-120"/>
              </a:rPr>
              <a:t>lưu</a:t>
            </a:r>
            <a:r>
              <a:rPr lang="en-US" sz="3600" b="1" dirty="0">
                <a:solidFill>
                  <a:srgbClr val="1E2761"/>
                </a:solidFill>
                <a:latin typeface="Cambria" pitchFamily="34" charset="0"/>
                <a:ea typeface="Cambria" pitchFamily="34" charset="-122"/>
                <a:cs typeface="Cambria" pitchFamily="34" charset="-120"/>
              </a:rPr>
              <a:t> lượng </a:t>
            </a:r>
            <a:r>
              <a:rPr lang="en-US" sz="3600" b="1" dirty="0" err="1">
                <a:solidFill>
                  <a:srgbClr val="1E2761"/>
                </a:solidFill>
                <a:latin typeface="Cambria" pitchFamily="34" charset="0"/>
                <a:ea typeface="Cambria" pitchFamily="34" charset="-122"/>
                <a:cs typeface="Cambria" pitchFamily="34" charset="-120"/>
              </a:rPr>
              <a:t>khách</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hàng</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cho</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chuỗi</a:t>
            </a:r>
            <a:r>
              <a:rPr lang="en-US" sz="3600" b="1" dirty="0">
                <a:solidFill>
                  <a:srgbClr val="1E2761"/>
                </a:solidFill>
                <a:latin typeface="Cambria" pitchFamily="34" charset="0"/>
                <a:ea typeface="Cambria" pitchFamily="34" charset="-122"/>
                <a:cs typeface="Cambria" pitchFamily="34" charset="-120"/>
              </a:rPr>
              <a:t> Ways </a:t>
            </a:r>
            <a:r>
              <a:rPr lang="en-US" sz="3600" b="1" dirty="0" err="1">
                <a:solidFill>
                  <a:srgbClr val="1E2761"/>
                </a:solidFill>
                <a:latin typeface="Cambria" pitchFamily="34" charset="0"/>
                <a:ea typeface="Cambria" pitchFamily="34" charset="-122"/>
                <a:cs typeface="Cambria" pitchFamily="34" charset="-120"/>
              </a:rPr>
              <a:t>Staytion</a:t>
            </a:r>
            <a:endParaRPr lang="en-US" sz="3600" dirty="0">
              <a:solidFill>
                <a:srgbClr val="1E2761"/>
              </a:solidFill>
            </a:endParaRPr>
          </a:p>
        </p:txBody>
      </p:sp>
      <p:pic>
        <p:nvPicPr>
          <p:cNvPr id="13" name="Picture 12">
            <a:extLst>
              <a:ext uri="{FF2B5EF4-FFF2-40B4-BE49-F238E27FC236}">
                <a16:creationId xmlns:a16="http://schemas.microsoft.com/office/drawing/2014/main" id="{F6B53CB2-3F9D-E065-061C-E02992F65061}"/>
              </a:ext>
            </a:extLst>
          </p:cNvPr>
          <p:cNvPicPr>
            <a:picLocks noChangeAspect="1"/>
          </p:cNvPicPr>
          <p:nvPr/>
        </p:nvPicPr>
        <p:blipFill>
          <a:blip r:embed="rId3"/>
          <a:stretch>
            <a:fillRect/>
          </a:stretch>
        </p:blipFill>
        <p:spPr>
          <a:xfrm>
            <a:off x="687887" y="134968"/>
            <a:ext cx="1302204" cy="1325880"/>
          </a:xfrm>
          <a:prstGeom prst="rect">
            <a:avLst/>
          </a:prstGeom>
        </p:spPr>
      </p:pic>
      <p:sp>
        <p:nvSpPr>
          <p:cNvPr id="15" name="Text 1">
            <a:extLst>
              <a:ext uri="{FF2B5EF4-FFF2-40B4-BE49-F238E27FC236}">
                <a16:creationId xmlns:a16="http://schemas.microsoft.com/office/drawing/2014/main" id="{A1A3CEDF-77AB-5B2E-ADEF-AC72B281342E}"/>
              </a:ext>
            </a:extLst>
          </p:cNvPr>
          <p:cNvSpPr txBox="1"/>
          <p:nvPr/>
        </p:nvSpPr>
        <p:spPr>
          <a:xfrm>
            <a:off x="2167799" y="158571"/>
            <a:ext cx="6860455" cy="639337"/>
          </a:xfrm>
          <a:prstGeom prst="rect">
            <a:avLst/>
          </a:prstGeom>
          <a:noFill/>
          <a:ln/>
        </p:spPr>
        <p:txBody>
          <a:bodyPr wrap="square" lIns="0" tIns="0" rIns="0" bIns="0" rtlCol="0" anchor="ctr"/>
          <a:lstStyle/>
          <a:p>
            <a:pPr marL="0" indent="0">
              <a:lnSpc>
                <a:spcPts val="4000"/>
              </a:lnSpc>
              <a:buNone/>
            </a:pPr>
            <a:r>
              <a:rPr lang="en-US" sz="2000" b="1" dirty="0">
                <a:solidFill>
                  <a:srgbClr val="1E2761"/>
                </a:solidFill>
                <a:latin typeface="Cambria" pitchFamily="34" charset="0"/>
                <a:ea typeface="Cambria" pitchFamily="34" charset="-122"/>
                <a:cs typeface="Cambria" pitchFamily="34" charset="-120"/>
              </a:rPr>
              <a:t>Trường </a:t>
            </a:r>
            <a:r>
              <a:rPr lang="en-US" sz="2000" b="1" dirty="0" err="1">
                <a:solidFill>
                  <a:srgbClr val="1E2761"/>
                </a:solidFill>
                <a:latin typeface="Cambria" pitchFamily="34" charset="0"/>
                <a:ea typeface="Cambria" pitchFamily="34" charset="-122"/>
                <a:cs typeface="Cambria" pitchFamily="34" charset="-120"/>
              </a:rPr>
              <a:t>Đại</a:t>
            </a:r>
            <a:r>
              <a:rPr lang="en-US" sz="2000" b="1" dirty="0">
                <a:solidFill>
                  <a:srgbClr val="1E2761"/>
                </a:solidFill>
                <a:latin typeface="Cambria" pitchFamily="34" charset="0"/>
                <a:ea typeface="Cambria" pitchFamily="34" charset="-122"/>
                <a:cs typeface="Cambria" pitchFamily="34" charset="-120"/>
              </a:rPr>
              <a:t> Học Công </a:t>
            </a:r>
            <a:r>
              <a:rPr lang="en-US" sz="2000" b="1" dirty="0" err="1">
                <a:solidFill>
                  <a:srgbClr val="1E2761"/>
                </a:solidFill>
                <a:latin typeface="Cambria" pitchFamily="34" charset="0"/>
                <a:ea typeface="Cambria" pitchFamily="34" charset="-122"/>
                <a:cs typeface="Cambria" pitchFamily="34" charset="-120"/>
              </a:rPr>
              <a:t>Nghệ</a:t>
            </a:r>
            <a:r>
              <a:rPr lang="en-US" sz="2000" b="1" dirty="0">
                <a:solidFill>
                  <a:srgbClr val="1E2761"/>
                </a:solidFill>
                <a:latin typeface="Cambria" pitchFamily="34" charset="0"/>
                <a:ea typeface="Cambria" pitchFamily="34" charset="-122"/>
                <a:cs typeface="Cambria" pitchFamily="34" charset="-120"/>
              </a:rPr>
              <a:t> Thông Tin - ĐHQG - HCM </a:t>
            </a:r>
            <a:endParaRPr lang="en-US" sz="2000" dirty="0">
              <a:solidFill>
                <a:srgbClr val="1E2761"/>
              </a:solidFill>
            </a:endParaRPr>
          </a:p>
        </p:txBody>
      </p:sp>
      <p:sp>
        <p:nvSpPr>
          <p:cNvPr id="17" name="Text 1">
            <a:extLst>
              <a:ext uri="{FF2B5EF4-FFF2-40B4-BE49-F238E27FC236}">
                <a16:creationId xmlns:a16="http://schemas.microsoft.com/office/drawing/2014/main" id="{7D1ED117-3882-53FB-262C-8B82FDA1E4DF}"/>
              </a:ext>
            </a:extLst>
          </p:cNvPr>
          <p:cNvSpPr txBox="1"/>
          <p:nvPr/>
        </p:nvSpPr>
        <p:spPr>
          <a:xfrm>
            <a:off x="2167800" y="601702"/>
            <a:ext cx="6860455" cy="639337"/>
          </a:xfrm>
          <a:prstGeom prst="rect">
            <a:avLst/>
          </a:prstGeom>
          <a:noFill/>
          <a:ln/>
        </p:spPr>
        <p:txBody>
          <a:bodyPr wrap="square" lIns="0" tIns="0" rIns="0" bIns="0" rtlCol="0" anchor="ctr"/>
          <a:lstStyle/>
          <a:p>
            <a:pPr marL="0" indent="0">
              <a:lnSpc>
                <a:spcPts val="4000"/>
              </a:lnSpc>
              <a:buNone/>
            </a:pPr>
            <a:r>
              <a:rPr lang="en-US" sz="2000" b="1" dirty="0">
                <a:solidFill>
                  <a:srgbClr val="1E2761"/>
                </a:solidFill>
                <a:latin typeface="Cambria" pitchFamily="34" charset="0"/>
                <a:ea typeface="Cambria" pitchFamily="34" charset="-122"/>
                <a:cs typeface="Cambria" pitchFamily="34" charset="-120"/>
              </a:rPr>
              <a:t>Trung Tâm </a:t>
            </a:r>
            <a:r>
              <a:rPr lang="en-US" sz="2000" b="1" dirty="0" err="1">
                <a:solidFill>
                  <a:srgbClr val="1E2761"/>
                </a:solidFill>
                <a:latin typeface="Cambria" pitchFamily="34" charset="0"/>
                <a:ea typeface="Cambria" pitchFamily="34" charset="-122"/>
                <a:cs typeface="Cambria" pitchFamily="34" charset="-120"/>
              </a:rPr>
              <a:t>Phát</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Triển</a:t>
            </a:r>
            <a:r>
              <a:rPr lang="en-US" sz="2000" b="1" dirty="0">
                <a:solidFill>
                  <a:srgbClr val="1E2761"/>
                </a:solidFill>
                <a:latin typeface="Cambria" pitchFamily="34" charset="0"/>
                <a:ea typeface="Cambria" pitchFamily="34" charset="-122"/>
                <a:cs typeface="Cambria" pitchFamily="34" charset="-120"/>
              </a:rPr>
              <a:t> Công </a:t>
            </a:r>
            <a:r>
              <a:rPr lang="en-US" sz="2000" b="1" dirty="0" err="1">
                <a:solidFill>
                  <a:srgbClr val="1E2761"/>
                </a:solidFill>
                <a:latin typeface="Cambria" pitchFamily="34" charset="0"/>
                <a:ea typeface="Cambria" pitchFamily="34" charset="-122"/>
                <a:cs typeface="Cambria" pitchFamily="34" charset="-120"/>
              </a:rPr>
              <a:t>Nghệ</a:t>
            </a:r>
            <a:r>
              <a:rPr lang="en-US" sz="2000" b="1" dirty="0">
                <a:solidFill>
                  <a:srgbClr val="1E2761"/>
                </a:solidFill>
                <a:latin typeface="Cambria" pitchFamily="34" charset="0"/>
                <a:ea typeface="Cambria" pitchFamily="34" charset="-122"/>
                <a:cs typeface="Cambria" pitchFamily="34" charset="-120"/>
              </a:rPr>
              <a:t> Thông tin</a:t>
            </a:r>
            <a:endParaRPr lang="en-US" sz="2000" dirty="0">
              <a:solidFill>
                <a:srgbClr val="1E2761"/>
              </a:solidFill>
            </a:endParaRPr>
          </a:p>
        </p:txBody>
      </p:sp>
      <p:sp>
        <p:nvSpPr>
          <p:cNvPr id="19" name="Text 1">
            <a:extLst>
              <a:ext uri="{FF2B5EF4-FFF2-40B4-BE49-F238E27FC236}">
                <a16:creationId xmlns:a16="http://schemas.microsoft.com/office/drawing/2014/main" id="{10CE08D3-3DCD-8FAB-404A-148F40267BE3}"/>
              </a:ext>
            </a:extLst>
          </p:cNvPr>
          <p:cNvSpPr txBox="1"/>
          <p:nvPr/>
        </p:nvSpPr>
        <p:spPr>
          <a:xfrm>
            <a:off x="2929796" y="3873004"/>
            <a:ext cx="6860455" cy="639337"/>
          </a:xfrm>
          <a:prstGeom prst="rect">
            <a:avLst/>
          </a:prstGeom>
          <a:noFill/>
          <a:ln/>
        </p:spPr>
        <p:txBody>
          <a:bodyPr wrap="square" lIns="0" tIns="0" rIns="0" bIns="0" rtlCol="0" anchor="ctr"/>
          <a:lstStyle/>
          <a:p>
            <a:pPr marL="0" indent="0">
              <a:lnSpc>
                <a:spcPts val="4000"/>
              </a:lnSpc>
              <a:buNone/>
            </a:pPr>
            <a:r>
              <a:rPr lang="en-US" sz="2000" b="1" dirty="0">
                <a:solidFill>
                  <a:srgbClr val="1E2761"/>
                </a:solidFill>
                <a:latin typeface="Cambria" pitchFamily="34" charset="0"/>
                <a:ea typeface="Cambria" pitchFamily="34" charset="-122"/>
                <a:cs typeface="Cambria" pitchFamily="34" charset="-120"/>
              </a:rPr>
              <a:t>GVHD: Nguyễn Thị Anh Thư</a:t>
            </a:r>
            <a:endParaRPr lang="en-US" sz="2000" dirty="0">
              <a:solidFill>
                <a:srgbClr val="1E276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Phân công trình bày — 9 thành viên</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3960422133"/>
              </p:ext>
            </p:extLst>
          </p:nvPr>
        </p:nvGraphicFramePr>
        <p:xfrm>
          <a:off x="548640" y="1325880"/>
          <a:ext cx="8046720" cy="3017520"/>
        </p:xfrm>
        <a:graphic>
          <a:graphicData uri="http://schemas.openxmlformats.org/drawingml/2006/table">
            <a:tbl>
              <a:tblPr/>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Thành viên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Nội dung phụ trách</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Slide</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Phạm Minh Mẫn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Mở đầu, giới thiệu đề tài, kết luận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1–2, 19</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Đặng Nguyễn Minh Anh</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Bối cảnh, hiện trạng và tính cấp thiết của bài toán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1000" dirty="0" err="1">
                          <a:solidFill>
                            <a:srgbClr val="222833"/>
                          </a:solidFill>
                          <a:latin typeface="Calibri" pitchFamily="34" charset="0"/>
                          <a:ea typeface="Calibri" pitchFamily="34" charset="-122"/>
                          <a:cs typeface="Calibri" pitchFamily="34" charset="-120"/>
                        </a:rPr>
                        <a:t>Trần</a:t>
                      </a:r>
                      <a:r>
                        <a:rPr lang="en-US" sz="1000" dirty="0">
                          <a:solidFill>
                            <a:srgbClr val="222833"/>
                          </a:solidFill>
                          <a:latin typeface="Calibri" pitchFamily="34" charset="0"/>
                          <a:ea typeface="Calibri" pitchFamily="34" charset="-122"/>
                          <a:cs typeface="Calibri" pitchFamily="34" charset="-120"/>
                        </a:rPr>
                        <a:t> Văn </a:t>
                      </a:r>
                      <a:r>
                        <a:rPr lang="en-US" sz="1000" dirty="0" err="1">
                          <a:solidFill>
                            <a:srgbClr val="222833"/>
                          </a:solidFill>
                          <a:latin typeface="Calibri" pitchFamily="34" charset="0"/>
                          <a:ea typeface="Calibri" pitchFamily="34" charset="-122"/>
                          <a:cs typeface="Calibri" pitchFamily="34" charset="-120"/>
                        </a:rPr>
                        <a:t>Phây</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Mục tiêu tổng quát và KPI nhóm A — mô hình AI</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Huỳnh Thị Kiều Uyên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KPI nhóm B và ánh xạ KPI theo giai đoạn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err="1">
                          <a:solidFill>
                            <a:srgbClr val="222833"/>
                          </a:solidFill>
                          <a:latin typeface="Calibri" pitchFamily="34" charset="0"/>
                          <a:ea typeface="Calibri" pitchFamily="34" charset="-122"/>
                          <a:cs typeface="Calibri" pitchFamily="34" charset="-120"/>
                        </a:rPr>
                        <a:t>Trần</a:t>
                      </a:r>
                      <a:r>
                        <a:rPr lang="en-US" sz="1000" dirty="0">
                          <a:solidFill>
                            <a:srgbClr val="222833"/>
                          </a:solidFill>
                          <a:latin typeface="Calibri" pitchFamily="34" charset="0"/>
                          <a:ea typeface="Calibri" pitchFamily="34" charset="-122"/>
                          <a:cs typeface="Calibri" pitchFamily="34" charset="-120"/>
                        </a:rPr>
                        <a:t> Việt Đức</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Phạm vi, giới hạn AI, yêu cầu nghiệp vụ</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9–10</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Nguyễn Đức Huy</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Yêu cầu chức năng và phi chức năng</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11–12</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Vũ Duy</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Quy trình TO-BE, pipeline và kiến trúc hệ thống</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13–14</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r h="301752">
                <a:tc>
                  <a:txBody>
                    <a:bodyPr/>
                    <a:lstStyle/>
                    <a:p>
                      <a:pPr marL="0" indent="0">
                        <a:buNone/>
                      </a:pPr>
                      <a:r>
                        <a:rPr lang="en-US" sz="1000" dirty="0" err="1">
                          <a:solidFill>
                            <a:srgbClr val="222833"/>
                          </a:solidFill>
                          <a:latin typeface="Calibri" pitchFamily="34" charset="0"/>
                          <a:ea typeface="Calibri" pitchFamily="34" charset="-122"/>
                          <a:cs typeface="Calibri" pitchFamily="34" charset="-120"/>
                        </a:rPr>
                        <a:t>Trần</a:t>
                      </a:r>
                      <a:r>
                        <a:rPr lang="en-US" sz="1000" dirty="0">
                          <a:solidFill>
                            <a:srgbClr val="222833"/>
                          </a:solidFill>
                          <a:latin typeface="Calibri" pitchFamily="34" charset="0"/>
                          <a:ea typeface="Calibri" pitchFamily="34" charset="-122"/>
                          <a:cs typeface="Calibri" pitchFamily="34" charset="-120"/>
                        </a:rPr>
                        <a:t> Anh Tú</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Kế hoạch triển khai, nhân sự và dự toán chi phí</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15–16</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8"/>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Lê Quang Đạt</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Rủi ro, kiểm thử, vận hành và nghiệm thu</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17–18</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Hiện trạng: điều phối nguồn lực theo cảm tính</a:t>
            </a:r>
            <a:endParaRPr lang="en-US" sz="2500" dirty="0"/>
          </a:p>
        </p:txBody>
      </p:sp>
      <p:sp>
        <p:nvSpPr>
          <p:cNvPr id="5" name="Shape 3"/>
          <p:cNvSpPr/>
          <p:nvPr/>
        </p:nvSpPr>
        <p:spPr>
          <a:xfrm>
            <a:off x="548640" y="1325880"/>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6" name="Shape 4"/>
          <p:cNvSpPr/>
          <p:nvPr/>
        </p:nvSpPr>
        <p:spPr>
          <a:xfrm>
            <a:off x="777240" y="1508760"/>
            <a:ext cx="384048" cy="384048"/>
          </a:xfrm>
          <a:prstGeom prst="ellipse">
            <a:avLst/>
          </a:prstGeom>
          <a:solidFill>
            <a:srgbClr val="1E2761"/>
          </a:solidFill>
          <a:ln/>
        </p:spPr>
        <p:txBody>
          <a:bodyPr/>
          <a:lstStyle/>
          <a:p>
            <a:endParaRPr lang="en-US"/>
          </a:p>
        </p:txBody>
      </p:sp>
      <p:sp>
        <p:nvSpPr>
          <p:cNvPr id="7" name="Text 5"/>
          <p:cNvSpPr txBox="1"/>
          <p:nvPr/>
        </p:nvSpPr>
        <p:spPr>
          <a:xfrm>
            <a:off x="777240" y="1508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435608"/>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Dữ liệu phân tán, độ trễ cao</a:t>
            </a:r>
            <a:endParaRPr lang="en-US" sz="1150" dirty="0"/>
          </a:p>
        </p:txBody>
      </p:sp>
      <p:sp>
        <p:nvSpPr>
          <p:cNvPr id="9" name="Text 7"/>
          <p:cNvSpPr txBox="1"/>
          <p:nvPr/>
        </p:nvSpPr>
        <p:spPr>
          <a:xfrm>
            <a:off x="3749040" y="1444752"/>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Dữ liệu giao dịch POS tại 34 chi nhánh xử lý thủ công, lưu trữ phân tán — độ trễ tổng hợp 48 đến 72 giờ.</a:t>
            </a:r>
            <a:endParaRPr lang="en-US" sz="1200" dirty="0"/>
          </a:p>
        </p:txBody>
      </p:sp>
      <p:sp>
        <p:nvSpPr>
          <p:cNvPr id="10" name="Shape 8"/>
          <p:cNvSpPr/>
          <p:nvPr/>
        </p:nvSpPr>
        <p:spPr>
          <a:xfrm>
            <a:off x="548640" y="2112264"/>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11" name="Shape 9"/>
          <p:cNvSpPr/>
          <p:nvPr/>
        </p:nvSpPr>
        <p:spPr>
          <a:xfrm>
            <a:off x="777240" y="2295144"/>
            <a:ext cx="384048" cy="384048"/>
          </a:xfrm>
          <a:prstGeom prst="ellipse">
            <a:avLst/>
          </a:prstGeom>
          <a:solidFill>
            <a:srgbClr val="1E2761"/>
          </a:solidFill>
          <a:ln/>
        </p:spPr>
        <p:txBody>
          <a:bodyPr/>
          <a:lstStyle/>
          <a:p>
            <a:endParaRPr lang="en-US"/>
          </a:p>
        </p:txBody>
      </p:sp>
      <p:sp>
        <p:nvSpPr>
          <p:cNvPr id="12" name="Text 10"/>
          <p:cNvSpPr txBox="1"/>
          <p:nvPr/>
        </p:nvSpPr>
        <p:spPr>
          <a:xfrm>
            <a:off x="777240" y="22951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98448" y="2221992"/>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Giờ cao điểm</a:t>
            </a:r>
            <a:endParaRPr lang="en-US" sz="1150" dirty="0"/>
          </a:p>
        </p:txBody>
      </p:sp>
      <p:sp>
        <p:nvSpPr>
          <p:cNvPr id="14" name="Text 12"/>
          <p:cNvSpPr txBox="1"/>
          <p:nvPr/>
        </p:nvSpPr>
        <p:spPr>
          <a:xfrm>
            <a:off x="3749040" y="2231136"/>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Thiếu nhân lực phục vụ, gián đoạn nguồn cung vật tư, khách chờ lâu, chất lượng dịch vụ suy giảm.</a:t>
            </a:r>
            <a:endParaRPr lang="en-US" sz="1200" dirty="0"/>
          </a:p>
        </p:txBody>
      </p:sp>
      <p:sp>
        <p:nvSpPr>
          <p:cNvPr id="15" name="Shape 13"/>
          <p:cNvSpPr/>
          <p:nvPr/>
        </p:nvSpPr>
        <p:spPr>
          <a:xfrm>
            <a:off x="548640" y="2898648"/>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16" name="Shape 14"/>
          <p:cNvSpPr/>
          <p:nvPr/>
        </p:nvSpPr>
        <p:spPr>
          <a:xfrm>
            <a:off x="777240" y="3081528"/>
            <a:ext cx="384048" cy="384048"/>
          </a:xfrm>
          <a:prstGeom prst="ellipse">
            <a:avLst/>
          </a:prstGeom>
          <a:solidFill>
            <a:srgbClr val="1E2761"/>
          </a:solidFill>
          <a:ln/>
        </p:spPr>
        <p:txBody>
          <a:bodyPr/>
          <a:lstStyle/>
          <a:p>
            <a:endParaRPr lang="en-US"/>
          </a:p>
        </p:txBody>
      </p:sp>
      <p:sp>
        <p:nvSpPr>
          <p:cNvPr id="17" name="Text 15"/>
          <p:cNvSpPr txBox="1"/>
          <p:nvPr/>
        </p:nvSpPr>
        <p:spPr>
          <a:xfrm>
            <a:off x="777240" y="30815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98448" y="3008376"/>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Giờ thấp điểm</a:t>
            </a:r>
            <a:endParaRPr lang="en-US" sz="1150" dirty="0"/>
          </a:p>
        </p:txBody>
      </p:sp>
      <p:sp>
        <p:nvSpPr>
          <p:cNvPr id="19" name="Text 17"/>
          <p:cNvSpPr txBox="1"/>
          <p:nvPr/>
        </p:nvSpPr>
        <p:spPr>
          <a:xfrm>
            <a:off x="3749040" y="3017520"/>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Dư thừa nhân lực phân bổ cố định, lãng phí chi phí vận hành (OPEX).</a:t>
            </a:r>
            <a:endParaRPr lang="en-US" sz="1200" dirty="0"/>
          </a:p>
        </p:txBody>
      </p:sp>
      <p:sp>
        <p:nvSpPr>
          <p:cNvPr id="20" name="Shape 18"/>
          <p:cNvSpPr/>
          <p:nvPr/>
        </p:nvSpPr>
        <p:spPr>
          <a:xfrm>
            <a:off x="548640" y="3685032"/>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21" name="Shape 19"/>
          <p:cNvSpPr/>
          <p:nvPr/>
        </p:nvSpPr>
        <p:spPr>
          <a:xfrm>
            <a:off x="777240" y="3867912"/>
            <a:ext cx="384048" cy="384048"/>
          </a:xfrm>
          <a:prstGeom prst="ellipse">
            <a:avLst/>
          </a:prstGeom>
          <a:solidFill>
            <a:srgbClr val="1E2761"/>
          </a:solidFill>
          <a:ln/>
        </p:spPr>
        <p:txBody>
          <a:bodyPr/>
          <a:lstStyle/>
          <a:p>
            <a:endParaRPr lang="en-US"/>
          </a:p>
        </p:txBody>
      </p:sp>
      <p:sp>
        <p:nvSpPr>
          <p:cNvPr id="22" name="Text 20"/>
          <p:cNvSpPr txBox="1"/>
          <p:nvPr/>
        </p:nvSpPr>
        <p:spPr>
          <a:xfrm>
            <a:off x="777240" y="38679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98448" y="3794760"/>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Hạ tầng tính toán cục bộ yếu</a:t>
            </a:r>
            <a:endParaRPr lang="en-US" sz="1150" dirty="0"/>
          </a:p>
        </p:txBody>
      </p:sp>
      <p:sp>
        <p:nvSpPr>
          <p:cNvPr id="24" name="Text 22"/>
          <p:cNvSpPr txBox="1"/>
          <p:nvPr/>
        </p:nvSpPr>
        <p:spPr>
          <a:xfrm>
            <a:off x="3749040" y="3803904"/>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Máy chủ tại chi nhánh không đủ năng lực làm sạch, trích xuất đặc trưng và huấn luyện mô hình trên dữ liệu lịch sử lớn.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Một kết quả dự báo, bốn quy trình hưởng lợi</a:t>
            </a:r>
            <a:endParaRPr lang="en-US" sz="2500" dirty="0"/>
          </a:p>
        </p:txBody>
      </p:sp>
      <p:sp>
        <p:nvSpPr>
          <p:cNvPr id="5" name="Shape 3"/>
          <p:cNvSpPr/>
          <p:nvPr/>
        </p:nvSpPr>
        <p:spPr>
          <a:xfrm>
            <a:off x="2834640" y="1298448"/>
            <a:ext cx="3474720" cy="731520"/>
          </a:xfrm>
          <a:prstGeom prst="roundRect">
            <a:avLst>
              <a:gd name="adj" fmla="val 7500"/>
            </a:avLst>
          </a:prstGeom>
          <a:solidFill>
            <a:srgbClr val="1E2761"/>
          </a:solidFill>
          <a:ln w="6350">
            <a:solidFill>
              <a:srgbClr val="1E2761"/>
            </a:solidFill>
            <a:prstDash val="solid"/>
          </a:ln>
        </p:spPr>
        <p:txBody>
          <a:bodyPr/>
          <a:lstStyle/>
          <a:p>
            <a:endParaRPr lang="en-US"/>
          </a:p>
        </p:txBody>
      </p:sp>
      <p:sp>
        <p:nvSpPr>
          <p:cNvPr id="6" name="Text 4"/>
          <p:cNvSpPr txBox="1"/>
          <p:nvPr/>
        </p:nvSpPr>
        <p:spPr>
          <a:xfrm>
            <a:off x="2834640" y="1389888"/>
            <a:ext cx="3474720"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Dự báo lưu lượng khách</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theo từng khung giờ, từng chi nhánh</a:t>
            </a:r>
            <a:endParaRPr lang="en-US" sz="1150" dirty="0"/>
          </a:p>
        </p:txBody>
      </p:sp>
      <p:sp>
        <p:nvSpPr>
          <p:cNvPr id="7" name="Shape 5"/>
          <p:cNvSpPr/>
          <p:nvPr/>
        </p:nvSpPr>
        <p:spPr>
          <a:xfrm>
            <a:off x="548640" y="230428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8" name="Text 6"/>
          <p:cNvSpPr txBox="1"/>
          <p:nvPr/>
        </p:nvSpPr>
        <p:spPr>
          <a:xfrm>
            <a:off x="749808" y="241401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Phòng Điều phối</a:t>
            </a:r>
            <a:endParaRPr lang="en-US" sz="1150" dirty="0"/>
          </a:p>
        </p:txBody>
      </p:sp>
      <p:sp>
        <p:nvSpPr>
          <p:cNvPr id="9" name="Text 7"/>
          <p:cNvSpPr txBox="1"/>
          <p:nvPr/>
        </p:nvSpPr>
        <p:spPr>
          <a:xfrm>
            <a:off x="749808" y="267004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Xếp ca theo dữ liệu thay vì cảm tính — hết thiếu người giờ cao điểm, dư người giờ vắng</a:t>
            </a:r>
            <a:endParaRPr lang="en-US" sz="1200" dirty="0"/>
          </a:p>
        </p:txBody>
      </p:sp>
      <p:sp>
        <p:nvSpPr>
          <p:cNvPr id="10" name="Shape 8"/>
          <p:cNvSpPr/>
          <p:nvPr/>
        </p:nvSpPr>
        <p:spPr>
          <a:xfrm>
            <a:off x="4617720" y="230428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11" name="Text 9"/>
          <p:cNvSpPr txBox="1"/>
          <p:nvPr/>
        </p:nvSpPr>
        <p:spPr>
          <a:xfrm>
            <a:off x="4818888" y="241401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Bộ phận Kho hàng</a:t>
            </a:r>
            <a:endParaRPr lang="en-US" sz="1150" dirty="0"/>
          </a:p>
        </p:txBody>
      </p:sp>
      <p:sp>
        <p:nvSpPr>
          <p:cNvPr id="12" name="Text 10"/>
          <p:cNvSpPr txBox="1"/>
          <p:nvPr/>
        </p:nvSpPr>
        <p:spPr>
          <a:xfrm>
            <a:off x="4818888" y="267004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Lập kế hoạch luân chuyển hàng kịp thời, tránh đứt gãy cung ứng hoặc tồn đọng quá hạn</a:t>
            </a:r>
            <a:endParaRPr lang="en-US" sz="1200" dirty="0"/>
          </a:p>
        </p:txBody>
      </p:sp>
      <p:sp>
        <p:nvSpPr>
          <p:cNvPr id="13" name="Shape 11"/>
          <p:cNvSpPr/>
          <p:nvPr/>
        </p:nvSpPr>
        <p:spPr>
          <a:xfrm>
            <a:off x="548640" y="335584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14" name="Text 12"/>
          <p:cNvSpPr txBox="1"/>
          <p:nvPr/>
        </p:nvSpPr>
        <p:spPr>
          <a:xfrm>
            <a:off x="749808" y="346557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Bộ phận Marketing</a:t>
            </a:r>
            <a:endParaRPr lang="en-US" sz="1150" dirty="0"/>
          </a:p>
        </p:txBody>
      </p:sp>
      <p:sp>
        <p:nvSpPr>
          <p:cNvPr id="15" name="Text 13"/>
          <p:cNvSpPr txBox="1"/>
          <p:nvPr/>
        </p:nvSpPr>
        <p:spPr>
          <a:xfrm>
            <a:off x="749808" y="372160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Nhận diện khung giờ thấp điểm để kích cầu, không đốt ngân sách vào giờ đã kín chỗ</a:t>
            </a:r>
            <a:endParaRPr lang="en-US" sz="1200" dirty="0"/>
          </a:p>
        </p:txBody>
      </p:sp>
      <p:sp>
        <p:nvSpPr>
          <p:cNvPr id="16" name="Shape 14"/>
          <p:cNvSpPr/>
          <p:nvPr/>
        </p:nvSpPr>
        <p:spPr>
          <a:xfrm>
            <a:off x="4617720" y="335584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17" name="Text 15"/>
          <p:cNvSpPr txBox="1"/>
          <p:nvPr/>
        </p:nvSpPr>
        <p:spPr>
          <a:xfrm>
            <a:off x="4818888" y="346557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Quản lý chi nhánh</a:t>
            </a:r>
            <a:endParaRPr lang="en-US" sz="1150" dirty="0"/>
          </a:p>
        </p:txBody>
      </p:sp>
      <p:sp>
        <p:nvSpPr>
          <p:cNvPr id="18" name="Text 16"/>
          <p:cNvSpPr txBox="1"/>
          <p:nvPr/>
        </p:nvSpPr>
        <p:spPr>
          <a:xfrm>
            <a:off x="4818888" y="372160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Lường trước đột biến để giữ chất lượng dịch vụ, giảm thời gian khách phải chờ</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Mục tiêu tổng quát và cấu trúc bộ KPI</a:t>
            </a:r>
            <a:endParaRPr lang="en-US" sz="2500" dirty="0"/>
          </a:p>
        </p:txBody>
      </p:sp>
      <p:sp>
        <p:nvSpPr>
          <p:cNvPr id="5" name="Shape 3"/>
          <p:cNvSpPr/>
          <p:nvPr/>
        </p:nvSpPr>
        <p:spPr>
          <a:xfrm>
            <a:off x="548640" y="1298448"/>
            <a:ext cx="8046720" cy="841248"/>
          </a:xfrm>
          <a:prstGeom prst="roundRect">
            <a:avLst>
              <a:gd name="adj" fmla="val 6522"/>
            </a:avLst>
          </a:prstGeom>
          <a:solidFill>
            <a:srgbClr val="1E2761"/>
          </a:solidFill>
          <a:ln w="6350">
            <a:solidFill>
              <a:srgbClr val="1E2761"/>
            </a:solidFill>
            <a:prstDash val="solid"/>
          </a:ln>
        </p:spPr>
        <p:txBody>
          <a:bodyPr/>
          <a:lstStyle/>
          <a:p>
            <a:endParaRPr lang="en-US"/>
          </a:p>
        </p:txBody>
      </p:sp>
      <p:sp>
        <p:nvSpPr>
          <p:cNvPr id="6" name="Text 4"/>
          <p:cNvSpPr txBox="1"/>
          <p:nvPr/>
        </p:nvSpPr>
        <p:spPr>
          <a:xfrm>
            <a:off x="822960" y="1399032"/>
            <a:ext cx="7498080" cy="219456"/>
          </a:xfrm>
          <a:prstGeom prst="rect">
            <a:avLst/>
          </a:prstGeom>
          <a:noFill/>
          <a:ln/>
        </p:spPr>
        <p:txBody>
          <a:bodyPr wrap="square" lIns="0" tIns="0" rIns="0" bIns="0" rtlCol="0" anchor="ctr"/>
          <a:lstStyle/>
          <a:p>
            <a:pPr marL="0" indent="0">
              <a:buNone/>
            </a:pPr>
            <a:r>
              <a:rPr lang="en-US" sz="1000" b="1" dirty="0">
                <a:solidFill>
                  <a:srgbClr val="E08A1E"/>
                </a:solidFill>
                <a:latin typeface="Calibri" pitchFamily="34" charset="0"/>
                <a:ea typeface="Calibri" pitchFamily="34" charset="-122"/>
                <a:cs typeface="Calibri" pitchFamily="34" charset="-120"/>
              </a:rPr>
              <a:t>MỤC TIÊU TỔNG QUÁT</a:t>
            </a:r>
            <a:endParaRPr lang="en-US" sz="1000" dirty="0"/>
          </a:p>
        </p:txBody>
      </p:sp>
      <p:sp>
        <p:nvSpPr>
          <p:cNvPr id="7" name="Text 5"/>
          <p:cNvSpPr txBox="1"/>
          <p:nvPr/>
        </p:nvSpPr>
        <p:spPr>
          <a:xfrm>
            <a:off x="822960" y="1627632"/>
            <a:ext cx="7498080" cy="43891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Xây dựng nền tảng tự động thu thập dữ liệu giao dịch, huấn luyện mô hình học máy phân tích chuỗi thời gian, và cung cấp kết quả dự báo qua các API chuyên dụng phục vụ nội bộ.</a:t>
            </a:r>
            <a:endParaRPr lang="en-US" sz="1150" dirty="0"/>
          </a:p>
        </p:txBody>
      </p:sp>
      <p:sp>
        <p:nvSpPr>
          <p:cNvPr id="8" name="Shape 6"/>
          <p:cNvSpPr/>
          <p:nvPr/>
        </p:nvSpPr>
        <p:spPr>
          <a:xfrm>
            <a:off x="548640" y="2331720"/>
            <a:ext cx="3977640" cy="1828800"/>
          </a:xfrm>
          <a:prstGeom prst="roundRect">
            <a:avLst>
              <a:gd name="adj" fmla="val 3000"/>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749808" y="2468880"/>
            <a:ext cx="3611880" cy="25603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Nhóm A — KPI Mô hình AI</a:t>
            </a:r>
            <a:endParaRPr lang="en-US" sz="1250" dirty="0"/>
          </a:p>
        </p:txBody>
      </p:sp>
      <p:sp>
        <p:nvSpPr>
          <p:cNvPr id="10" name="Text 8"/>
          <p:cNvSpPr txBox="1"/>
          <p:nvPr/>
        </p:nvSpPr>
        <p:spPr>
          <a:xfrm>
            <a:off x="749808" y="2761488"/>
            <a:ext cx="3611880" cy="548640"/>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Đo năng lực và độ chính xác của mô hình học máy chuỗi thời gian so với baseline thủ công.</a:t>
            </a:r>
            <a:endParaRPr lang="en-US" sz="1200" dirty="0"/>
          </a:p>
        </p:txBody>
      </p:sp>
      <p:sp>
        <p:nvSpPr>
          <p:cNvPr id="11" name="Text 9"/>
          <p:cNvSpPr txBox="1"/>
          <p:nvPr/>
        </p:nvSpPr>
        <p:spPr>
          <a:xfrm>
            <a:off x="749808" y="3364992"/>
            <a:ext cx="3611880" cy="640080"/>
          </a:xfrm>
          <a:prstGeom prst="rect">
            <a:avLst/>
          </a:prstGeom>
          <a:noFill/>
          <a:ln/>
        </p:spPr>
        <p:txBody>
          <a:bodyPr wrap="square" lIns="0" tIns="0" rIns="0" bIns="0" rtlCol="0" anchor="ctr"/>
          <a:lstStyle/>
          <a:p>
            <a:pPr marL="0" indent="0">
              <a:buNone/>
            </a:pPr>
            <a:r>
              <a:rPr lang="en-US" sz="1200" dirty="0">
                <a:solidFill>
                  <a:srgbClr val="E08A1E"/>
                </a:solidFill>
                <a:latin typeface="Calibri" pitchFamily="34" charset="0"/>
                <a:ea typeface="Calibri" pitchFamily="34" charset="-122"/>
                <a:cs typeface="Calibri" pitchFamily="34" charset="-120"/>
              </a:rPr>
              <a:t>MAPE · MAE · Precision · Inference latency · Độ ổn định đa ngữ cảnh</a:t>
            </a:r>
            <a:endParaRPr lang="en-US" sz="1200" dirty="0"/>
          </a:p>
        </p:txBody>
      </p:sp>
      <p:sp>
        <p:nvSpPr>
          <p:cNvPr id="12" name="Shape 10"/>
          <p:cNvSpPr/>
          <p:nvPr/>
        </p:nvSpPr>
        <p:spPr>
          <a:xfrm>
            <a:off x="4617720" y="2331720"/>
            <a:ext cx="3977640" cy="1828800"/>
          </a:xfrm>
          <a:prstGeom prst="roundRect">
            <a:avLst>
              <a:gd name="adj" fmla="val 3000"/>
            </a:avLst>
          </a:prstGeom>
          <a:solidFill>
            <a:srgbClr val="E8F0FE"/>
          </a:solidFill>
          <a:ln w="6350">
            <a:solidFill>
              <a:srgbClr val="E8F0FE"/>
            </a:solidFill>
            <a:prstDash val="solid"/>
          </a:ln>
        </p:spPr>
        <p:txBody>
          <a:bodyPr/>
          <a:lstStyle/>
          <a:p>
            <a:endParaRPr lang="en-US"/>
          </a:p>
        </p:txBody>
      </p:sp>
      <p:sp>
        <p:nvSpPr>
          <p:cNvPr id="13" name="Text 11"/>
          <p:cNvSpPr txBox="1"/>
          <p:nvPr/>
        </p:nvSpPr>
        <p:spPr>
          <a:xfrm>
            <a:off x="4818888" y="2468880"/>
            <a:ext cx="3611880" cy="25603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Nhóm B — KPI Phần mềm &amp; vận hành</a:t>
            </a:r>
            <a:endParaRPr lang="en-US" sz="1250" dirty="0"/>
          </a:p>
        </p:txBody>
      </p:sp>
      <p:sp>
        <p:nvSpPr>
          <p:cNvPr id="14" name="Text 12"/>
          <p:cNvSpPr txBox="1"/>
          <p:nvPr/>
        </p:nvSpPr>
        <p:spPr>
          <a:xfrm>
            <a:off x="4818888" y="2761488"/>
            <a:ext cx="3611880" cy="548640"/>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Đo tính sẵn sàng, độ tin cậy và chất lượng kỹ thuật của ứng dụng trong môi trường vận hành.</a:t>
            </a:r>
            <a:endParaRPr lang="en-US" sz="1200" dirty="0"/>
          </a:p>
        </p:txBody>
      </p:sp>
      <p:sp>
        <p:nvSpPr>
          <p:cNvPr id="15" name="Text 13"/>
          <p:cNvSpPr txBox="1"/>
          <p:nvPr/>
        </p:nvSpPr>
        <p:spPr>
          <a:xfrm>
            <a:off x="4818888" y="3364992"/>
            <a:ext cx="3611880" cy="640080"/>
          </a:xfrm>
          <a:prstGeom prst="rect">
            <a:avLst/>
          </a:prstGeom>
          <a:noFill/>
          <a:ln/>
        </p:spPr>
        <p:txBody>
          <a:bodyPr wrap="square" lIns="0" tIns="0" rIns="0" bIns="0" rtlCol="0" anchor="ctr"/>
          <a:lstStyle/>
          <a:p>
            <a:pPr marL="0" indent="0">
              <a:buNone/>
            </a:pPr>
            <a:r>
              <a:rPr lang="en-US" sz="1200" dirty="0">
                <a:solidFill>
                  <a:srgbClr val="E08A1E"/>
                </a:solidFill>
                <a:latin typeface="Calibri" pitchFamily="34" charset="0"/>
                <a:ea typeface="Calibri" pitchFamily="34" charset="-122"/>
                <a:cs typeface="Calibri" pitchFamily="34" charset="-120"/>
              </a:rPr>
              <a:t>Response time · Batch duration · Uptime · Completeness · Freshness · Error rate · MTTD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KPI mô hình AI — có baseline và mốc đo</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852928"/>
        </p:xfrm>
        <a:graphic>
          <a:graphicData uri="http://schemas.openxmlformats.org/drawingml/2006/table">
            <a:tbl>
              <a:tblPr/>
              <a:tblGrid>
                <a:gridCol w="502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Mã</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Độ đo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Baseline đối chứng</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Mốc đo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A.1</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MAPE (scikit-learn, Hyndman)</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MA 7 ngày ~25–30%; ARIMA ~18–22%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&lt; 15% tại Pilot → &lt; 10% sau 3 tháng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+1/3/6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MAE (scikit-learn)</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đo lường được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3 khách / CN / khung giờ</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+3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Peak Detection Precision (Powers)</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đo lường được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85% (ngưỡng 1,5× trung bình)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+3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Model Inference Latency</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áp dụng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200 ms /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G4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Độ ổn định đa ngữ cảnh (Δ MAPE)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đo lường được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Δ ≤ 10% trên ≥ 4 bộ dữ liệu</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+6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KPI phần mềm và vận hành hệ thống</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072384"/>
        </p:xfrm>
        <a:graphic>
          <a:graphicData uri="http://schemas.openxmlformats.org/drawingml/2006/table">
            <a:tbl>
              <a:tblPr/>
              <a:tblGrid>
                <a:gridCol w="502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840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Mã</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Độ đo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B.1</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API Response Time P95 (AWS)</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Chưa có API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500 ms / request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Backend Dev</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Batch Job Duration</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Tổng hợp thủ công 48–72h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30 phút cho 34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Engineer</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Software Availability (Google 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Chưa có hệ thống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99,9% (≤ 43,2 phút/tháng)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DevOps/SRE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Completeness (ISO 25012)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Dữ liệu rời rạc, chưa làm sạch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99,5% bản ghi POS</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Engineer</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Batch Data Freshness (ISO 25012)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48–72 giờ</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24 giờ (hoàn tất 01:00 AM)</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Engineer</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B.6</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API Error Rate (Google 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áp dụng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&lt; 0,1% (HTTP 5xx)</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QA / 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B.7</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MTTD — phát hiện sự cố</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4–8 giờ (báo qua Zalo)</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15 phút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DevOps/SRE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KPI gắn với từng giai đoạn nghiệm thu</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072384"/>
        </p:xfrm>
        <a:graphic>
          <a:graphicData uri="http://schemas.openxmlformats.org/drawingml/2006/table">
            <a:tbl>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891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Giai đoạn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Sản phẩm bàn giao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KPI nghiệm thu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Phụ trách</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G1 — Khảo sát &amp; phân tích dữ liệu</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Tài liệu đặc tả dữ liệu, dataset sạch</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B.4 ≥ 99,5%; Schema hợp lệ 100%</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Data Engineer</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G2 — Thiết kế kiến trúc phần mềm</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Tài liệu kiến trúc, API Contract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100% API đạt chuẩn RESTful</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Software Architect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G3 — Phát triển mô hình &amp; pipeline</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Mã nguồn pipeline, artifact mô hình</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A.1 &lt; 15%; A.3 ≥ 85%; A.4 ≤ 200ms; A.5 ≤ 10%</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ML Engineer</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G4 — Kiểm thử &amp; đóng gói</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Docker image, bộ test, báo cáo UAT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B.1 ≤ 500ms; B.6 &lt; 0,1%; B.2 ≤ 30 phút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QA Engineer</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G5 — Triển khai &amp; vận hành</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Hệ thống API Production, dashboard</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B.3 ≥ 99,9%; B.5 ≤ 24h; B.7 ≤ 15 phút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DevOps / SRE</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Sau go-live</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Báo cáo Benefit Realization</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A.1 &lt; 10% tại mốc +3 tháng</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ML Engineer + PM</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Phạm vi, giới hạn AI và phương án dự phòng</a:t>
            </a:r>
            <a:endParaRPr lang="en-US" sz="2500" dirty="0"/>
          </a:p>
        </p:txBody>
      </p:sp>
      <p:sp>
        <p:nvSpPr>
          <p:cNvPr id="5" name="Shape 3"/>
          <p:cNvSpPr/>
          <p:nvPr/>
        </p:nvSpPr>
        <p:spPr>
          <a:xfrm>
            <a:off x="548640" y="1298448"/>
            <a:ext cx="3977640" cy="1417320"/>
          </a:xfrm>
          <a:prstGeom prst="roundRect">
            <a:avLst>
              <a:gd name="adj" fmla="val 3871"/>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4980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Trong phạm vi</a:t>
            </a:r>
            <a:endParaRPr lang="en-US" sz="1150" dirty="0"/>
          </a:p>
        </p:txBody>
      </p:sp>
      <p:sp>
        <p:nvSpPr>
          <p:cNvPr id="7" name="Text 5"/>
          <p:cNvSpPr txBox="1"/>
          <p:nvPr/>
        </p:nvSpPr>
        <p:spPr>
          <a:xfrm>
            <a:off x="749808" y="1700784"/>
            <a:ext cx="3611880" cy="90525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Luồng tích hợp dữ liệu POS → Cloud</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Huấn luyện mô hình dự báo chuỗi thời gian</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Cung cấp kết quả qua RESTful API và dashboard</a:t>
            </a:r>
            <a:endParaRPr lang="en-US" sz="1100" dirty="0"/>
          </a:p>
        </p:txBody>
      </p:sp>
      <p:sp>
        <p:nvSpPr>
          <p:cNvPr id="8" name="Shape 6"/>
          <p:cNvSpPr/>
          <p:nvPr/>
        </p:nvSpPr>
        <p:spPr>
          <a:xfrm>
            <a:off x="4617720" y="1298448"/>
            <a:ext cx="3977640" cy="1417320"/>
          </a:xfrm>
          <a:prstGeom prst="roundRect">
            <a:avLst>
              <a:gd name="adj" fmla="val 3871"/>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481888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Ngoài phạm vi</a:t>
            </a:r>
            <a:endParaRPr lang="en-US" sz="1150" dirty="0"/>
          </a:p>
        </p:txBody>
      </p:sp>
      <p:sp>
        <p:nvSpPr>
          <p:cNvPr id="10" name="Text 8"/>
          <p:cNvSpPr txBox="1"/>
          <p:nvPr/>
        </p:nvSpPr>
        <p:spPr>
          <a:xfrm>
            <a:off x="4818888" y="1572768"/>
            <a:ext cx="3611880" cy="90525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Không sửa kiến trúc phần mềm kho, nhân sự, ERP </a:t>
            </a:r>
            <a:r>
              <a:rPr lang="en-US" sz="1100" dirty="0" err="1">
                <a:solidFill>
                  <a:srgbClr val="222833"/>
                </a:solidFill>
                <a:latin typeface="Calibri" pitchFamily="34" charset="0"/>
                <a:ea typeface="Calibri" pitchFamily="34" charset="-122"/>
                <a:cs typeface="Calibri" pitchFamily="34" charset="-120"/>
              </a:rPr>
              <a:t>hiện</a:t>
            </a:r>
            <a:r>
              <a:rPr lang="en-US" sz="1100" dirty="0">
                <a:solidFill>
                  <a:srgbClr val="222833"/>
                </a:solidFill>
                <a:latin typeface="Calibri" pitchFamily="34" charset="0"/>
                <a:ea typeface="Calibri" pitchFamily="34" charset="-122"/>
                <a:cs typeface="Calibri" pitchFamily="34" charset="-120"/>
              </a:rPr>
              <a:t> </a:t>
            </a:r>
            <a:r>
              <a:rPr lang="en-US" sz="1100" dirty="0" err="1">
                <a:solidFill>
                  <a:srgbClr val="222833"/>
                </a:solidFill>
                <a:latin typeface="Calibri" pitchFamily="34" charset="0"/>
                <a:ea typeface="Calibri" pitchFamily="34" charset="-122"/>
                <a:cs typeface="Calibri" pitchFamily="34" charset="-120"/>
              </a:rPr>
              <a:t>hành</a:t>
            </a:r>
            <a:endParaRPr lang="en-US" sz="1100" dirty="0"/>
          </a:p>
        </p:txBody>
      </p:sp>
      <p:sp>
        <p:nvSpPr>
          <p:cNvPr id="11" name="Shape 9"/>
          <p:cNvSpPr/>
          <p:nvPr/>
        </p:nvSpPr>
        <p:spPr>
          <a:xfrm>
            <a:off x="548640" y="2834640"/>
            <a:ext cx="3977640" cy="1783080"/>
          </a:xfrm>
          <a:prstGeom prst="roundRect">
            <a:avLst>
              <a:gd name="adj" fmla="val 3077"/>
            </a:avLst>
          </a:prstGeom>
          <a:solidFill>
            <a:srgbClr val="FDF0DC"/>
          </a:solidFill>
          <a:ln w="6350">
            <a:solidFill>
              <a:srgbClr val="FDF0DC"/>
            </a:solidFill>
            <a:prstDash val="solid"/>
          </a:ln>
        </p:spPr>
        <p:txBody>
          <a:bodyPr/>
          <a:lstStyle/>
          <a:p>
            <a:endParaRPr lang="en-US"/>
          </a:p>
        </p:txBody>
      </p:sp>
      <p:sp>
        <p:nvSpPr>
          <p:cNvPr id="12" name="Text 10"/>
          <p:cNvSpPr txBox="1"/>
          <p:nvPr/>
        </p:nvSpPr>
        <p:spPr>
          <a:xfrm>
            <a:off x="749808" y="295351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Giới hạn vai trò AI</a:t>
            </a:r>
            <a:endParaRPr lang="en-US" sz="1150" dirty="0"/>
          </a:p>
        </p:txBody>
      </p:sp>
      <p:sp>
        <p:nvSpPr>
          <p:cNvPr id="13" name="Text 11"/>
          <p:cNvSpPr txBox="1"/>
          <p:nvPr/>
        </p:nvSpPr>
        <p:spPr>
          <a:xfrm>
            <a:off x="749808" y="3236976"/>
            <a:ext cx="3611880" cy="127101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AI chỉ hỗ trợ ra quyết định; quản lý con người chốt quyết định cuối cùng</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Độ chính xác suy giảm với sự kiện đột biến không có mẫu lịch sử; cần tái huấn luyện hàng tháng</a:t>
            </a:r>
            <a:endParaRPr lang="en-US" sz="1100" dirty="0"/>
          </a:p>
        </p:txBody>
      </p:sp>
      <p:sp>
        <p:nvSpPr>
          <p:cNvPr id="14" name="Shape 12"/>
          <p:cNvSpPr/>
          <p:nvPr/>
        </p:nvSpPr>
        <p:spPr>
          <a:xfrm>
            <a:off x="4617720" y="2834640"/>
            <a:ext cx="3977640" cy="1783080"/>
          </a:xfrm>
          <a:prstGeom prst="roundRect">
            <a:avLst>
              <a:gd name="adj" fmla="val 3077"/>
            </a:avLst>
          </a:prstGeom>
          <a:solidFill>
            <a:srgbClr val="FDF0DC"/>
          </a:solidFill>
          <a:ln w="6350">
            <a:solidFill>
              <a:srgbClr val="FDF0DC"/>
            </a:solidFill>
            <a:prstDash val="solid"/>
          </a:ln>
        </p:spPr>
        <p:txBody>
          <a:bodyPr/>
          <a:lstStyle/>
          <a:p>
            <a:endParaRPr lang="en-US"/>
          </a:p>
        </p:txBody>
      </p:sp>
      <p:sp>
        <p:nvSpPr>
          <p:cNvPr id="15" name="Text 13"/>
          <p:cNvSpPr txBox="1"/>
          <p:nvPr/>
        </p:nvSpPr>
        <p:spPr>
          <a:xfrm>
            <a:off x="4818888" y="295351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Phương án kỹ thuật dự phòng</a:t>
            </a:r>
            <a:endParaRPr lang="en-US" sz="1150" dirty="0"/>
          </a:p>
        </p:txBody>
      </p:sp>
      <p:sp>
        <p:nvSpPr>
          <p:cNvPr id="16" name="Text 14"/>
          <p:cNvSpPr txBox="1"/>
          <p:nvPr/>
        </p:nvSpPr>
        <p:spPr>
          <a:xfrm>
            <a:off x="4818888" y="3236976"/>
            <a:ext cx="3611880" cy="127101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Nhóm cam kết ngưỡng chỉ số, không cam kết một thuật toán cụ thể</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Thực nghiệm song song TSFM, LSTM/BiLSTM, Prophet, ARIMA rồi chọn mô hình tốt và ổn định nhất</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Nếu chưa đạt tại Pilot: phát hành chế độ beta, giữ Moving Average làm fallback, lập Change Request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Use case: tác nhân, luồng chính, ngoại lệ</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291840"/>
        </p:xfrm>
        <a:graphic>
          <a:graphicData uri="http://schemas.openxmlformats.org/drawingml/2006/table">
            <a:tbl>
              <a:tblPr/>
              <a:tblGrid>
                <a:gridCol w="6400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5486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Nghiệp vụ</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Tác nhân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Luồng chính</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Ngoại lệ</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Xem dự báo lưu lượng khách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Quản lý chi nhánh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Đăng nhập → chọn chi nhánh &amp; thời gian → API trả dữ liệu dự báo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API lỗi → hiển thị dữ liệu lịch sử tuần trước</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BR-02</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Nhận cảnh báo giờ cao điểm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Bộ phận Điều phối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Hệ thống phân tích dự báo → nếu &gt; 1,5× trung bình thì tự gửi cảnh báo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Gửi webhook thất bại → đẩy noti trên dashboard</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Tự động hoá pipeline dữ liệu</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Hệ thống (Cronjob)</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01:00 kết nối POS → trích xuất → làm sạch → nạp Data Warehouse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Rớt kết nối → retry 3 lần → alert Data Engineer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BR-04</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Giám sát trạng thái hệ thống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Kỹ sư vận hành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Truy cập Grafana → xem metrics pipeline, API, model, tài nguyên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Mất Prometheus → cảnh báo khẩn PagerDuty/Slack</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Lập kế hoạch nhập hàng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Bộ phận Kho hàng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Xem dự báo tổng hợp → xuất báo cáo nhu cầu 7 ngày</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Thiếu dữ liệu → cảnh báo độ tin cậy thấp</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13 yêu cầu chức năng theo 3 module</a:t>
            </a:r>
            <a:endParaRPr lang="en-US" sz="2500" dirty="0"/>
          </a:p>
        </p:txBody>
      </p:sp>
      <p:sp>
        <p:nvSpPr>
          <p:cNvPr id="5" name="Shape 3"/>
          <p:cNvSpPr/>
          <p:nvPr/>
        </p:nvSpPr>
        <p:spPr>
          <a:xfrm>
            <a:off x="548640" y="1325880"/>
            <a:ext cx="2286000" cy="3017520"/>
          </a:xfrm>
          <a:prstGeom prst="roundRect">
            <a:avLst>
              <a:gd name="adj" fmla="val 2400"/>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31520" y="1364566"/>
            <a:ext cx="192024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Module 1 — Data Pipeline</a:t>
            </a:r>
            <a:endParaRPr lang="en-US" sz="1100" dirty="0"/>
          </a:p>
        </p:txBody>
      </p:sp>
      <p:sp>
        <p:nvSpPr>
          <p:cNvPr id="7" name="Text 5"/>
          <p:cNvSpPr txBox="1"/>
          <p:nvPr/>
        </p:nvSpPr>
        <p:spPr>
          <a:xfrm>
            <a:off x="731520" y="1714500"/>
            <a:ext cx="1920240"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Trích</a:t>
            </a:r>
            <a:r>
              <a:rPr lang="en-US" sz="1100" dirty="0">
                <a:solidFill>
                  <a:srgbClr val="222833"/>
                </a:solidFill>
                <a:latin typeface="Calibri" pitchFamily="34" charset="0"/>
                <a:ea typeface="Calibri" pitchFamily="34" charset="-122"/>
                <a:cs typeface="Calibri" pitchFamily="34" charset="-120"/>
              </a:rPr>
              <a:t> xuất POS tự động qua TLS, batch 01:00 AM</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Làm</a:t>
            </a:r>
            <a:r>
              <a:rPr lang="en-US" sz="1100" dirty="0">
                <a:solidFill>
                  <a:srgbClr val="222833"/>
                </a:solidFill>
                <a:latin typeface="Calibri" pitchFamily="34" charset="0"/>
                <a:ea typeface="Calibri" pitchFamily="34" charset="-122"/>
                <a:cs typeface="Calibri" pitchFamily="34" charset="-120"/>
              </a:rPr>
              <a:t> sạch, khử trùng lặp, chuẩn hóa schema</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Nạp</a:t>
            </a:r>
            <a:r>
              <a:rPr lang="en-US" sz="1100" dirty="0">
                <a:solidFill>
                  <a:srgbClr val="222833"/>
                </a:solidFill>
                <a:latin typeface="Calibri" pitchFamily="34" charset="0"/>
                <a:ea typeface="Calibri" pitchFamily="34" charset="-122"/>
                <a:cs typeface="Calibri" pitchFamily="34" charset="-120"/>
              </a:rPr>
              <a:t> Data Warehouse theo quy trình ELT</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Ghi</a:t>
            </a:r>
            <a:r>
              <a:rPr lang="en-US" sz="1100" dirty="0">
                <a:solidFill>
                  <a:srgbClr val="222833"/>
                </a:solidFill>
                <a:latin typeface="Calibri" pitchFamily="34" charset="0"/>
                <a:ea typeface="Calibri" pitchFamily="34" charset="-122"/>
                <a:cs typeface="Calibri" pitchFamily="34" charset="-120"/>
              </a:rPr>
              <a:t> log trạng thái mỗi lần chạy batch</a:t>
            </a:r>
            <a:endParaRPr lang="en-US" sz="1100" dirty="0"/>
          </a:p>
        </p:txBody>
      </p:sp>
      <p:sp>
        <p:nvSpPr>
          <p:cNvPr id="8" name="Shape 6"/>
          <p:cNvSpPr/>
          <p:nvPr/>
        </p:nvSpPr>
        <p:spPr>
          <a:xfrm>
            <a:off x="3429000" y="1325880"/>
            <a:ext cx="2286000" cy="3017520"/>
          </a:xfrm>
          <a:prstGeom prst="roundRect">
            <a:avLst>
              <a:gd name="adj" fmla="val 2400"/>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3611880" y="1463040"/>
            <a:ext cx="192024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Module 2 — AI Forecasting Engine</a:t>
            </a:r>
            <a:endParaRPr lang="en-US" sz="1100" dirty="0"/>
          </a:p>
        </p:txBody>
      </p:sp>
      <p:sp>
        <p:nvSpPr>
          <p:cNvPr id="10" name="Text 8"/>
          <p:cNvSpPr txBox="1"/>
          <p:nvPr/>
        </p:nvSpPr>
        <p:spPr>
          <a:xfrm>
            <a:off x="3611880" y="1965960"/>
            <a:ext cx="1920240"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Huấn</a:t>
            </a:r>
            <a:r>
              <a:rPr lang="en-US" sz="1100" dirty="0">
                <a:solidFill>
                  <a:srgbClr val="222833"/>
                </a:solidFill>
                <a:latin typeface="Calibri" pitchFamily="34" charset="0"/>
                <a:ea typeface="Calibri" pitchFamily="34" charset="-122"/>
                <a:cs typeface="Calibri" pitchFamily="34" charset="-120"/>
              </a:rPr>
              <a:t> luyện trên ≥ 12 tháng dữ liệu, retrain hàng tháng</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Dự</a:t>
            </a:r>
            <a:r>
              <a:rPr lang="en-US" sz="1100" dirty="0">
                <a:solidFill>
                  <a:srgbClr val="222833"/>
                </a:solidFill>
                <a:latin typeface="Calibri" pitchFamily="34" charset="0"/>
                <a:ea typeface="Calibri" pitchFamily="34" charset="-122"/>
                <a:cs typeface="Calibri" pitchFamily="34" charset="-120"/>
              </a:rPr>
              <a:t> báo theo khung giờ, 7 ngày tới, từng chi nhánh</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Gán</a:t>
            </a:r>
            <a:r>
              <a:rPr lang="en-US" sz="1100" dirty="0">
                <a:solidFill>
                  <a:srgbClr val="222833"/>
                </a:solidFill>
                <a:latin typeface="Calibri" pitchFamily="34" charset="0"/>
                <a:ea typeface="Calibri" pitchFamily="34" charset="-122"/>
                <a:cs typeface="Calibri" pitchFamily="34" charset="-120"/>
              </a:rPr>
              <a:t> nhãn peak khi vượt 1,5× trung bình</a:t>
            </a:r>
            <a:endParaRPr lang="en-US" sz="1100" dirty="0"/>
          </a:p>
          <a:p>
            <a:pPr marL="342900" indent="-342900">
              <a:spcAft>
                <a:spcPts val="700"/>
              </a:spcAft>
              <a:buSzPct val="100000"/>
              <a:buChar char="•"/>
            </a:pPr>
            <a:r>
              <a:rPr lang="en-US" sz="1100" dirty="0">
                <a:solidFill>
                  <a:srgbClr val="222833"/>
                </a:solidFill>
                <a:latin typeface="Calibri" pitchFamily="34" charset="0"/>
                <a:ea typeface="Calibri" pitchFamily="34" charset="-122"/>
                <a:cs typeface="Calibri" pitchFamily="34" charset="-120"/>
              </a:rPr>
              <a:t>Quản lý phiên bản mô hình, hỗ trợ rollback</a:t>
            </a:r>
            <a:endParaRPr lang="en-US" sz="1100" dirty="0"/>
          </a:p>
          <a:p>
            <a:pPr marL="342900" indent="-342900">
              <a:spcAft>
                <a:spcPts val="700"/>
              </a:spcAft>
              <a:buSzPct val="100000"/>
              <a:buChar char="•"/>
            </a:pPr>
            <a:r>
              <a:rPr lang="en-US" sz="1100" dirty="0">
                <a:solidFill>
                  <a:srgbClr val="222833"/>
                </a:solidFill>
                <a:latin typeface="Calibri" pitchFamily="34" charset="0"/>
                <a:ea typeface="Calibri" pitchFamily="34" charset="-122"/>
                <a:cs typeface="Calibri" pitchFamily="34" charset="-120"/>
              </a:rPr>
              <a:t>Benchmark song song ≥ 4 phương pháp</a:t>
            </a:r>
            <a:endParaRPr lang="en-US" sz="1100" dirty="0"/>
          </a:p>
        </p:txBody>
      </p:sp>
      <p:sp>
        <p:nvSpPr>
          <p:cNvPr id="11" name="Shape 9"/>
          <p:cNvSpPr/>
          <p:nvPr/>
        </p:nvSpPr>
        <p:spPr>
          <a:xfrm>
            <a:off x="6309360" y="1325880"/>
            <a:ext cx="2286000" cy="3017520"/>
          </a:xfrm>
          <a:prstGeom prst="roundRect">
            <a:avLst>
              <a:gd name="adj" fmla="val 2400"/>
            </a:avLst>
          </a:prstGeom>
          <a:solidFill>
            <a:srgbClr val="E8F0FE"/>
          </a:solidFill>
          <a:ln w="6350">
            <a:solidFill>
              <a:srgbClr val="E8F0FE"/>
            </a:solidFill>
            <a:prstDash val="solid"/>
          </a:ln>
        </p:spPr>
        <p:txBody>
          <a:bodyPr/>
          <a:lstStyle/>
          <a:p>
            <a:endParaRPr lang="en-US"/>
          </a:p>
        </p:txBody>
      </p:sp>
      <p:sp>
        <p:nvSpPr>
          <p:cNvPr id="12" name="Text 10"/>
          <p:cNvSpPr txBox="1"/>
          <p:nvPr/>
        </p:nvSpPr>
        <p:spPr>
          <a:xfrm>
            <a:off x="6492240" y="1463040"/>
            <a:ext cx="192024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Module 3 — API &amp; Dashboard</a:t>
            </a:r>
            <a:endParaRPr lang="en-US" sz="1100" dirty="0"/>
          </a:p>
        </p:txBody>
      </p:sp>
      <p:sp>
        <p:nvSpPr>
          <p:cNvPr id="13" name="Text 11"/>
          <p:cNvSpPr txBox="1"/>
          <p:nvPr/>
        </p:nvSpPr>
        <p:spPr>
          <a:xfrm>
            <a:off x="6492240" y="1252728"/>
            <a:ext cx="1920240"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222833"/>
                </a:solidFill>
                <a:latin typeface="Calibri" pitchFamily="34" charset="0"/>
                <a:ea typeface="Calibri" pitchFamily="34" charset="-122"/>
                <a:cs typeface="Calibri" pitchFamily="34" charset="-120"/>
              </a:rPr>
              <a:t>Dashboard metrics pipeline, API và mô hình</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Xác</a:t>
            </a:r>
            <a:r>
              <a:rPr lang="en-US" sz="1100" dirty="0">
                <a:solidFill>
                  <a:srgbClr val="222833"/>
                </a:solidFill>
                <a:latin typeface="Calibri" pitchFamily="34" charset="0"/>
                <a:ea typeface="Calibri" pitchFamily="34" charset="-122"/>
                <a:cs typeface="Calibri" pitchFamily="34" charset="-120"/>
              </a:rPr>
              <a:t> thực API Key/JWT, phân quyền RBAC</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err="1">
                <a:solidFill>
                  <a:srgbClr val="1E2761"/>
                </a:solidFill>
                <a:latin typeface="Cambria" pitchFamily="34" charset="0"/>
                <a:ea typeface="Cambria" pitchFamily="34" charset="-122"/>
                <a:cs typeface="Cambria" pitchFamily="34" charset="-120"/>
              </a:rPr>
              <a:t>Yêu</a:t>
            </a:r>
            <a:r>
              <a:rPr lang="en-US" sz="2500" b="1" dirty="0">
                <a:solidFill>
                  <a:srgbClr val="1E2761"/>
                </a:solidFill>
                <a:latin typeface="Cambria" pitchFamily="34" charset="0"/>
                <a:ea typeface="Cambria" pitchFamily="34" charset="-122"/>
                <a:cs typeface="Cambria" pitchFamily="34" charset="-120"/>
              </a:rPr>
              <a:t> </a:t>
            </a:r>
            <a:r>
              <a:rPr lang="en-US" sz="2500" b="1" dirty="0" err="1">
                <a:solidFill>
                  <a:srgbClr val="1E2761"/>
                </a:solidFill>
                <a:latin typeface="Cambria" pitchFamily="34" charset="0"/>
                <a:ea typeface="Cambria" pitchFamily="34" charset="-122"/>
                <a:cs typeface="Cambria" pitchFamily="34" charset="-120"/>
              </a:rPr>
              <a:t>cầu</a:t>
            </a:r>
            <a:r>
              <a:rPr lang="en-US" sz="2500" b="1" dirty="0">
                <a:solidFill>
                  <a:srgbClr val="1E2761"/>
                </a:solidFill>
                <a:latin typeface="Cambria" pitchFamily="34" charset="0"/>
                <a:ea typeface="Cambria" pitchFamily="34" charset="-122"/>
                <a:cs typeface="Cambria" pitchFamily="34" charset="-120"/>
              </a:rPr>
              <a:t> phi </a:t>
            </a:r>
            <a:r>
              <a:rPr lang="en-US" sz="2500" b="1" dirty="0" err="1">
                <a:solidFill>
                  <a:srgbClr val="1E2761"/>
                </a:solidFill>
                <a:latin typeface="Cambria" pitchFamily="34" charset="0"/>
                <a:ea typeface="Cambria" pitchFamily="34" charset="-122"/>
                <a:cs typeface="Cambria" pitchFamily="34" charset="-120"/>
              </a:rPr>
              <a:t>chức</a:t>
            </a:r>
            <a:r>
              <a:rPr lang="en-US" sz="2500" b="1" dirty="0">
                <a:solidFill>
                  <a:srgbClr val="1E2761"/>
                </a:solidFill>
                <a:latin typeface="Cambria" pitchFamily="34" charset="0"/>
                <a:ea typeface="Cambria" pitchFamily="34" charset="-122"/>
                <a:cs typeface="Cambria" pitchFamily="34" charset="-120"/>
              </a:rPr>
              <a:t> </a:t>
            </a:r>
            <a:r>
              <a:rPr lang="en-US" sz="2500" b="1" dirty="0" err="1">
                <a:solidFill>
                  <a:srgbClr val="1E2761"/>
                </a:solidFill>
                <a:latin typeface="Cambria" pitchFamily="34" charset="0"/>
                <a:ea typeface="Cambria" pitchFamily="34" charset="-122"/>
                <a:cs typeface="Cambria" pitchFamily="34" charset="-120"/>
              </a:rPr>
              <a:t>năng</a:t>
            </a:r>
            <a:r>
              <a:rPr lang="en-US" sz="2500" b="1" dirty="0">
                <a:solidFill>
                  <a:srgbClr val="1E2761"/>
                </a:solidFill>
                <a:latin typeface="Cambria" pitchFamily="34" charset="0"/>
                <a:ea typeface="Cambria" pitchFamily="34" charset="-122"/>
                <a:cs typeface="Cambria" pitchFamily="34" charset="-120"/>
              </a:rPr>
              <a:t> (NFR) </a:t>
            </a:r>
            <a:r>
              <a:rPr lang="en-US" sz="2500" b="1" dirty="0" err="1">
                <a:solidFill>
                  <a:srgbClr val="1E2761"/>
                </a:solidFill>
                <a:latin typeface="Cambria" pitchFamily="34" charset="0"/>
                <a:ea typeface="Cambria" pitchFamily="34" charset="-122"/>
                <a:cs typeface="Cambria" pitchFamily="34" charset="-120"/>
              </a:rPr>
              <a:t>với</a:t>
            </a:r>
            <a:r>
              <a:rPr lang="en-US" sz="2500" b="1" dirty="0">
                <a:solidFill>
                  <a:srgbClr val="1E2761"/>
                </a:solidFill>
                <a:latin typeface="Cambria" pitchFamily="34" charset="0"/>
                <a:ea typeface="Cambria" pitchFamily="34" charset="-122"/>
                <a:cs typeface="Cambria" pitchFamily="34" charset="-120"/>
              </a:rPr>
              <a:t> bộ KPI đã cam kết</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127248"/>
        </p:xfrm>
        <a:graphic>
          <a:graphicData uri="http://schemas.openxmlformats.org/drawingml/2006/table">
            <a:tbl>
              <a:tblPr/>
              <a:tblGrid>
                <a:gridCol w="12344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4747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Nhóm NFR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Yêu cầu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Ngưỡng đo lường (tiêu chí test)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KPI liên kết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Hiệu năng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Thời gian phản hồi API dự báo (P95)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500 ms / request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B.1</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Hiệu năng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Thời gian suy luận mô hình AI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200 ms /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Sẵn sàng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Uptime dịch vụ API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99,9% (downtime ≤ 43,2 phút/tháng)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Sẵn sàng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Thời gian phát hiện sự cố (MTTD)</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15 phút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B.7</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Dữ liệu</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Tính đầy đủ và độ trễ đồng bộ</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99,5% · ≤ 24 giờ</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B.4, B.5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Bảo mật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Mã hóa kết nối và xác thực API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TLS 1.2+ · bắt buộc API Key / JWT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FR-12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Mở rộng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Scale số lượng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Thêm lên 50 CN không cần đổi kiến trúc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Giả định mục 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Tuân thủ</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Bảo mật thông tin cá nhân (PII)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Dữ liệu giao dịch được ẩn danh 100%</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Ràng buộc NĐ13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Quy trình nghiệp vụ và luồng dữ liệu tự động</a:t>
            </a:r>
            <a:endParaRPr lang="en-US" sz="2500" dirty="0"/>
          </a:p>
        </p:txBody>
      </p:sp>
      <p:sp>
        <p:nvSpPr>
          <p:cNvPr id="5" name="Shape 3"/>
          <p:cNvSpPr/>
          <p:nvPr/>
        </p:nvSpPr>
        <p:spPr>
          <a:xfrm>
            <a:off x="548640" y="1325880"/>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77240" y="1463040"/>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24/7</a:t>
            </a:r>
            <a:endParaRPr lang="en-US" sz="1050" dirty="0"/>
          </a:p>
        </p:txBody>
      </p:sp>
      <p:sp>
        <p:nvSpPr>
          <p:cNvPr id="7" name="Text 5"/>
          <p:cNvSpPr txBox="1"/>
          <p:nvPr/>
        </p:nvSpPr>
        <p:spPr>
          <a:xfrm>
            <a:off x="1645920" y="1463040"/>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Thu thập</a:t>
            </a:r>
            <a:endParaRPr lang="en-US" sz="1050" dirty="0"/>
          </a:p>
        </p:txBody>
      </p:sp>
      <p:sp>
        <p:nvSpPr>
          <p:cNvPr id="8" name="Text 6"/>
          <p:cNvSpPr txBox="1"/>
          <p:nvPr/>
        </p:nvSpPr>
        <p:spPr>
          <a:xfrm>
            <a:off x="3108960" y="1463040"/>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Khách hàng giao dịch tại hệ thống POS của chi nhánh</a:t>
            </a:r>
            <a:endParaRPr lang="en-US" sz="1000" dirty="0"/>
          </a:p>
        </p:txBody>
      </p:sp>
      <p:sp>
        <p:nvSpPr>
          <p:cNvPr id="9" name="Shape 7"/>
          <p:cNvSpPr/>
          <p:nvPr/>
        </p:nvSpPr>
        <p:spPr>
          <a:xfrm>
            <a:off x="548640" y="1911096"/>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10" name="Text 8"/>
          <p:cNvSpPr txBox="1"/>
          <p:nvPr/>
        </p:nvSpPr>
        <p:spPr>
          <a:xfrm>
            <a:off x="777240" y="2048256"/>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01:00</a:t>
            </a:r>
            <a:endParaRPr lang="en-US" sz="1050" dirty="0"/>
          </a:p>
        </p:txBody>
      </p:sp>
      <p:sp>
        <p:nvSpPr>
          <p:cNvPr id="11" name="Text 9"/>
          <p:cNvSpPr txBox="1"/>
          <p:nvPr/>
        </p:nvSpPr>
        <p:spPr>
          <a:xfrm>
            <a:off x="1645920" y="2048256"/>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Extract</a:t>
            </a:r>
            <a:endParaRPr lang="en-US" sz="1050" dirty="0"/>
          </a:p>
        </p:txBody>
      </p:sp>
      <p:sp>
        <p:nvSpPr>
          <p:cNvPr id="12" name="Text 10"/>
          <p:cNvSpPr txBox="1"/>
          <p:nvPr/>
        </p:nvSpPr>
        <p:spPr>
          <a:xfrm>
            <a:off x="3108960" y="2048256"/>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Airflow rút dữ liệu POS 34 chi nhánh qua TLS → S3 Raw Zone</a:t>
            </a:r>
            <a:endParaRPr lang="en-US" sz="1000" dirty="0"/>
          </a:p>
        </p:txBody>
      </p:sp>
      <p:sp>
        <p:nvSpPr>
          <p:cNvPr id="13" name="Shape 11"/>
          <p:cNvSpPr/>
          <p:nvPr/>
        </p:nvSpPr>
        <p:spPr>
          <a:xfrm>
            <a:off x="548640" y="2496312"/>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14" name="Text 12"/>
          <p:cNvSpPr txBox="1"/>
          <p:nvPr/>
        </p:nvSpPr>
        <p:spPr>
          <a:xfrm>
            <a:off x="777240" y="2633472"/>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01:15</a:t>
            </a:r>
            <a:endParaRPr lang="en-US" sz="1050" dirty="0"/>
          </a:p>
        </p:txBody>
      </p:sp>
      <p:sp>
        <p:nvSpPr>
          <p:cNvPr id="15" name="Text 13"/>
          <p:cNvSpPr txBox="1"/>
          <p:nvPr/>
        </p:nvSpPr>
        <p:spPr>
          <a:xfrm>
            <a:off x="1645920" y="2633472"/>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Transform</a:t>
            </a:r>
            <a:endParaRPr lang="en-US" sz="1050" dirty="0"/>
          </a:p>
        </p:txBody>
      </p:sp>
      <p:sp>
        <p:nvSpPr>
          <p:cNvPr id="16" name="Text 14"/>
          <p:cNvSpPr txBox="1"/>
          <p:nvPr/>
        </p:nvSpPr>
        <p:spPr>
          <a:xfrm>
            <a:off x="3108960" y="2633472"/>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Làm sạch, khử trùng lặp, ẩn danh PII → PostgreSQL Clean Zone</a:t>
            </a:r>
            <a:endParaRPr lang="en-US" sz="1000" dirty="0"/>
          </a:p>
        </p:txBody>
      </p:sp>
      <p:sp>
        <p:nvSpPr>
          <p:cNvPr id="17" name="Shape 15"/>
          <p:cNvSpPr/>
          <p:nvPr/>
        </p:nvSpPr>
        <p:spPr>
          <a:xfrm>
            <a:off x="548640" y="3081528"/>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18" name="Text 16"/>
          <p:cNvSpPr txBox="1"/>
          <p:nvPr/>
        </p:nvSpPr>
        <p:spPr>
          <a:xfrm>
            <a:off x="777240" y="3218688"/>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02:00</a:t>
            </a:r>
            <a:endParaRPr lang="en-US" sz="1050" dirty="0"/>
          </a:p>
        </p:txBody>
      </p:sp>
      <p:sp>
        <p:nvSpPr>
          <p:cNvPr id="19" name="Text 17"/>
          <p:cNvSpPr txBox="1"/>
          <p:nvPr/>
        </p:nvSpPr>
        <p:spPr>
          <a:xfrm>
            <a:off x="1645920" y="3218688"/>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Predict</a:t>
            </a:r>
            <a:endParaRPr lang="en-US" sz="1050" dirty="0"/>
          </a:p>
        </p:txBody>
      </p:sp>
      <p:sp>
        <p:nvSpPr>
          <p:cNvPr id="20" name="Text 18"/>
          <p:cNvSpPr txBox="1"/>
          <p:nvPr/>
        </p:nvSpPr>
        <p:spPr>
          <a:xfrm>
            <a:off x="3108960" y="3218688"/>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Batch inference 34 chi nhánh × 7 ngày → bảng Forecast_Result</a:t>
            </a:r>
            <a:endParaRPr lang="en-US" sz="1000" dirty="0"/>
          </a:p>
        </p:txBody>
      </p:sp>
      <p:sp>
        <p:nvSpPr>
          <p:cNvPr id="21" name="Shape 19"/>
          <p:cNvSpPr/>
          <p:nvPr/>
        </p:nvSpPr>
        <p:spPr>
          <a:xfrm>
            <a:off x="548640" y="3666744"/>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22" name="Text 20"/>
          <p:cNvSpPr txBox="1"/>
          <p:nvPr/>
        </p:nvSpPr>
        <p:spPr>
          <a:xfrm>
            <a:off x="777240" y="3803904"/>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Tự động</a:t>
            </a:r>
            <a:endParaRPr lang="en-US" sz="1050" dirty="0"/>
          </a:p>
        </p:txBody>
      </p:sp>
      <p:sp>
        <p:nvSpPr>
          <p:cNvPr id="23" name="Text 21"/>
          <p:cNvSpPr txBox="1"/>
          <p:nvPr/>
        </p:nvSpPr>
        <p:spPr>
          <a:xfrm>
            <a:off x="1645920" y="3803904"/>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Alert</a:t>
            </a:r>
            <a:endParaRPr lang="en-US" sz="1050" dirty="0"/>
          </a:p>
        </p:txBody>
      </p:sp>
      <p:sp>
        <p:nvSpPr>
          <p:cNvPr id="24" name="Text 22"/>
          <p:cNvSpPr txBox="1"/>
          <p:nvPr/>
        </p:nvSpPr>
        <p:spPr>
          <a:xfrm>
            <a:off x="3108960" y="3803904"/>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Quét kết quả, đẩy webhook/email nếu vượt 1,5× lưu lượng trung bình</a:t>
            </a:r>
            <a:endParaRPr lang="en-US" sz="1000" dirty="0"/>
          </a:p>
        </p:txBody>
      </p:sp>
      <p:sp>
        <p:nvSpPr>
          <p:cNvPr id="25" name="Shape 23"/>
          <p:cNvSpPr/>
          <p:nvPr/>
        </p:nvSpPr>
        <p:spPr>
          <a:xfrm>
            <a:off x="548640" y="4251960"/>
            <a:ext cx="8046720" cy="512064"/>
          </a:xfrm>
          <a:prstGeom prst="roundRect">
            <a:avLst>
              <a:gd name="adj" fmla="val 10714"/>
            </a:avLst>
          </a:prstGeom>
          <a:solidFill>
            <a:srgbClr val="E8F0FE"/>
          </a:solidFill>
          <a:ln w="6350">
            <a:solidFill>
              <a:srgbClr val="FDF0DC"/>
            </a:solidFill>
            <a:prstDash val="solid"/>
          </a:ln>
        </p:spPr>
        <p:txBody>
          <a:bodyPr/>
          <a:lstStyle/>
          <a:p>
            <a:endParaRPr lang="en-US"/>
          </a:p>
        </p:txBody>
      </p:sp>
      <p:sp>
        <p:nvSpPr>
          <p:cNvPr id="26" name="Text 24"/>
          <p:cNvSpPr txBox="1"/>
          <p:nvPr/>
        </p:nvSpPr>
        <p:spPr>
          <a:xfrm>
            <a:off x="777240" y="4389120"/>
            <a:ext cx="777240" cy="237744"/>
          </a:xfrm>
          <a:prstGeom prst="rect">
            <a:avLst/>
          </a:prstGeom>
          <a:noFill/>
          <a:ln/>
        </p:spPr>
        <p:txBody>
          <a:bodyPr wrap="square" lIns="0" tIns="0" rIns="0" bIns="0" rtlCol="0" anchor="ctr"/>
          <a:lstStyle/>
          <a:p>
            <a:pPr marL="0" indent="0">
              <a:buNone/>
            </a:pPr>
            <a:r>
              <a:rPr lang="en-US" sz="1050" b="1" dirty="0">
                <a:solidFill>
                  <a:srgbClr val="424A7D"/>
                </a:solidFill>
                <a:latin typeface="Calibri" pitchFamily="34" charset="0"/>
                <a:ea typeface="Calibri" pitchFamily="34" charset="-122"/>
                <a:cs typeface="Calibri" pitchFamily="34" charset="-120"/>
              </a:rPr>
              <a:t>08:00</a:t>
            </a:r>
            <a:endParaRPr lang="en-US" sz="1050" dirty="0">
              <a:solidFill>
                <a:srgbClr val="424A7D"/>
              </a:solidFill>
            </a:endParaRPr>
          </a:p>
        </p:txBody>
      </p:sp>
      <p:sp>
        <p:nvSpPr>
          <p:cNvPr id="27" name="Text 25"/>
          <p:cNvSpPr txBox="1"/>
          <p:nvPr/>
        </p:nvSpPr>
        <p:spPr>
          <a:xfrm>
            <a:off x="1645920" y="4389120"/>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Ra quyết định</a:t>
            </a:r>
            <a:endParaRPr lang="en-US" sz="1050" dirty="0"/>
          </a:p>
        </p:txBody>
      </p:sp>
      <p:sp>
        <p:nvSpPr>
          <p:cNvPr id="28" name="Text 26"/>
          <p:cNvSpPr txBox="1"/>
          <p:nvPr/>
        </p:nvSpPr>
        <p:spPr>
          <a:xfrm>
            <a:off x="3108960" y="4389120"/>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Quản lý chi nhánh xem dự báo và DUYỆT lịch phân ca — con người chốt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Kiến trúc ba tầng, </a:t>
            </a:r>
            <a:r>
              <a:rPr lang="en-US" sz="2500" b="1" dirty="0" err="1">
                <a:solidFill>
                  <a:srgbClr val="1E2761"/>
                </a:solidFill>
                <a:latin typeface="Cambria" pitchFamily="34" charset="0"/>
                <a:ea typeface="Cambria" pitchFamily="34" charset="-122"/>
                <a:cs typeface="Cambria" pitchFamily="34" charset="-120"/>
              </a:rPr>
              <a:t>tích</a:t>
            </a:r>
            <a:r>
              <a:rPr lang="en-US" sz="2500" b="1" dirty="0">
                <a:solidFill>
                  <a:srgbClr val="1E2761"/>
                </a:solidFill>
                <a:latin typeface="Cambria" pitchFamily="34" charset="0"/>
                <a:ea typeface="Cambria" pitchFamily="34" charset="-122"/>
                <a:cs typeface="Cambria" pitchFamily="34" charset="-120"/>
              </a:rPr>
              <a:t> </a:t>
            </a:r>
            <a:r>
              <a:rPr lang="en-US" sz="2500" b="1" dirty="0" err="1">
                <a:solidFill>
                  <a:srgbClr val="1E2761"/>
                </a:solidFill>
                <a:latin typeface="Cambria" pitchFamily="34" charset="0"/>
                <a:ea typeface="Cambria" pitchFamily="34" charset="-122"/>
                <a:cs typeface="Cambria" pitchFamily="34" charset="-120"/>
              </a:rPr>
              <a:t>hợp</a:t>
            </a:r>
            <a:endParaRPr lang="en-US" sz="2500" dirty="0"/>
          </a:p>
        </p:txBody>
      </p:sp>
      <p:sp>
        <p:nvSpPr>
          <p:cNvPr id="5" name="Shape 3"/>
          <p:cNvSpPr/>
          <p:nvPr/>
        </p:nvSpPr>
        <p:spPr>
          <a:xfrm>
            <a:off x="1364566" y="1645920"/>
            <a:ext cx="6112412" cy="685800"/>
          </a:xfrm>
          <a:prstGeom prst="roundRect">
            <a:avLst>
              <a:gd name="adj" fmla="val 8000"/>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1565733" y="1728216"/>
            <a:ext cx="5623419"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Trình bày</a:t>
            </a:r>
            <a:endParaRPr lang="en-US" sz="1100" dirty="0"/>
          </a:p>
        </p:txBody>
      </p:sp>
      <p:sp>
        <p:nvSpPr>
          <p:cNvPr id="7" name="Text 5"/>
          <p:cNvSpPr txBox="1"/>
          <p:nvPr/>
        </p:nvSpPr>
        <p:spPr>
          <a:xfrm>
            <a:off x="1565733" y="1956816"/>
            <a:ext cx="5623419"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Web Dashboard (DSS) · Grafana · Webhook / Email Alert</a:t>
            </a:r>
            <a:endParaRPr lang="en-US" sz="1050" dirty="0"/>
          </a:p>
        </p:txBody>
      </p:sp>
      <p:sp>
        <p:nvSpPr>
          <p:cNvPr id="8" name="Shape 6"/>
          <p:cNvSpPr/>
          <p:nvPr/>
        </p:nvSpPr>
        <p:spPr>
          <a:xfrm>
            <a:off x="1364566" y="2404872"/>
            <a:ext cx="6112412" cy="685800"/>
          </a:xfrm>
          <a:prstGeom prst="roundRect">
            <a:avLst>
              <a:gd name="adj" fmla="val 8000"/>
            </a:avLst>
          </a:prstGeom>
          <a:solidFill>
            <a:srgbClr val="E8F0FE"/>
          </a:solidFill>
          <a:ln w="6350">
            <a:noFill/>
            <a:prstDash val="solid"/>
          </a:ln>
        </p:spPr>
        <p:txBody>
          <a:bodyPr/>
          <a:lstStyle/>
          <a:p>
            <a:endParaRPr lang="en-US"/>
          </a:p>
        </p:txBody>
      </p:sp>
      <p:sp>
        <p:nvSpPr>
          <p:cNvPr id="9" name="Text 7"/>
          <p:cNvSpPr txBox="1"/>
          <p:nvPr/>
        </p:nvSpPr>
        <p:spPr>
          <a:xfrm>
            <a:off x="1565733" y="2487168"/>
            <a:ext cx="5623419"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Ứng dụng</a:t>
            </a:r>
            <a:endParaRPr lang="en-US" sz="1100" dirty="0">
              <a:solidFill>
                <a:srgbClr val="1E2761"/>
              </a:solidFill>
            </a:endParaRPr>
          </a:p>
        </p:txBody>
      </p:sp>
      <p:sp>
        <p:nvSpPr>
          <p:cNvPr id="10" name="Text 8"/>
          <p:cNvSpPr txBox="1"/>
          <p:nvPr/>
        </p:nvSpPr>
        <p:spPr>
          <a:xfrm>
            <a:off x="1565733" y="2715768"/>
            <a:ext cx="5623419" cy="310896"/>
          </a:xfrm>
          <a:prstGeom prst="rect">
            <a:avLst/>
          </a:prstGeom>
          <a:noFill/>
          <a:ln/>
        </p:spPr>
        <p:txBody>
          <a:bodyPr wrap="square" lIns="0" tIns="0" rIns="0" bIns="0" rtlCol="0" anchor="ctr"/>
          <a:lstStyle/>
          <a:p>
            <a:pPr marL="0" indent="0">
              <a:buNone/>
            </a:pPr>
            <a:r>
              <a:rPr lang="en-US" sz="1050" dirty="0">
                <a:solidFill>
                  <a:srgbClr val="768093"/>
                </a:solidFill>
                <a:latin typeface="Calibri" pitchFamily="34" charset="0"/>
                <a:ea typeface="Calibri" pitchFamily="34" charset="-122"/>
                <a:cs typeface="Calibri" pitchFamily="34" charset="-120"/>
              </a:rPr>
              <a:t>API Gateway (JWT, rate limit) · Forecast Service · Alert Service · Apache Airflow</a:t>
            </a:r>
            <a:endParaRPr lang="en-US" sz="1050" dirty="0">
              <a:solidFill>
                <a:srgbClr val="768093"/>
              </a:solidFill>
            </a:endParaRPr>
          </a:p>
        </p:txBody>
      </p:sp>
      <p:sp>
        <p:nvSpPr>
          <p:cNvPr id="11" name="Shape 9"/>
          <p:cNvSpPr/>
          <p:nvPr/>
        </p:nvSpPr>
        <p:spPr>
          <a:xfrm>
            <a:off x="1364566" y="3163824"/>
            <a:ext cx="6112412" cy="685800"/>
          </a:xfrm>
          <a:prstGeom prst="roundRect">
            <a:avLst>
              <a:gd name="adj" fmla="val 8000"/>
            </a:avLst>
          </a:prstGeom>
          <a:solidFill>
            <a:srgbClr val="E8F0FE"/>
          </a:solidFill>
          <a:ln w="6350">
            <a:solidFill>
              <a:srgbClr val="E8F0FE"/>
            </a:solidFill>
            <a:prstDash val="solid"/>
          </a:ln>
        </p:spPr>
        <p:txBody>
          <a:bodyPr/>
          <a:lstStyle/>
          <a:p>
            <a:endParaRPr lang="en-US"/>
          </a:p>
        </p:txBody>
      </p:sp>
      <p:sp>
        <p:nvSpPr>
          <p:cNvPr id="12" name="Text 10"/>
          <p:cNvSpPr txBox="1"/>
          <p:nvPr/>
        </p:nvSpPr>
        <p:spPr>
          <a:xfrm>
            <a:off x="1565733" y="3246120"/>
            <a:ext cx="5623419"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Dữ liệu</a:t>
            </a:r>
            <a:endParaRPr lang="en-US" sz="1100" dirty="0"/>
          </a:p>
        </p:txBody>
      </p:sp>
      <p:sp>
        <p:nvSpPr>
          <p:cNvPr id="13" name="Text 11"/>
          <p:cNvSpPr txBox="1"/>
          <p:nvPr/>
        </p:nvSpPr>
        <p:spPr>
          <a:xfrm>
            <a:off x="1565733" y="3474720"/>
            <a:ext cx="5623419"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PostgreSQL DWH · MLflow Registry · Object Storage S3 · Prometheus + Loki</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Kế hoạch triển khai và tổ chức nhân sự</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3207676480"/>
              </p:ext>
            </p:extLst>
          </p:nvPr>
        </p:nvGraphicFramePr>
        <p:xfrm>
          <a:off x="422031" y="1307592"/>
          <a:ext cx="6080760" cy="2816352"/>
        </p:xfrm>
        <a:graphic>
          <a:graphicData uri="http://schemas.openxmlformats.org/drawingml/2006/table">
            <a:tbl>
              <a:tblPr/>
              <a:tblGrid>
                <a:gridCol w="15544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Pha</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Tuần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Sản phẩm bàn giao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Nghiệm thu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 Khảo sát &amp; phân tích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T1–T3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Dictionary, dataset sạch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B.4 ≥ 99,5%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2. Thiết kế HLD/LLD</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T4–T5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API Contract, ERD, Terraform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Sponsor duyệt 100%</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Architect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3. Phát triển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T6–T10</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Pipeline, model artifact, benchmark</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A.1 &lt; 15%; A.3 ≥ 85%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ML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4. Kiểm thử SIT/UAT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T11–T13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Docker image, báo cáo SIT, UAT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B.1 ≤ 500ms; B.6 &lt; 0,1%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QA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5. Triển khai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T14–T15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Hệ thống live, dashboard</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B.3 ≥ 99,9%; B.5 ≤ 24h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DevOps/SRE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6. Hypercare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T16–T19</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Báo cáo hypercare, model v2</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14 ngày không sự cố P0/P1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SRE + ML</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727874" y="1307592"/>
            <a:ext cx="1994095" cy="2834640"/>
          </a:xfrm>
          <a:prstGeom prst="roundRect">
            <a:avLst>
              <a:gd name="adj" fmla="val 2449"/>
            </a:avLst>
          </a:prstGeom>
          <a:solidFill>
            <a:srgbClr val="1E2761"/>
          </a:solidFill>
          <a:ln w="6350">
            <a:solidFill>
              <a:srgbClr val="1E2761"/>
            </a:solidFill>
            <a:prstDash val="solid"/>
          </a:ln>
        </p:spPr>
        <p:txBody>
          <a:bodyPr/>
          <a:lstStyle/>
          <a:p>
            <a:endParaRPr lang="en-US"/>
          </a:p>
        </p:txBody>
      </p:sp>
      <p:sp>
        <p:nvSpPr>
          <p:cNvPr id="7" name="Text 4"/>
          <p:cNvSpPr txBox="1"/>
          <p:nvPr/>
        </p:nvSpPr>
        <p:spPr>
          <a:xfrm>
            <a:off x="6910754" y="1555887"/>
            <a:ext cx="1828800" cy="237744"/>
          </a:xfrm>
          <a:prstGeom prst="rect">
            <a:avLst/>
          </a:prstGeom>
          <a:noFill/>
          <a:ln/>
        </p:spPr>
        <p:txBody>
          <a:bodyPr wrap="square" lIns="0" tIns="0" rIns="0" bIns="0" rtlCol="0" anchor="ctr"/>
          <a:lstStyle/>
          <a:p>
            <a:pPr marL="0" indent="0">
              <a:buNone/>
            </a:pPr>
            <a:r>
              <a:rPr lang="en-US" sz="1200" b="1" dirty="0">
                <a:solidFill>
                  <a:srgbClr val="E08A1E"/>
                </a:solidFill>
                <a:latin typeface="Calibri" pitchFamily="34" charset="0"/>
                <a:ea typeface="Calibri" pitchFamily="34" charset="-122"/>
                <a:cs typeface="Calibri" pitchFamily="34" charset="-120"/>
              </a:rPr>
              <a:t>Nhân sự</a:t>
            </a:r>
            <a:endParaRPr lang="en-US" sz="1200" dirty="0"/>
          </a:p>
        </p:txBody>
      </p:sp>
      <p:sp>
        <p:nvSpPr>
          <p:cNvPr id="8" name="Text 5"/>
          <p:cNvSpPr txBox="1"/>
          <p:nvPr/>
        </p:nvSpPr>
        <p:spPr>
          <a:xfrm>
            <a:off x="6893169" y="1793631"/>
            <a:ext cx="1828800" cy="219456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Project Manager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2 Data Engineer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2 ML Engineer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Backend Dev</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DevOps / SRE</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QA Engineer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2 Key User (QL chi nhánh)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Chi phí và phương án tài chính</a:t>
            </a:r>
            <a:endParaRPr lang="en-US" sz="2500" dirty="0"/>
          </a:p>
        </p:txBody>
      </p:sp>
      <p:sp>
        <p:nvSpPr>
          <p:cNvPr id="5" name="Text 3"/>
          <p:cNvSpPr txBox="1"/>
          <p:nvPr/>
        </p:nvSpPr>
        <p:spPr>
          <a:xfrm>
            <a:off x="548640" y="1234440"/>
            <a:ext cx="2514600" cy="548640"/>
          </a:xfrm>
          <a:prstGeom prst="rect">
            <a:avLst/>
          </a:prstGeom>
          <a:noFill/>
          <a:ln/>
        </p:spPr>
        <p:txBody>
          <a:bodyPr wrap="square" lIns="0" tIns="0" rIns="0" bIns="0" rtlCol="0" anchor="ctr"/>
          <a:lstStyle/>
          <a:p>
            <a:pPr marL="0" indent="0" algn="ctr">
              <a:buNone/>
            </a:pPr>
            <a:r>
              <a:rPr lang="en-US" sz="2900" b="1" dirty="0">
                <a:solidFill>
                  <a:srgbClr val="1E2761"/>
                </a:solidFill>
                <a:latin typeface="Cambria" pitchFamily="34" charset="0"/>
                <a:ea typeface="Cambria" pitchFamily="34" charset="-122"/>
                <a:cs typeface="Cambria" pitchFamily="34" charset="-120"/>
              </a:rPr>
              <a:t>663 tr</a:t>
            </a:r>
            <a:endParaRPr lang="en-US" sz="2900" dirty="0"/>
          </a:p>
        </p:txBody>
      </p:sp>
      <p:sp>
        <p:nvSpPr>
          <p:cNvPr id="6" name="Text 4"/>
          <p:cNvSpPr txBox="1"/>
          <p:nvPr/>
        </p:nvSpPr>
        <p:spPr>
          <a:xfrm>
            <a:off x="548640" y="1764792"/>
            <a:ext cx="2514600" cy="457200"/>
          </a:xfrm>
          <a:prstGeom prst="rect">
            <a:avLst/>
          </a:prstGeom>
          <a:noFill/>
          <a:ln/>
        </p:spPr>
        <p:txBody>
          <a:bodyPr wrap="square" lIns="0" tIns="0" rIns="0" bIns="0" rtlCol="0" anchor="ctr"/>
          <a:lstStyle/>
          <a:p>
            <a:pPr marL="0" indent="0" algn="ctr">
              <a:buNone/>
            </a:pPr>
            <a:r>
              <a:rPr lang="en-US" sz="1050" dirty="0">
                <a:solidFill>
                  <a:srgbClr val="5A6478"/>
                </a:solidFill>
                <a:latin typeface="Calibri" pitchFamily="34" charset="0"/>
                <a:ea typeface="Calibri" pitchFamily="34" charset="-122"/>
                <a:cs typeface="Calibri" pitchFamily="34" charset="-120"/>
              </a:rPr>
              <a:t>CAPEX — giai đoạn 15 tuần</a:t>
            </a:r>
            <a:endParaRPr lang="en-US" sz="1050" dirty="0"/>
          </a:p>
        </p:txBody>
      </p:sp>
      <p:sp>
        <p:nvSpPr>
          <p:cNvPr id="7" name="Text 5"/>
          <p:cNvSpPr txBox="1"/>
          <p:nvPr/>
        </p:nvSpPr>
        <p:spPr>
          <a:xfrm>
            <a:off x="3154680" y="1234440"/>
            <a:ext cx="2514600" cy="548640"/>
          </a:xfrm>
          <a:prstGeom prst="rect">
            <a:avLst/>
          </a:prstGeom>
          <a:noFill/>
          <a:ln/>
        </p:spPr>
        <p:txBody>
          <a:bodyPr wrap="square" lIns="0" tIns="0" rIns="0" bIns="0" rtlCol="0" anchor="ctr"/>
          <a:lstStyle/>
          <a:p>
            <a:pPr marL="0" indent="0" algn="ctr">
              <a:buNone/>
            </a:pPr>
            <a:r>
              <a:rPr lang="en-US" sz="2900" b="1" dirty="0">
                <a:solidFill>
                  <a:srgbClr val="1E2761"/>
                </a:solidFill>
                <a:latin typeface="Cambria" pitchFamily="34" charset="0"/>
                <a:ea typeface="Cambria" pitchFamily="34" charset="-122"/>
                <a:cs typeface="Cambria" pitchFamily="34" charset="-120"/>
              </a:rPr>
              <a:t>325,8 tr</a:t>
            </a:r>
            <a:endParaRPr lang="en-US" sz="2900" dirty="0"/>
          </a:p>
        </p:txBody>
      </p:sp>
      <p:sp>
        <p:nvSpPr>
          <p:cNvPr id="8" name="Text 6"/>
          <p:cNvSpPr txBox="1"/>
          <p:nvPr/>
        </p:nvSpPr>
        <p:spPr>
          <a:xfrm>
            <a:off x="3154680" y="1764792"/>
            <a:ext cx="2514600" cy="457200"/>
          </a:xfrm>
          <a:prstGeom prst="rect">
            <a:avLst/>
          </a:prstGeom>
          <a:noFill/>
          <a:ln/>
        </p:spPr>
        <p:txBody>
          <a:bodyPr wrap="square" lIns="0" tIns="0" rIns="0" bIns="0" rtlCol="0" anchor="ctr"/>
          <a:lstStyle/>
          <a:p>
            <a:pPr marL="0" indent="0" algn="ctr">
              <a:buNone/>
            </a:pPr>
            <a:r>
              <a:rPr lang="en-US" sz="1050" dirty="0">
                <a:solidFill>
                  <a:srgbClr val="5A6478"/>
                </a:solidFill>
                <a:latin typeface="Calibri" pitchFamily="34" charset="0"/>
                <a:ea typeface="Calibri" pitchFamily="34" charset="-122"/>
                <a:cs typeface="Calibri" pitchFamily="34" charset="-120"/>
              </a:rPr>
              <a:t>OPEX năm 1 sau Go-live</a:t>
            </a:r>
            <a:endParaRPr lang="en-US" sz="1050" dirty="0"/>
          </a:p>
        </p:txBody>
      </p:sp>
      <p:sp>
        <p:nvSpPr>
          <p:cNvPr id="9" name="Text 7"/>
          <p:cNvSpPr txBox="1"/>
          <p:nvPr/>
        </p:nvSpPr>
        <p:spPr>
          <a:xfrm>
            <a:off x="5760720" y="1234440"/>
            <a:ext cx="2834640" cy="548640"/>
          </a:xfrm>
          <a:prstGeom prst="rect">
            <a:avLst/>
          </a:prstGeom>
          <a:noFill/>
          <a:ln/>
        </p:spPr>
        <p:txBody>
          <a:bodyPr wrap="square" lIns="0" tIns="0" rIns="0" bIns="0" rtlCol="0" anchor="ctr"/>
          <a:lstStyle/>
          <a:p>
            <a:pPr marL="0" indent="0" algn="ctr">
              <a:buNone/>
            </a:pPr>
            <a:r>
              <a:rPr lang="en-US" sz="2900" b="1" dirty="0">
                <a:solidFill>
                  <a:srgbClr val="E08A1E"/>
                </a:solidFill>
                <a:latin typeface="Cambria" pitchFamily="34" charset="0"/>
                <a:ea typeface="Cambria" pitchFamily="34" charset="-122"/>
                <a:cs typeface="Cambria" pitchFamily="34" charset="-120"/>
              </a:rPr>
              <a:t>1,088 tỷ</a:t>
            </a:r>
            <a:endParaRPr lang="en-US" sz="2900" dirty="0"/>
          </a:p>
        </p:txBody>
      </p:sp>
      <p:sp>
        <p:nvSpPr>
          <p:cNvPr id="10" name="Text 8"/>
          <p:cNvSpPr txBox="1"/>
          <p:nvPr/>
        </p:nvSpPr>
        <p:spPr>
          <a:xfrm>
            <a:off x="5760720" y="1764792"/>
            <a:ext cx="2834640" cy="457200"/>
          </a:xfrm>
          <a:prstGeom prst="rect">
            <a:avLst/>
          </a:prstGeom>
          <a:noFill/>
          <a:ln/>
        </p:spPr>
        <p:txBody>
          <a:bodyPr wrap="square" lIns="0" tIns="0" rIns="0" bIns="0" rtlCol="0" anchor="ctr"/>
          <a:lstStyle/>
          <a:p>
            <a:pPr marL="0" indent="0" algn="ctr">
              <a:buNone/>
            </a:pPr>
            <a:r>
              <a:rPr lang="en-US" sz="1050" dirty="0">
                <a:solidFill>
                  <a:srgbClr val="5A6478"/>
                </a:solidFill>
                <a:latin typeface="Calibri" pitchFamily="34" charset="0"/>
                <a:ea typeface="Calibri" pitchFamily="34" charset="-122"/>
                <a:cs typeface="Calibri" pitchFamily="34" charset="-120"/>
              </a:rPr>
              <a:t>TCO năm 1 (đã gồm dự phòng 10%)</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5623560" cy="2161032"/>
        </p:xfrm>
        <a:graphic>
          <a:graphicData uri="http://schemas.openxmlformats.org/drawingml/2006/table">
            <a:tbl>
              <a:tblPr/>
              <a:tblGrid>
                <a:gridCol w="18288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Nhóm chi phí</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Chi tiết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Thành tiền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Nhân công (CAPEX)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PM, Data, ML, Backend, SRE, QA — ~27 người-tháng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594,0 tr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Hạ tầng phát triển (CAPEX)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VM, GPU training, PostgreSQL, S3 môi trường Dev/Staging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64,0 tr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Đào tạo &amp; chuyển giao (CAPEX)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2 buổi hướng dẫn đọc dashboard cho Key User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5,0 tr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Bản quyền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Open-source: Airflow, MLflow, FastAPI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0 đ</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Cloud production (OPEX)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K8s, PostgreSQL HA, S3, băng thông, GPU retrain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172,8 tr/năm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Nhân sự Ops + bảo mật (OPEX)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SRE/Data Eng part-time, pentest 2 lần/năm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152,0 tr/năm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Shape 9"/>
          <p:cNvSpPr/>
          <p:nvPr/>
        </p:nvSpPr>
        <p:spPr>
          <a:xfrm>
            <a:off x="6355080" y="2286000"/>
            <a:ext cx="2240280" cy="2103120"/>
          </a:xfrm>
          <a:prstGeom prst="roundRect">
            <a:avLst>
              <a:gd name="adj" fmla="val 2609"/>
            </a:avLst>
          </a:prstGeom>
          <a:solidFill>
            <a:srgbClr val="1E2761"/>
          </a:solidFill>
          <a:ln w="6350">
            <a:solidFill>
              <a:srgbClr val="1E2761"/>
            </a:solidFill>
            <a:prstDash val="solid"/>
          </a:ln>
        </p:spPr>
        <p:txBody>
          <a:bodyPr/>
          <a:lstStyle/>
          <a:p>
            <a:endParaRPr lang="en-US"/>
          </a:p>
        </p:txBody>
      </p:sp>
      <p:sp>
        <p:nvSpPr>
          <p:cNvPr id="13" name="Text 10"/>
          <p:cNvSpPr txBox="1"/>
          <p:nvPr/>
        </p:nvSpPr>
        <p:spPr>
          <a:xfrm>
            <a:off x="6583680" y="2404872"/>
            <a:ext cx="1828800" cy="457200"/>
          </a:xfrm>
          <a:prstGeom prst="rect">
            <a:avLst/>
          </a:prstGeom>
          <a:noFill/>
          <a:ln/>
        </p:spPr>
        <p:txBody>
          <a:bodyPr wrap="square" lIns="0" tIns="0" rIns="0" bIns="0" rtlCol="0" anchor="ctr"/>
          <a:lstStyle/>
          <a:p>
            <a:pPr marL="0" indent="0">
              <a:buNone/>
            </a:pPr>
            <a:r>
              <a:rPr lang="en-US" sz="1100" b="1" dirty="0">
                <a:solidFill>
                  <a:srgbClr val="E08A1E"/>
                </a:solidFill>
                <a:latin typeface="Calibri" pitchFamily="34" charset="0"/>
                <a:ea typeface="Calibri" pitchFamily="34" charset="-122"/>
                <a:cs typeface="Calibri" pitchFamily="34" charset="-120"/>
              </a:rPr>
              <a:t>Không cộng dồn với đồ án</a:t>
            </a:r>
            <a:endParaRPr lang="en-US" sz="1100" dirty="0"/>
          </a:p>
        </p:txBody>
      </p:sp>
      <p:sp>
        <p:nvSpPr>
          <p:cNvPr id="14" name="Text 11"/>
          <p:cNvSpPr txBox="1"/>
          <p:nvPr/>
        </p:nvSpPr>
        <p:spPr>
          <a:xfrm>
            <a:off x="6583680" y="2834640"/>
            <a:ext cx="1828800" cy="1417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Nếu triển khai chung với nền tảng của đồ án, chi phí hạ tầng Cloud được hấp thụ vào OPEX nền tảng, GPU dùng chung.</a:t>
            </a:r>
            <a:endParaRPr lang="en-US" sz="950" dirty="0"/>
          </a:p>
          <a:p>
            <a:pPr marL="0" indent="0">
              <a:buNone/>
            </a:pP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TCO năm 1 giảm còn ~925 triệu.</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Risk register và kế hoạch kiểm thử</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304288"/>
        </p:xfrm>
        <a:graphic>
          <a:graphicData uri="http://schemas.openxmlformats.org/drawingml/2006/table">
            <a:tbl>
              <a:tblPr/>
              <a:tblGrid>
                <a:gridCol w="548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Mã</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Rủi ro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Mức</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Biện pháp giảm thiểu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Dữ liệu POS bẩn / thiếu hụt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Cao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Làm sạch tự động trong pipeline; cảnh báo Data Quality cho Key User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R02</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Mô hình không đạt ngưỡng MAPE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Cao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Thực nghiệm ≥ 4 phương pháp; beta không ràng buộc; fallback Moving Average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ML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Drift do hành vi thay đổi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Cao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Ngưỡng cảnh báo MAPE &gt; 15% tự kích hoạt tái huấn luyện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ML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R04</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Scope creep từ Key User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Vừa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Kiểm soát qua Change Request; Sponsor duyệt chi phí phát sinh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Nghẽn tải lúc 08:00 AM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Vừa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Auto-scaling K8s; rate limiting tại gateway; cache kết quả dự báo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SRE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R06</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Key User chậm tham gia UAT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Vừa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Chốt lịch UAT từ Pha 2; chuẩn bị sẵn kịch bản test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548640" y="3794760"/>
            <a:ext cx="8046720" cy="822960"/>
          </a:xfrm>
          <a:prstGeom prst="roundRect">
            <a:avLst>
              <a:gd name="adj" fmla="val 6667"/>
            </a:avLst>
          </a:prstGeom>
          <a:solidFill>
            <a:srgbClr val="E8F0FE"/>
          </a:solidFill>
          <a:ln w="6350">
            <a:solidFill>
              <a:srgbClr val="E8F0FE"/>
            </a:solidFill>
            <a:prstDash val="solid"/>
          </a:ln>
        </p:spPr>
        <p:txBody>
          <a:bodyPr/>
          <a:lstStyle/>
          <a:p>
            <a:endParaRPr lang="en-US"/>
          </a:p>
        </p:txBody>
      </p:sp>
      <p:sp>
        <p:nvSpPr>
          <p:cNvPr id="7" name="Text 4"/>
          <p:cNvSpPr txBox="1"/>
          <p:nvPr/>
        </p:nvSpPr>
        <p:spPr>
          <a:xfrm>
            <a:off x="777240" y="3895344"/>
            <a:ext cx="1828800"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Kế hoạch kiểm thử</a:t>
            </a:r>
            <a:endParaRPr lang="en-US" sz="1100" dirty="0"/>
          </a:p>
        </p:txBody>
      </p:sp>
      <p:sp>
        <p:nvSpPr>
          <p:cNvPr id="8" name="Text 5"/>
          <p:cNvSpPr txBox="1"/>
          <p:nvPr/>
        </p:nvSpPr>
        <p:spPr>
          <a:xfrm>
            <a:off x="2697480" y="3877056"/>
            <a:ext cx="5715000" cy="713232"/>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Data Testing — 100% schema hợp lệ, ≥ 99,5% bản ghi luân chuyển</a:t>
            </a:r>
            <a:endParaRPr lang="en-US" sz="900" dirty="0"/>
          </a:p>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Model Testing — backtesting: MAPE, MAE, Precision, Δ ổn định</a:t>
            </a:r>
            <a:endParaRPr lang="en-US" sz="900" dirty="0"/>
          </a:p>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Load Testing — JMeter 500 CCU: P95 ≤ 500ms, 5xx &lt; 0,1%</a:t>
            </a:r>
            <a:endParaRPr lang="en-US" sz="900" dirty="0"/>
          </a:p>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UAT — Key User ký sign-off trước Go-live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Vận hành, chuyển giao và đánh giá hiệu quả</a:t>
            </a:r>
            <a:endParaRPr lang="en-US" sz="2500" dirty="0"/>
          </a:p>
        </p:txBody>
      </p:sp>
      <p:sp>
        <p:nvSpPr>
          <p:cNvPr id="5" name="Shape 3"/>
          <p:cNvSpPr/>
          <p:nvPr/>
        </p:nvSpPr>
        <p:spPr>
          <a:xfrm>
            <a:off x="548640" y="1298448"/>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4980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Vận hành &amp; hỗ trợ</a:t>
            </a:r>
            <a:endParaRPr lang="en-US" sz="1150" dirty="0"/>
          </a:p>
        </p:txBody>
      </p:sp>
      <p:sp>
        <p:nvSpPr>
          <p:cNvPr id="7" name="Text 5"/>
          <p:cNvSpPr txBox="1"/>
          <p:nvPr/>
        </p:nvSpPr>
        <p:spPr>
          <a:xfrm>
            <a:off x="749808" y="1700784"/>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Hypercare 1 tháng sau Go-live, daily standup 09:00</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ITSM 3 tier; SLA xử lý lỗi nghiêm trọng ≤ 4 giờ</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Grafana giám sát 3 metrics: Freshness, Latency, MAPE</a:t>
            </a:r>
            <a:endParaRPr lang="en-US" sz="1200" dirty="0"/>
          </a:p>
        </p:txBody>
      </p:sp>
      <p:sp>
        <p:nvSpPr>
          <p:cNvPr id="8" name="Shape 6"/>
          <p:cNvSpPr/>
          <p:nvPr/>
        </p:nvSpPr>
        <p:spPr>
          <a:xfrm>
            <a:off x="4617720" y="1298448"/>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481888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Sao lưu &amp; DR</a:t>
            </a:r>
            <a:endParaRPr lang="en-US" sz="1150" dirty="0"/>
          </a:p>
        </p:txBody>
      </p:sp>
      <p:sp>
        <p:nvSpPr>
          <p:cNvPr id="10" name="Text 8"/>
          <p:cNvSpPr txBox="1"/>
          <p:nvPr/>
        </p:nvSpPr>
        <p:spPr>
          <a:xfrm>
            <a:off x="4818888" y="1700784"/>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Nguyên tắc 3-2-1 cho PostgreSQL, sao lưu tự động hàng ngày</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DR Drill 6 tháng/lần, RPO &lt; 24h, RTO &lt; 4h</a:t>
            </a:r>
            <a:endParaRPr lang="en-US" sz="1200" dirty="0"/>
          </a:p>
        </p:txBody>
      </p:sp>
      <p:sp>
        <p:nvSpPr>
          <p:cNvPr id="11" name="Shape 9"/>
          <p:cNvSpPr/>
          <p:nvPr/>
        </p:nvSpPr>
        <p:spPr>
          <a:xfrm>
            <a:off x="548640" y="2971800"/>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12" name="Text 10"/>
          <p:cNvSpPr txBox="1"/>
          <p:nvPr/>
        </p:nvSpPr>
        <p:spPr>
          <a:xfrm>
            <a:off x="749808" y="309067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Bàn giao</a:t>
            </a:r>
            <a:endParaRPr lang="en-US" sz="1150" dirty="0"/>
          </a:p>
        </p:txBody>
      </p:sp>
      <p:sp>
        <p:nvSpPr>
          <p:cNvPr id="13" name="Text 11"/>
          <p:cNvSpPr txBox="1"/>
          <p:nvPr/>
        </p:nvSpPr>
        <p:spPr>
          <a:xfrm>
            <a:off x="749808" y="3374136"/>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Source code pipeline, model, API trên GitLab</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Tài khoản Cloud, MLflow, Airflow</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HLD/LLD, Runbook, báo cáo benchmark đa mô hình</a:t>
            </a:r>
            <a:endParaRPr lang="en-US" sz="1200" dirty="0"/>
          </a:p>
        </p:txBody>
      </p:sp>
      <p:sp>
        <p:nvSpPr>
          <p:cNvPr id="14" name="Shape 12"/>
          <p:cNvSpPr/>
          <p:nvPr/>
        </p:nvSpPr>
        <p:spPr>
          <a:xfrm>
            <a:off x="4617720" y="2971800"/>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15" name="Text 13"/>
          <p:cNvSpPr txBox="1"/>
          <p:nvPr/>
        </p:nvSpPr>
        <p:spPr>
          <a:xfrm>
            <a:off x="4818888" y="309067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Nghiệm thu &amp; Benefit Realization</a:t>
            </a:r>
            <a:endParaRPr lang="en-US" sz="1150" dirty="0"/>
          </a:p>
        </p:txBody>
      </p:sp>
      <p:sp>
        <p:nvSpPr>
          <p:cNvPr id="16" name="Text 14"/>
          <p:cNvSpPr txBox="1"/>
          <p:nvPr/>
        </p:nvSpPr>
        <p:spPr>
          <a:xfrm>
            <a:off x="4818888" y="3374136"/>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UAT ký xác nhận, pass 100% test case Critical/High</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14 ngày Production không sự cố P0/P1</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Đo lại KPI tại +1, +3, +6 tháng; mốc +3 tháng MAPE phải &lt; 10%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txBox="1"/>
          <p:nvPr/>
        </p:nvSpPr>
        <p:spPr>
          <a:xfrm>
            <a:off x="640080" y="932688"/>
            <a:ext cx="7863840" cy="54864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Đề tài khả thi và sẵn sàng triển khai</a:t>
            </a:r>
            <a:endParaRPr lang="en-US" sz="2900" dirty="0">
              <a:solidFill>
                <a:srgbClr val="1E2761"/>
              </a:solidFill>
            </a:endParaRPr>
          </a:p>
        </p:txBody>
      </p:sp>
      <p:sp>
        <p:nvSpPr>
          <p:cNvPr id="4" name="Shape 2"/>
          <p:cNvSpPr/>
          <p:nvPr/>
        </p:nvSpPr>
        <p:spPr>
          <a:xfrm>
            <a:off x="658368" y="1691640"/>
            <a:ext cx="384048" cy="384048"/>
          </a:xfrm>
          <a:prstGeom prst="ellipse">
            <a:avLst/>
          </a:prstGeom>
          <a:solidFill>
            <a:srgbClr val="E08A1E"/>
          </a:solidFill>
          <a:ln/>
        </p:spPr>
        <p:txBody>
          <a:bodyPr/>
          <a:lstStyle/>
          <a:p>
            <a:endParaRPr lang="en-US"/>
          </a:p>
        </p:txBody>
      </p:sp>
      <p:sp>
        <p:nvSpPr>
          <p:cNvPr id="5" name="Text 3"/>
          <p:cNvSpPr txBox="1"/>
          <p:nvPr/>
        </p:nvSpPr>
        <p:spPr>
          <a:xfrm>
            <a:off x="658368" y="1691640"/>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88720" y="1673352"/>
            <a:ext cx="7315200" cy="2377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Bài toán có giá trị đa phòng ban</a:t>
            </a:r>
            <a:endParaRPr lang="en-US" sz="1300" dirty="0">
              <a:solidFill>
                <a:srgbClr val="1E2761"/>
              </a:solidFill>
            </a:endParaRPr>
          </a:p>
        </p:txBody>
      </p:sp>
      <p:sp>
        <p:nvSpPr>
          <p:cNvPr id="7" name="Text 5"/>
          <p:cNvSpPr txBox="1"/>
          <p:nvPr/>
        </p:nvSpPr>
        <p:spPr>
          <a:xfrm>
            <a:off x="1188720" y="1911096"/>
            <a:ext cx="7315200" cy="274320"/>
          </a:xfrm>
          <a:prstGeom prst="rect">
            <a:avLst/>
          </a:prstGeom>
          <a:noFill/>
          <a:ln/>
        </p:spPr>
        <p:txBody>
          <a:bodyPr wrap="square" lIns="0" tIns="0" rIns="0" bIns="0" rtlCol="0" anchor="ctr"/>
          <a:lstStyle/>
          <a:p>
            <a:pPr marL="0" indent="0">
              <a:buNone/>
            </a:pPr>
            <a:r>
              <a:rPr lang="en-US" sz="1050" dirty="0">
                <a:solidFill>
                  <a:srgbClr val="1E2761"/>
                </a:solidFill>
                <a:latin typeface="Calibri" pitchFamily="34" charset="0"/>
                <a:ea typeface="Calibri" pitchFamily="34" charset="-122"/>
                <a:cs typeface="Calibri" pitchFamily="34" charset="-120"/>
              </a:rPr>
              <a:t>Một kết quả dự báo phục vụ điều phối nhân sự, kho vận và marketing</a:t>
            </a:r>
            <a:endParaRPr lang="en-US" sz="1050" dirty="0">
              <a:solidFill>
                <a:srgbClr val="1E2761"/>
              </a:solidFill>
            </a:endParaRPr>
          </a:p>
        </p:txBody>
      </p:sp>
      <p:sp>
        <p:nvSpPr>
          <p:cNvPr id="8" name="Shape 6"/>
          <p:cNvSpPr/>
          <p:nvPr/>
        </p:nvSpPr>
        <p:spPr>
          <a:xfrm>
            <a:off x="658368" y="2404872"/>
            <a:ext cx="384048" cy="384048"/>
          </a:xfrm>
          <a:prstGeom prst="ellipse">
            <a:avLst/>
          </a:prstGeom>
          <a:solidFill>
            <a:srgbClr val="E08A1E"/>
          </a:solidFill>
          <a:ln/>
        </p:spPr>
        <p:txBody>
          <a:bodyPr/>
          <a:lstStyle/>
          <a:p>
            <a:endParaRPr lang="en-US"/>
          </a:p>
        </p:txBody>
      </p:sp>
      <p:sp>
        <p:nvSpPr>
          <p:cNvPr id="9" name="Text 7"/>
          <p:cNvSpPr txBox="1"/>
          <p:nvPr/>
        </p:nvSpPr>
        <p:spPr>
          <a:xfrm>
            <a:off x="658368" y="2404872"/>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88720" y="2386584"/>
            <a:ext cx="7315200" cy="2377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KPI đo được, có baseline</a:t>
            </a:r>
            <a:endParaRPr lang="en-US" sz="1300" dirty="0">
              <a:solidFill>
                <a:srgbClr val="1E2761"/>
              </a:solidFill>
            </a:endParaRPr>
          </a:p>
        </p:txBody>
      </p:sp>
      <p:sp>
        <p:nvSpPr>
          <p:cNvPr id="11" name="Text 9"/>
          <p:cNvSpPr txBox="1"/>
          <p:nvPr/>
        </p:nvSpPr>
        <p:spPr>
          <a:xfrm>
            <a:off x="1188720" y="2624328"/>
            <a:ext cx="7315200" cy="274320"/>
          </a:xfrm>
          <a:prstGeom prst="rect">
            <a:avLst/>
          </a:prstGeom>
          <a:noFill/>
          <a:ln/>
        </p:spPr>
        <p:txBody>
          <a:bodyPr wrap="square" lIns="0" tIns="0" rIns="0" bIns="0" rtlCol="0" anchor="ctr"/>
          <a:lstStyle/>
          <a:p>
            <a:pPr marL="0" indent="0">
              <a:buNone/>
            </a:pPr>
            <a:r>
              <a:rPr lang="en-US" sz="1050" dirty="0">
                <a:solidFill>
                  <a:srgbClr val="1E2761"/>
                </a:solidFill>
                <a:latin typeface="Calibri" pitchFamily="34" charset="0"/>
                <a:ea typeface="Calibri" pitchFamily="34" charset="-122"/>
                <a:cs typeface="Calibri" pitchFamily="34" charset="-120"/>
              </a:rPr>
              <a:t>Hai nhóm KPI độc lập, độ đo chuẩn quốc tế, mốc đo tại +1/+3/+6 tháng</a:t>
            </a:r>
            <a:endParaRPr lang="en-US" sz="1050" dirty="0">
              <a:solidFill>
                <a:srgbClr val="1E2761"/>
              </a:solidFill>
            </a:endParaRPr>
          </a:p>
        </p:txBody>
      </p:sp>
      <p:sp>
        <p:nvSpPr>
          <p:cNvPr id="12" name="Shape 10"/>
          <p:cNvSpPr/>
          <p:nvPr/>
        </p:nvSpPr>
        <p:spPr>
          <a:xfrm>
            <a:off x="658368" y="3118104"/>
            <a:ext cx="384048" cy="384048"/>
          </a:xfrm>
          <a:prstGeom prst="ellipse">
            <a:avLst/>
          </a:prstGeom>
          <a:solidFill>
            <a:srgbClr val="E08A1E"/>
          </a:solidFill>
          <a:ln/>
        </p:spPr>
        <p:txBody>
          <a:bodyPr/>
          <a:lstStyle/>
          <a:p>
            <a:endParaRPr lang="en-US"/>
          </a:p>
        </p:txBody>
      </p:sp>
      <p:sp>
        <p:nvSpPr>
          <p:cNvPr id="13" name="Text 11"/>
          <p:cNvSpPr txBox="1"/>
          <p:nvPr/>
        </p:nvSpPr>
        <p:spPr>
          <a:xfrm>
            <a:off x="658368" y="3118104"/>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88720" y="3099816"/>
            <a:ext cx="7315200" cy="2377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Có phương án kỹ thuật dự phòng</a:t>
            </a:r>
            <a:endParaRPr lang="en-US" sz="1300" dirty="0">
              <a:solidFill>
                <a:srgbClr val="1E2761"/>
              </a:solidFill>
            </a:endParaRPr>
          </a:p>
        </p:txBody>
      </p:sp>
      <p:sp>
        <p:nvSpPr>
          <p:cNvPr id="15" name="Text 13"/>
          <p:cNvSpPr txBox="1"/>
          <p:nvPr/>
        </p:nvSpPr>
        <p:spPr>
          <a:xfrm>
            <a:off x="1188720" y="3337560"/>
            <a:ext cx="7315200" cy="274320"/>
          </a:xfrm>
          <a:prstGeom prst="rect">
            <a:avLst/>
          </a:prstGeom>
          <a:noFill/>
          <a:ln/>
        </p:spPr>
        <p:txBody>
          <a:bodyPr wrap="square" lIns="0" tIns="0" rIns="0" bIns="0" rtlCol="0" anchor="ctr"/>
          <a:lstStyle/>
          <a:p>
            <a:pPr marL="0" indent="0">
              <a:buNone/>
            </a:pPr>
            <a:r>
              <a:rPr lang="en-US" sz="1050" dirty="0">
                <a:solidFill>
                  <a:srgbClr val="1E2761"/>
                </a:solidFill>
                <a:latin typeface="Calibri" pitchFamily="34" charset="0"/>
                <a:ea typeface="Calibri" pitchFamily="34" charset="-122"/>
                <a:cs typeface="Calibri" pitchFamily="34" charset="-120"/>
              </a:rPr>
              <a:t>Cam kết ngưỡng chỉ số, thực nghiệm ≥ 4 phương pháp, có fallback rõ ràng</a:t>
            </a:r>
            <a:endParaRPr lang="en-US" sz="1050" dirty="0">
              <a:solidFill>
                <a:srgbClr val="1E2761"/>
              </a:solidFill>
            </a:endParaRPr>
          </a:p>
        </p:txBody>
      </p:sp>
      <p:sp>
        <p:nvSpPr>
          <p:cNvPr id="16" name="Shape 14"/>
          <p:cNvSpPr/>
          <p:nvPr/>
        </p:nvSpPr>
        <p:spPr>
          <a:xfrm>
            <a:off x="658368" y="3831336"/>
            <a:ext cx="384048" cy="384048"/>
          </a:xfrm>
          <a:prstGeom prst="ellipse">
            <a:avLst/>
          </a:prstGeom>
          <a:solidFill>
            <a:srgbClr val="E08A1E"/>
          </a:solidFill>
          <a:ln/>
        </p:spPr>
        <p:txBody>
          <a:bodyPr/>
          <a:lstStyle/>
          <a:p>
            <a:endParaRPr lang="en-US"/>
          </a:p>
        </p:txBody>
      </p:sp>
      <p:sp>
        <p:nvSpPr>
          <p:cNvPr id="17" name="Text 15"/>
          <p:cNvSpPr txBox="1"/>
          <p:nvPr/>
        </p:nvSpPr>
        <p:spPr>
          <a:xfrm>
            <a:off x="658368" y="3831336"/>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188720" y="3813048"/>
            <a:ext cx="7315200" cy="2377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Chi phí hợp lý, không trùng lặp</a:t>
            </a:r>
            <a:endParaRPr lang="en-US" sz="1300" dirty="0">
              <a:solidFill>
                <a:srgbClr val="1E2761"/>
              </a:solidFill>
            </a:endParaRPr>
          </a:p>
        </p:txBody>
      </p:sp>
      <p:sp>
        <p:nvSpPr>
          <p:cNvPr id="19" name="Text 17"/>
          <p:cNvSpPr txBox="1"/>
          <p:nvPr/>
        </p:nvSpPr>
        <p:spPr>
          <a:xfrm>
            <a:off x="1188720" y="4050792"/>
            <a:ext cx="7315200" cy="274320"/>
          </a:xfrm>
          <a:prstGeom prst="rect">
            <a:avLst/>
          </a:prstGeom>
          <a:noFill/>
          <a:ln/>
        </p:spPr>
        <p:txBody>
          <a:bodyPr wrap="square" lIns="0" tIns="0" rIns="0" bIns="0" rtlCol="0" anchor="ctr"/>
          <a:lstStyle/>
          <a:p>
            <a:pPr marL="0" indent="0">
              <a:buNone/>
            </a:pPr>
            <a:r>
              <a:rPr lang="en-US" sz="1050" dirty="0">
                <a:solidFill>
                  <a:srgbClr val="1E2761"/>
                </a:solidFill>
                <a:latin typeface="Calibri" pitchFamily="34" charset="0"/>
                <a:ea typeface="Calibri" pitchFamily="34" charset="-122"/>
                <a:cs typeface="Calibri" pitchFamily="34" charset="-120"/>
              </a:rPr>
              <a:t>CAPEX 663 triệu · TCO năm 1 1,088 tỷ · không cộng dồn với đồ án nếu triển khai chung</a:t>
            </a:r>
            <a:endParaRPr lang="en-US" sz="1050" dirty="0">
              <a:solidFill>
                <a:srgbClr val="1E276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3256</Words>
  <Application>Microsoft Office PowerPoint</Application>
  <PresentationFormat>On-screen Show (16:9)</PresentationFormat>
  <Paragraphs>476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thực hành — Ứng dụng AI dự báo lưu lượng khách hàng đa chi nhánh</dc:title>
  <dc:subject>PptxGenJS Presentation</dc:subject>
  <dc:creator>Nhóm 5</dc:creator>
  <cp:lastModifiedBy>Phạm Minh Mẫn</cp:lastModifiedBy>
  <cp:revision>9</cp:revision>
  <dcterms:created xsi:type="dcterms:W3CDTF">2026-09-16T16:52:56Z</dcterms:created>
  <dcterms:modified xsi:type="dcterms:W3CDTF">2026-09-19T20:43:46Z</dcterms:modified>
</cp:coreProperties>
</file>