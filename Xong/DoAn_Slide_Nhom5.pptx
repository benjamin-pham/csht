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761"/>
    <a:srgbClr val="222833"/>
    <a:srgbClr val="E8F0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79B757-BB4C-0DF5-D2DE-0A7931091F4D}" v="7" dt="2026-09-16T17:05:42.2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206f4c00-aab5-4210-8204-d0877e1302ed::" providerId="AD" clId="Web-{1779B757-BB4C-0DF5-D2DE-0A7931091F4D}"/>
    <pc:docChg chg="modSld">
      <pc:chgData name="Guest User" userId="S::urn:spo:tenantanon#206f4c00-aab5-4210-8204-d0877e1302ed::" providerId="AD" clId="Web-{1779B757-BB4C-0DF5-D2DE-0A7931091F4D}" dt="2026-09-16T17:05:42.205" v="6"/>
      <pc:docMkLst>
        <pc:docMk/>
      </pc:docMkLst>
      <pc:sldChg chg="delSp">
        <pc:chgData name="Guest User" userId="S::urn:spo:tenantanon#206f4c00-aab5-4210-8204-d0877e1302ed::" providerId="AD" clId="Web-{1779B757-BB4C-0DF5-D2DE-0A7931091F4D}" dt="2026-09-16T17:05:12.845" v="0"/>
        <pc:sldMkLst>
          <pc:docMk/>
          <pc:sldMk cId="0" sldId="260"/>
        </pc:sldMkLst>
        <pc:spChg chg="del">
          <ac:chgData name="Guest User" userId="S::urn:spo:tenantanon#206f4c00-aab5-4210-8204-d0877e1302ed::" providerId="AD" clId="Web-{1779B757-BB4C-0DF5-D2DE-0A7931091F4D}" dt="2026-09-16T17:05:12.845" v="0"/>
          <ac:spMkLst>
            <pc:docMk/>
            <pc:sldMk cId="0" sldId="260"/>
            <ac:spMk id="14" creationId="{00000000-0000-0000-0000-000000000000}"/>
          </ac:spMkLst>
        </pc:spChg>
      </pc:sldChg>
      <pc:sldChg chg="modSp">
        <pc:chgData name="Guest User" userId="S::urn:spo:tenantanon#206f4c00-aab5-4210-8204-d0877e1302ed::" providerId="AD" clId="Web-{1779B757-BB4C-0DF5-D2DE-0A7931091F4D}" dt="2026-09-16T17:05:42.205" v="6"/>
        <pc:sldMkLst>
          <pc:docMk/>
          <pc:sldMk cId="0" sldId="261"/>
        </pc:sldMkLst>
        <pc:spChg chg="mod">
          <ac:chgData name="Guest User" userId="S::urn:spo:tenantanon#206f4c00-aab5-4210-8204-d0877e1302ed::" providerId="AD" clId="Web-{1779B757-BB4C-0DF5-D2DE-0A7931091F4D}" dt="2026-09-16T17:05:32.486" v="2"/>
          <ac:spMkLst>
            <pc:docMk/>
            <pc:sldMk cId="0" sldId="261"/>
            <ac:spMk id="7" creationId="{00000000-0000-0000-0000-000000000000}"/>
          </ac:spMkLst>
        </pc:spChg>
        <pc:spChg chg="mod">
          <ac:chgData name="Guest User" userId="S::urn:spo:tenantanon#206f4c00-aab5-4210-8204-d0877e1302ed::" providerId="AD" clId="Web-{1779B757-BB4C-0DF5-D2DE-0A7931091F4D}" dt="2026-09-16T17:05:38.549" v="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Guest User" userId="S::urn:spo:tenantanon#206f4c00-aab5-4210-8204-d0877e1302ed::" providerId="AD" clId="Web-{1779B757-BB4C-0DF5-D2DE-0A7931091F4D}" dt="2026-09-16T17:05:42.205" v="6"/>
          <ac:spMkLst>
            <pc:docMk/>
            <pc:sldMk cId="0" sldId="261"/>
            <ac:spMk id="13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1E2761"/>
                </a:solidFill>
                <a:latin typeface="Calibri"/>
              </a:rPr>
              <a:t>Phân bổ chi phí theo năm (triệu VNĐ)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Năm 1</c:v>
                </c:pt>
                <c:pt idx="1">
                  <c:v>Năm 2</c:v>
                </c:pt>
                <c:pt idx="2">
                  <c:v>Năm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1308.8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9F-4D06-BC00-19A79B8918A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OPEX</c:v>
                </c:pt>
              </c:strCache>
            </c:strRef>
          </c:tx>
          <c:spPr>
            <a:solidFill>
              <a:srgbClr val="6B84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Năm 1</c:v>
                </c:pt>
                <c:pt idx="1">
                  <c:v>Năm 2</c:v>
                </c:pt>
                <c:pt idx="2">
                  <c:v>Năm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1123.4000000000001</c:v>
                </c:pt>
                <c:pt idx="1">
                  <c:v>1123.4000000000001</c:v>
                </c:pt>
                <c:pt idx="2">
                  <c:v>1180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9F-4D06-BC00-19A79B8918A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Dự phòng</c:v>
                </c:pt>
              </c:strCache>
            </c:strRef>
          </c:tx>
          <c:spPr>
            <a:solidFill>
              <a:srgbClr val="E08A1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Năm 1</c:v>
                </c:pt>
                <c:pt idx="1">
                  <c:v>Năm 2</c:v>
                </c:pt>
                <c:pt idx="2">
                  <c:v>Năm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243.22</c:v>
                </c:pt>
                <c:pt idx="1">
                  <c:v>112.34</c:v>
                </c:pt>
                <c:pt idx="2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E9F-4D06-BC00-19A79B8918A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F1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647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Lợi ích (triệu VNĐ/năm)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Thu hồi thất thoát
đối soát</c:v>
                </c:pt>
                <c:pt idx="1">
                  <c:v>Giảm thiệt hại
downtime</c:v>
                </c:pt>
                <c:pt idx="2">
                  <c:v>Tối ưu giờ công
nhờ dự báo</c:v>
                </c:pt>
                <c:pt idx="3">
                  <c:v>Giảm hao hụt
F&amp;B</c:v>
                </c:pt>
                <c:pt idx="4">
                  <c:v>Bán chéo
nhờ SSO</c:v>
                </c:pt>
                <c:pt idx="5">
                  <c:v>Giảm giờ công
báo cáo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700</c:v>
                </c:pt>
                <c:pt idx="1">
                  <c:v>400</c:v>
                </c:pt>
                <c:pt idx="2">
                  <c:v>400</c:v>
                </c:pt>
                <c:pt idx="3">
                  <c:v>180</c:v>
                </c:pt>
                <c:pt idx="4">
                  <c:v>150</c:v>
                </c:pt>
                <c:pt idx="5">
                  <c:v>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DE-4C98-A6A4-D6701D79167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DF1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1726D-F20D-4DB6-8F18-C7B0824509EC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2A4C7F-0C5C-40E7-B5D2-576BC58FC15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72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8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MÔN HỌC · CƠ SỞ HẠ TẦNG CÔNG NGHỆ THÔNG TIN</a:t>
            </a:r>
            <a:endParaRPr lang="en-US" sz="115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6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 đầu tư</a:t>
            </a:r>
            <a:endParaRPr lang="en-US" sz="3600"/>
          </a:p>
          <a:p>
            <a:pPr marL="0" indent="0">
              <a:lnSpc>
                <a:spcPts val="4000"/>
              </a:lnSpc>
              <a:buNone/>
            </a:pPr>
            <a:r>
              <a:rPr lang="en-US" sz="36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 tầng CNTT</a:t>
            </a:r>
            <a:endParaRPr lang="en-US" sz="3600"/>
          </a:p>
        </p:txBody>
      </p:sp>
      <p:sp>
        <p:nvSpPr>
          <p:cNvPr id="4" name="Text 2"/>
          <p:cNvSpPr txBox="1"/>
          <p:nvPr/>
        </p:nvSpPr>
        <p:spPr>
          <a:xfrm>
            <a:off x="640080" y="2606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tư nền tảng tích hợp ứng dụng và nền tảng dữ liệu tập trung cho chuỗi Ways Station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514600" cy="566928"/>
          </a:xfrm>
          <a:prstGeom prst="roundRect">
            <a:avLst>
              <a:gd name="adj" fmla="val 8065"/>
            </a:avLst>
          </a:prstGeom>
          <a:solidFill>
            <a:srgbClr val="3446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33832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1,309 tỷ</a:t>
            </a:r>
            <a:endParaRPr lang="en-US" sz="1150"/>
          </a:p>
        </p:txBody>
      </p:sp>
      <p:sp>
        <p:nvSpPr>
          <p:cNvPr id="7" name="Shape 5"/>
          <p:cNvSpPr/>
          <p:nvPr/>
        </p:nvSpPr>
        <p:spPr>
          <a:xfrm>
            <a:off x="3337560" y="3383280"/>
            <a:ext cx="2514600" cy="566928"/>
          </a:xfrm>
          <a:prstGeom prst="roundRect">
            <a:avLst>
              <a:gd name="adj" fmla="val 8065"/>
            </a:avLst>
          </a:prstGeom>
          <a:solidFill>
            <a:srgbClr val="3446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337560" y="33832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3 năm 5,209 tỷ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6035040" y="3383280"/>
            <a:ext cx="2514600" cy="566928"/>
          </a:xfrm>
          <a:prstGeom prst="roundRect">
            <a:avLst>
              <a:gd name="adj" fmla="val 8065"/>
            </a:avLst>
          </a:prstGeom>
          <a:solidFill>
            <a:srgbClr val="3446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035040" y="33832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 16 tuần</a:t>
            </a:r>
            <a:endParaRPr lang="en-US" sz="1150"/>
          </a:p>
        </p:txBody>
      </p:sp>
      <p:sp>
        <p:nvSpPr>
          <p:cNvPr id="11" name="Text 9"/>
          <p:cNvSpPr txBox="1"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5  ·  34 chi nhánh  ·  TP. Hồ Chí Minh</a:t>
            </a:r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công trình bày — 9 thành viên</a:t>
            </a:r>
            <a:endParaRPr lang="en-US" sz="250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7548100"/>
              </p:ext>
            </p:extLst>
          </p:nvPr>
        </p:nvGraphicFramePr>
        <p:xfrm>
          <a:off x="548640" y="1325880"/>
          <a:ext cx="8046720" cy="30175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Thành viên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Nội dung phụ trách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Phạm Minh Mẫn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Mở đầu, tóm tắt điều hành, kết luận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1–3, 20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Đặng Nguyễn Minh Anh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Bối cảnh doanh nghiệp và kiến trúc AS-IS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Trần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Văn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Phây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 điểm nghẽn định lượng và minh chứng khảo sát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Huỳnh Thị Kiều Uyên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Rủi ro nếu không đầu tư, phạm vi lớp năng lực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Trần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Việt Đức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Bộ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6 KPI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và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phương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pháp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đo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lường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chuẩn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Nguyễn Đức Huy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kịch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bản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kiến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trúc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và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cơ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sở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chọn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Hybrid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Vũ Duy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Kiến trúc TO-BE, yêu cầu kỹ thuật, danh mục đầu tư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14–15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Trần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Anh Tú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/ OPEX / TCO và hiệu quả đầu tư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Lê Quang Đạt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Lộ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trình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rủi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RACI,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mua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sắm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nghiệm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18–19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xuất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8046720" cy="713232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1508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8" name="Text 6"/>
          <p:cNvSpPr txBox="1"/>
          <p:nvPr/>
        </p:nvSpPr>
        <p:spPr>
          <a:xfrm>
            <a:off x="1298448" y="161848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444752"/>
            <a:ext cx="5715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chi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nhánh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8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rời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rạc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0%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trễ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24–48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12264"/>
            <a:ext cx="8046720" cy="713232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" y="229514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77240" y="2295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3" name="Text 11"/>
          <p:cNvSpPr txBox="1"/>
          <p:nvPr/>
        </p:nvSpPr>
        <p:spPr>
          <a:xfrm>
            <a:off x="1298448" y="23474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pháp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231136"/>
            <a:ext cx="5715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 (Security + Identity),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(App &amp; Integration Platform),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 (Data Platform)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898648"/>
            <a:ext cx="8046720" cy="713232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0815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7724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18" name="Text 16"/>
          <p:cNvSpPr txBox="1"/>
          <p:nvPr/>
        </p:nvSpPr>
        <p:spPr>
          <a:xfrm>
            <a:off x="1298448" y="316382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</a:t>
            </a:r>
            <a:r>
              <a:rPr lang="en-US" sz="12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3017520"/>
            <a:ext cx="5715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1,309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OPEX 1,123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TCO 3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5,209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≈ 1,45%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685032"/>
            <a:ext cx="8046720" cy="713232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77240" y="38679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7724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/>
          </a:p>
        </p:txBody>
      </p:sp>
      <p:sp>
        <p:nvSpPr>
          <p:cNvPr id="23" name="Text 21"/>
          <p:cNvSpPr txBox="1"/>
          <p:nvPr/>
        </p:nvSpPr>
        <p:spPr>
          <a:xfrm>
            <a:off x="1298448" y="392277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Lợi </a:t>
            </a:r>
            <a:r>
              <a:rPr lang="en-US" sz="12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ích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3803904"/>
            <a:ext cx="5715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Lợi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ích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~1,955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vốn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~1,7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rủi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phạm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13/2023/NĐ-CP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Ways Station — đặc điểm quyết định bài toán</a:t>
            </a:r>
            <a:endParaRPr lang="en-US" sz="250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34+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1051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nhánh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22 CN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~2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900"/>
          </a:p>
        </p:txBody>
      </p:sp>
      <p:sp>
        <p:nvSpPr>
          <p:cNvPr id="8" name="Text 6"/>
          <p:cNvSpPr txBox="1"/>
          <p:nvPr/>
        </p:nvSpPr>
        <p:spPr>
          <a:xfrm>
            <a:off x="2514600" y="181051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mảng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vụ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Gym, Net,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Bida,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Cầu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lông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Hub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2801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900"/>
          </a:p>
        </p:txBody>
      </p:sp>
      <p:sp>
        <p:nvSpPr>
          <p:cNvPr id="10" name="Text 8"/>
          <p:cNvSpPr txBox="1"/>
          <p:nvPr/>
        </p:nvSpPr>
        <p:spPr>
          <a:xfrm>
            <a:off x="4480560" y="181051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mềm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rời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rạc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2801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~300</a:t>
            </a:r>
            <a:endParaRPr lang="en-US" sz="2900"/>
          </a:p>
        </p:txBody>
      </p:sp>
      <p:sp>
        <p:nvSpPr>
          <p:cNvPr id="12" name="Text 10"/>
          <p:cNvSpPr txBox="1"/>
          <p:nvPr/>
        </p:nvSpPr>
        <p:spPr>
          <a:xfrm>
            <a:off x="6446520" y="181051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</a:t>
            </a: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606040"/>
            <a:ext cx="8046720" cy="1737360"/>
          </a:xfrm>
          <a:prstGeom prst="roundRect">
            <a:avLst>
              <a:gd name="adj" fmla="val 3158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27432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đặc điểm chi phối toàn bộ lựa chọn kỹ thuật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>
          <a:xfrm>
            <a:off x="822960" y="31272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17" name="Text 15"/>
          <p:cNvSpPr txBox="1"/>
          <p:nvPr/>
        </p:nvSpPr>
        <p:spPr>
          <a:xfrm>
            <a:off x="1325880" y="3127248"/>
            <a:ext cx="6995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Pháp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mảnh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nhánh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hộ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kinh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riêng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34 chi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nhánh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bị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mảnh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pháp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tâm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sở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hữu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chung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52958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82296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20" name="Text 18"/>
          <p:cNvSpPr txBox="1"/>
          <p:nvPr/>
        </p:nvSpPr>
        <p:spPr>
          <a:xfrm>
            <a:off x="1325880" y="3529584"/>
            <a:ext cx="6995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dụng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mạng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vài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tiền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bàn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thiệt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hại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tức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thì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39319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23" name="Text 21"/>
          <p:cNvSpPr txBox="1"/>
          <p:nvPr/>
        </p:nvSpPr>
        <p:spPr>
          <a:xfrm>
            <a:off x="1325880" y="3931920"/>
            <a:ext cx="6995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thập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PII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nhạy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tại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quầy</a:t>
            </a:r>
            <a:r>
              <a:rPr lang="en-US" sz="1100" b="1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CCCD,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vẹt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Face ID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hội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viên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nghĩa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vụ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tuân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</a:t>
            </a:r>
            <a:r>
              <a:rPr lang="en-US" sz="11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13/2023/NĐ-CP.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AS-IS: 34 ốc đảo, 0% tích hợp</a:t>
            </a:r>
            <a:endParaRPr lang="en-US" sz="250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463040" cy="1051560"/>
          </a:xfrm>
          <a:prstGeom prst="roundRect">
            <a:avLst>
              <a:gd name="adj" fmla="val 5217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nhánh 1</a:t>
            </a:r>
            <a:endParaRPr lang="en-US" sz="1050"/>
          </a:p>
        </p:txBody>
      </p:sp>
      <p:sp>
        <p:nvSpPr>
          <p:cNvPr id="7" name="Text 5"/>
          <p:cNvSpPr txBox="1"/>
          <p:nvPr/>
        </p:nvSpPr>
        <p:spPr>
          <a:xfrm>
            <a:off x="548640" y="162763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· MODUN Gym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ACB portal · PM Kho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 giao ca</a:t>
            </a:r>
            <a:endParaRPr lang="en-US" sz="850"/>
          </a:p>
        </p:txBody>
      </p:sp>
      <p:sp>
        <p:nvSpPr>
          <p:cNvPr id="8" name="Shape 6"/>
          <p:cNvSpPr/>
          <p:nvPr/>
        </p:nvSpPr>
        <p:spPr>
          <a:xfrm>
            <a:off x="2148840" y="1280160"/>
            <a:ext cx="1463040" cy="1051560"/>
          </a:xfrm>
          <a:prstGeom prst="roundRect">
            <a:avLst>
              <a:gd name="adj" fmla="val 5217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2148840" y="13716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nhánh 2</a:t>
            </a:r>
            <a:endParaRPr lang="en-US" sz="1050"/>
          </a:p>
        </p:txBody>
      </p:sp>
      <p:sp>
        <p:nvSpPr>
          <p:cNvPr id="10" name="Text 8"/>
          <p:cNvSpPr txBox="1"/>
          <p:nvPr/>
        </p:nvSpPr>
        <p:spPr>
          <a:xfrm>
            <a:off x="2148840" y="162763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· MODUN Gym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ACB portal · PM Kho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 giao ca</a:t>
            </a:r>
            <a:endParaRPr lang="en-US" sz="850"/>
          </a:p>
        </p:txBody>
      </p:sp>
      <p:sp>
        <p:nvSpPr>
          <p:cNvPr id="11" name="Shape 9"/>
          <p:cNvSpPr/>
          <p:nvPr/>
        </p:nvSpPr>
        <p:spPr>
          <a:xfrm>
            <a:off x="3749040" y="1280160"/>
            <a:ext cx="1463040" cy="1051560"/>
          </a:xfrm>
          <a:prstGeom prst="roundRect">
            <a:avLst>
              <a:gd name="adj" fmla="val 5217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749040" y="13716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nhánh 34</a:t>
            </a:r>
            <a:endParaRPr lang="en-US" sz="1050"/>
          </a:p>
        </p:txBody>
      </p:sp>
      <p:sp>
        <p:nvSpPr>
          <p:cNvPr id="13" name="Text 11"/>
          <p:cNvSpPr txBox="1"/>
          <p:nvPr/>
        </p:nvSpPr>
        <p:spPr>
          <a:xfrm>
            <a:off x="3749040" y="162763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· MODUN Gym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ACB portal · PM Kho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 giao ca</a:t>
            </a:r>
            <a:endParaRPr lang="en-US" sz="85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4663440" cy="868680"/>
          </a:xfrm>
          <a:prstGeom prst="roundRect">
            <a:avLst>
              <a:gd name="adj" fmla="val 6316"/>
            </a:avLst>
          </a:prstGeom>
          <a:solidFill>
            <a:srgbClr val="F6E3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731520" y="26974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8A4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KÊNH THỦ CÔNG — 100% giao tiếp</a:t>
            </a:r>
            <a:endParaRPr lang="en-US" sz="1050"/>
          </a:p>
        </p:txBody>
      </p:sp>
      <p:sp>
        <p:nvSpPr>
          <p:cNvPr id="17" name="Text 15"/>
          <p:cNvSpPr txBox="1"/>
          <p:nvPr/>
        </p:nvSpPr>
        <p:spPr>
          <a:xfrm>
            <a:off x="731520" y="295351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8A4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đài 0889 555 559 (phím 2/3/8)  ·  Zalo cá nhân  ·  Sổ giấy</a:t>
            </a:r>
            <a:endParaRPr lang="en-US" sz="100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2240280" cy="868680"/>
          </a:xfrm>
          <a:prstGeom prst="roundRect">
            <a:avLst>
              <a:gd name="adj" fmla="val 6316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13232" y="3685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ban HQ</a:t>
            </a:r>
            <a:endParaRPr lang="en-US" sz="1000"/>
          </a:p>
        </p:txBody>
      </p:sp>
      <p:sp>
        <p:nvSpPr>
          <p:cNvPr id="20" name="Text 18"/>
          <p:cNvSpPr txBox="1"/>
          <p:nvPr/>
        </p:nvSpPr>
        <p:spPr>
          <a:xfrm>
            <a:off x="713232" y="38953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thủ công ~2.500 giờ/năm</a:t>
            </a:r>
            <a:endParaRPr lang="en-US" sz="900"/>
          </a:p>
          <a:p>
            <a:pPr marL="0" indent="0">
              <a:buNone/>
            </a:pPr>
            <a:r>
              <a:rPr lang="en-US" sz="90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trễ 24–48 giờ</a:t>
            </a:r>
            <a:endParaRPr lang="en-US" sz="900"/>
          </a:p>
        </p:txBody>
      </p:sp>
      <p:sp>
        <p:nvSpPr>
          <p:cNvPr id="21" name="Shape 19"/>
          <p:cNvSpPr/>
          <p:nvPr/>
        </p:nvSpPr>
        <p:spPr>
          <a:xfrm>
            <a:off x="2971800" y="3611880"/>
            <a:ext cx="2240280" cy="868680"/>
          </a:xfrm>
          <a:prstGeom prst="roundRect">
            <a:avLst>
              <a:gd name="adj" fmla="val 6316"/>
            </a:avLst>
          </a:prstGeom>
          <a:solidFill>
            <a:srgbClr val="F7DDDA"/>
          </a:solidFill>
          <a:ln w="635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3136392" y="36850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cá nhân (PII)</a:t>
            </a:r>
            <a:endParaRPr lang="en-US" sz="1000"/>
          </a:p>
        </p:txBody>
      </p:sp>
      <p:sp>
        <p:nvSpPr>
          <p:cNvPr id="23" name="Text 21"/>
          <p:cNvSpPr txBox="1"/>
          <p:nvPr/>
        </p:nvSpPr>
        <p:spPr>
          <a:xfrm>
            <a:off x="3136392" y="38953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CCCD, Face ID lưu trên</a:t>
            </a:r>
            <a:endParaRPr lang="en-US" sz="900"/>
          </a:p>
          <a:p>
            <a:pPr marL="0" indent="0">
              <a:buNone/>
            </a:pPr>
            <a:r>
              <a:rPr lang="en-US" sz="90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điện thoại nhân viên — 0% mã hóa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5486400" y="1280160"/>
            <a:ext cx="3108960" cy="3200400"/>
          </a:xfrm>
          <a:prstGeom prst="roundRect">
            <a:avLst>
              <a:gd name="adj" fmla="val 1765"/>
            </a:avLst>
          </a:prstGeom>
          <a:solidFill>
            <a:srgbClr val="1E2761"/>
          </a:solidFill>
          <a:ln w="63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5715000" y="14447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quả kỹ thuật</a:t>
            </a:r>
            <a:endParaRPr lang="en-US" sz="1250"/>
          </a:p>
        </p:txBody>
      </p:sp>
      <p:sp>
        <p:nvSpPr>
          <p:cNvPr id="26" name="Text 24"/>
          <p:cNvSpPr txBox="1"/>
          <p:nvPr/>
        </p:nvSpPr>
        <p:spPr>
          <a:xfrm>
            <a:off x="5715000" y="178308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 API Gateway → nghẽn tải giờ cao điểm</a:t>
            </a:r>
            <a:endParaRPr lang="en-US" sz="105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 kho dữ liệu tập trung → không có bức tranh toàn chuỗi</a:t>
            </a:r>
            <a:endParaRPr lang="en-US" sz="105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 định danh duy nhất (SSO) → không bán chéo được dịch vụ</a:t>
            </a:r>
            <a:endParaRPr lang="en-US" sz="105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sự cố phụ thuộc nhân viên báo qua Zalo: 4–8 giờ</a:t>
            </a:r>
            <a:endParaRPr lang="en-US" sz="105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Sao lưu cục bộ thành công 47%, RPO 24 giờ</a:t>
            </a:r>
            <a:endParaRPr lang="en-US"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điểm nghẽn — baseline có định lượng</a:t>
            </a:r>
            <a:endParaRPr lang="en-US" sz="2500"/>
          </a:p>
        </p:txBody>
      </p:sp>
      <p:sp>
        <p:nvSpPr>
          <p:cNvPr id="5" name="Shape 3"/>
          <p:cNvSpPr/>
          <p:nvPr/>
        </p:nvSpPr>
        <p:spPr>
          <a:xfrm>
            <a:off x="3429000" y="1472184"/>
            <a:ext cx="2286000" cy="2651760"/>
          </a:xfrm>
          <a:prstGeom prst="roundRect">
            <a:avLst>
              <a:gd name="adj" fmla="val 2400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3611880" y="170078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— App &amp; Integration Platform   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542742" y="2130552"/>
            <a:ext cx="198937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Tỉ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lệ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động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0%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mềm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rời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rạc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tiếp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cố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4–8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472184"/>
            <a:ext cx="2286000" cy="2651760"/>
          </a:xfrm>
          <a:prstGeom prst="roundRect">
            <a:avLst>
              <a:gd name="adj" fmla="val 2400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92240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 — Data Platform 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03704"/>
            <a:ext cx="1920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~2.500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Excel/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trễ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24–48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lệch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soát</a:t>
            </a:r>
            <a:r>
              <a:rPr lang="en-US" sz="13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3,8%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472184"/>
            <a:ext cx="2286000" cy="2651760"/>
          </a:xfrm>
          <a:prstGeom prst="roundRect">
            <a:avLst>
              <a:gd name="adj" fmla="val 2400"/>
            </a:avLst>
          </a:prstGeom>
          <a:solidFill>
            <a:srgbClr val="E8F0FE"/>
          </a:solidFill>
          <a:ln w="6350">
            <a:noFill/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16276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 — Security + Identity  </a:t>
            </a:r>
            <a:endParaRPr lang="en-US" sz="1200" dirty="0">
              <a:solidFill>
                <a:srgbClr val="1E2761"/>
              </a:solidFill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731520" y="2047586"/>
            <a:ext cx="204959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</a:t>
            </a: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</a:t>
            </a: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PII: 0%</a:t>
            </a:r>
            <a:endParaRPr lang="en-US" sz="1300" dirty="0">
              <a:solidFill>
                <a:srgbClr val="1E276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</a:t>
            </a: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CCCD/Face ID qua </a:t>
            </a: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Zalo</a:t>
            </a:r>
            <a:endParaRPr lang="en-US" sz="1300" dirty="0">
              <a:solidFill>
                <a:srgbClr val="1E276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</a:t>
            </a: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</a:t>
            </a: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47%</a:t>
            </a:r>
            <a:endParaRPr lang="en-US" sz="1300" dirty="0">
              <a:solidFill>
                <a:srgbClr val="1E2761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</a:t>
            </a: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tại</a:t>
            </a: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24 </a:t>
            </a:r>
            <a:r>
              <a:rPr lang="en-US" sz="13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endParaRPr lang="en-US" sz="1300" dirty="0">
              <a:solidFill>
                <a:srgbClr val="1E276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AS-IS dẫn từ tài liệu vận hành nội bộ</a:t>
            </a:r>
            <a:endParaRPr lang="en-US" sz="250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268833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Khẳng định trong AS-IS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Tài liệu minh chứng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Nội dung trích dẫn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Phần mềm rời rạc, không SSO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 NGÂN NET+BIDA, PHỤC VỤ GYM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Kho hàng "hỗ trợ đăng nhập PM MODUN gym và ACB portal"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Giao tiếp qua tổng đài thủ công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Cả 8 bộ SOP (mục I)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Một hotline duy nhất, phân luồng phím 2 / 3 / 8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 đi qua Zalo cá nhân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GIỮ XE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Chụp ảnh CCCD + cà vẹt xe "gửi qua Zalo cho Quản lý"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Sổ giấy trong quy trình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GIỮ XE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"Ghi số thẻ bị mất vào sổ giao ca"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 thập sinh trắc học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 NGÂN GYM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Phòng tập "check-in bằng FACE ID", lấy Face ID tại quầy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 thống nhân sự tách rời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Cả 8 bộ SOP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Cổng ns.ways.vn — "Nhân sự Ways"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 nếu không đầu tư ngay</a:t>
            </a:r>
            <a:endParaRPr lang="en-US" sz="250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8" name="Text 6"/>
          <p:cNvSpPr txBox="1"/>
          <p:nvPr/>
        </p:nvSpPr>
        <p:spPr>
          <a:xfrm>
            <a:off x="1298448" y="151790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hành</a:t>
            </a:r>
            <a:endParaRPr lang="en-US" sz="1300"/>
          </a:p>
        </p:txBody>
      </p:sp>
      <p:sp>
        <p:nvSpPr>
          <p:cNvPr id="9" name="Text 7"/>
          <p:cNvSpPr txBox="1"/>
          <p:nvPr/>
        </p:nvSpPr>
        <p:spPr>
          <a:xfrm>
            <a:off x="1298448" y="1792224"/>
            <a:ext cx="7086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Nghẽn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gây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đoạn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cố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4–8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lãng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phí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soát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nhập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kép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7724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3" name="Text 11"/>
          <p:cNvSpPr txBox="1"/>
          <p:nvPr/>
        </p:nvSpPr>
        <p:spPr>
          <a:xfrm>
            <a:off x="1298448" y="259689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Chiến lược</a:t>
            </a:r>
            <a:endParaRPr lang="en-US" sz="1300"/>
          </a:p>
        </p:txBody>
      </p:sp>
      <p:sp>
        <p:nvSpPr>
          <p:cNvPr id="14" name="Text 12"/>
          <p:cNvSpPr txBox="1"/>
          <p:nvPr/>
        </p:nvSpPr>
        <p:spPr>
          <a:xfrm>
            <a:off x="1298448" y="2871216"/>
            <a:ext cx="7086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trễ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48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khiến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tế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lãng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phí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F&amp;B,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xếp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chéo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E8F0FE"/>
          </a:solidFill>
          <a:ln w="635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E8F0FE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77240" y="38039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77240" y="38176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98448" y="36758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Tuân </a:t>
            </a:r>
            <a:r>
              <a:rPr lang="en-US" sz="13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</a:t>
            </a: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3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nghiêm</a:t>
            </a: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trọng</a:t>
            </a: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nhất</a:t>
            </a:r>
            <a:endParaRPr lang="en-US" sz="1300" dirty="0">
              <a:solidFill>
                <a:srgbClr val="1E2761"/>
              </a:solidFill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298448" y="3950208"/>
            <a:ext cx="7086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CCCD, Face ID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điện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thoại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phạm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13/2023/NĐ-CP.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Mức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phạt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tới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5%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thất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22283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tư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lớp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năng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lực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4459086"/>
              </p:ext>
            </p:extLst>
          </p:nvPr>
        </p:nvGraphicFramePr>
        <p:xfrm>
          <a:off x="548640" y="1586075"/>
          <a:ext cx="8046720" cy="177393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Lớp năng lực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Thành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phần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TRONG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phạm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NGOÀI phạm vi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Lớp</a:t>
                      </a: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3 —  Security + Identity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IAM/SSO/MFA (</a:t>
                      </a:r>
                      <a:r>
                        <a:rPr lang="en-US" sz="12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Keycloak</a:t>
                      </a: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), </a:t>
                      </a:r>
                      <a:r>
                        <a:rPr lang="en-US" sz="12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</a:t>
                      </a: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hóa</a:t>
                      </a: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PAM, EDR/XDR, SIEM, DLP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528999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Lớp</a:t>
                      </a: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4 —  App &amp; Integration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Gateway, Kafka, K8s/K3s, CI/CD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Nâng cấp hypervisor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Lớp</a:t>
                      </a: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5 —  Data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Lakehouse, ETL/ELT, CDC, data quality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catalog, governance </a:t>
                      </a:r>
                      <a:r>
                        <a:rPr lang="en-US" sz="12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nâng</a:t>
                      </a:r>
                      <a:r>
                        <a:rPr lang="en-US" sz="12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Sáu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KPI: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baseline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đến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tiêu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cam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2368296"/>
        </p:xfrm>
        <a:graphic>
          <a:graphicData uri="http://schemas.openxmlformats.org/drawingml/2006/table">
            <a:tbl>
              <a:tblPr/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Độ đo chuẩn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Mốc đo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 / Uptime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 đo được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99,99%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M5; +1/3/6 th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SRE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12–24 giờ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30 phút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M5; +3 th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SRE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Freshness (CDC)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24–48 giờ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5 giây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M3, M5; +1 th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Lead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Completeness &amp; Pipeline Success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 lệch 3,8%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99,5%; lệch &lt; 0,5%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M4, M5; +3 th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Lead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Coverage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M3, M5; +6 th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RPO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giờ (BK 47%)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15 phút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M2, M5; DR drill</a:t>
                      </a:r>
                      <a:endParaRPr lang="en-US" sz="9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đo chuẩn, có công thức và nguồn trích dẫn</a:t>
            </a:r>
            <a:endParaRPr lang="en-US" sz="250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444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— Google SRE</a:t>
            </a:r>
            <a:endParaRPr lang="en-US" sz="1100"/>
          </a:p>
        </p:txBody>
      </p:sp>
      <p:sp>
        <p:nvSpPr>
          <p:cNvPr id="7" name="Text 5"/>
          <p:cNvSpPr txBox="1"/>
          <p:nvPr/>
        </p:nvSpPr>
        <p:spPr>
          <a:xfrm>
            <a:off x="749808" y="170078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(Total Time − Downtime) / Total Time × 100%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buộc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downtime ≤ 4,32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8888" y="1444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— Atlassian ITSM</a:t>
            </a:r>
            <a:endParaRPr lang="en-US" sz="1100"/>
          </a:p>
        </p:txBody>
      </p:sp>
      <p:sp>
        <p:nvSpPr>
          <p:cNvPr id="10" name="Text 8"/>
          <p:cNvSpPr txBox="1"/>
          <p:nvPr/>
        </p:nvSpPr>
        <p:spPr>
          <a:xfrm>
            <a:off x="4818888" y="170078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gián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đoạn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37744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49808" y="249631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Freshness — ISO/IEC 25012</a:t>
            </a:r>
            <a:endParaRPr lang="en-US" sz="1100"/>
          </a:p>
        </p:txBody>
      </p:sp>
      <p:sp>
        <p:nvSpPr>
          <p:cNvPr id="13" name="Text 11"/>
          <p:cNvSpPr txBox="1"/>
          <p:nvPr/>
        </p:nvSpPr>
        <p:spPr>
          <a:xfrm>
            <a:off x="749808" y="275234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t(Lakehouse) − t(POS) ≤ 5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giây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17720" y="237744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8888" y="249631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— ISO/IEC 25012</a:t>
            </a:r>
            <a:endParaRPr lang="en-US" sz="1100"/>
          </a:p>
        </p:txBody>
      </p:sp>
      <p:sp>
        <p:nvSpPr>
          <p:cNvPr id="16" name="Text 14"/>
          <p:cNvSpPr txBox="1"/>
          <p:nvPr/>
        </p:nvSpPr>
        <p:spPr>
          <a:xfrm>
            <a:off x="4818888" y="275234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nạp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gốc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100%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749808" y="35478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Coverage — NIST SP 800-175B</a:t>
            </a:r>
            <a:endParaRPr lang="en-US" sz="1100"/>
          </a:p>
        </p:txBody>
      </p:sp>
      <p:sp>
        <p:nvSpPr>
          <p:cNvPr id="19" name="Text 17"/>
          <p:cNvSpPr txBox="1"/>
          <p:nvPr/>
        </p:nvSpPr>
        <p:spPr>
          <a:xfrm>
            <a:off x="749808" y="380390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PII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AES-256 /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PII × 100%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3429000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818888" y="35478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— AWS Disaster Recovery</a:t>
            </a:r>
            <a:endParaRPr lang="en-US" sz="1100"/>
          </a:p>
        </p:txBody>
      </p:sp>
      <p:sp>
        <p:nvSpPr>
          <p:cNvPr id="22" name="Text 20"/>
          <p:cNvSpPr txBox="1"/>
          <p:nvPr/>
        </p:nvSpPr>
        <p:spPr>
          <a:xfrm>
            <a:off x="4818888" y="380390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cố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− t(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sao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gần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nhất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≤ 15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ba kịch bản theo tiêu chí bắt buộc</a:t>
            </a:r>
            <a:endParaRPr lang="en-US" sz="250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292608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Tiêu chí bắt buộc để đạt KPI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On-Premise 100%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Cloud-Native 100%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Cloud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Uptime 99,99% khi chi nhánh rớt mạng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Mở rộng tự động (Auto-scaling)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Tuân thủ vị trí lưu trữ PII (NĐ 13)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CAPEX ban đầu thấp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Triển khai nhanh (Agility)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Khôi phục thảm họa Active-Active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Tổng số tiêu chí đáp ứng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sao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Hybrid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phù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Ways Station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973232"/>
              </p:ext>
            </p:extLst>
          </p:nvPr>
        </p:nvGraphicFramePr>
        <p:xfrm>
          <a:off x="548640" y="1154895"/>
          <a:ext cx="8046720" cy="25146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Đặc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điểm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doanh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nghiệp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 quả kỹ thuật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 bỏ phương án</a:t>
                      </a:r>
                      <a:endParaRPr lang="en-US" sz="10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Doanh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tính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giờ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sử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dụng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tính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tiền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tại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quầy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Mất mạng vài phút = mất doanh thu, không thể bù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Cloud-Native 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hộ kinh doanh riêng, mặt bằng thuê, không có IT tại chỗ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 thể vận hành cụm máy chủ đầy đủ tại 34 điểm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 On-Premise 100%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 thập CCCD, cà vẹt xe, Face ID tại quầy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 phải nằm dưới quyền kiểm soát trực tiếp của DN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 Cloud-Native 100%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Tăng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trưởng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22 → 34 chi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nhánh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trong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~2 </a:t>
                      </a: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năm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Cần co giãn theo tải và nhân bản chi nhánh trong vài giờ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 err="1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</a:t>
                      </a:r>
                      <a:r>
                        <a:rPr lang="en-US" sz="1000" dirty="0">
                          <a:solidFill>
                            <a:srgbClr val="222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On-Premise 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945153"/>
            <a:ext cx="804672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63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822960" y="4059453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Cloud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nhất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mãn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bốn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đặc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đây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lựa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bị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buộc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bởi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nghiệp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phải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xu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trúc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TO-BE: Cloud — HQ — 34 Edge Cluster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37160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CLOUD — Lớp 4 &amp; Lớp 5</a:t>
            </a:r>
            <a:endParaRPr lang="en-US" sz="1100"/>
          </a:p>
        </p:txBody>
      </p:sp>
      <p:sp>
        <p:nvSpPr>
          <p:cNvPr id="7" name="Shape 5"/>
          <p:cNvSpPr/>
          <p:nvPr/>
        </p:nvSpPr>
        <p:spPr>
          <a:xfrm>
            <a:off x="777240" y="1664208"/>
            <a:ext cx="1417320" cy="731520"/>
          </a:xfrm>
          <a:prstGeom prst="roundRect">
            <a:avLst>
              <a:gd name="adj" fmla="val 7500"/>
            </a:avLst>
          </a:prstGeom>
          <a:solidFill>
            <a:srgbClr val="34468C"/>
          </a:solidFill>
          <a:ln w="6350">
            <a:solidFill>
              <a:srgbClr val="3446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777240" y="17373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(JWT, rate limit)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22576" y="1664208"/>
            <a:ext cx="1417320" cy="731520"/>
          </a:xfrm>
          <a:prstGeom prst="roundRect">
            <a:avLst>
              <a:gd name="adj" fmla="val 7500"/>
            </a:avLst>
          </a:prstGeom>
          <a:solidFill>
            <a:srgbClr val="34468C"/>
          </a:solidFill>
          <a:ln w="6350">
            <a:solidFill>
              <a:srgbClr val="3446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2322576" y="17373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Cluster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(RF = 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67912" y="1664208"/>
            <a:ext cx="1417320" cy="731520"/>
          </a:xfrm>
          <a:prstGeom prst="roundRect">
            <a:avLst>
              <a:gd name="adj" fmla="val 7500"/>
            </a:avLst>
          </a:prstGeom>
          <a:solidFill>
            <a:srgbClr val="34468C"/>
          </a:solidFill>
          <a:ln w="6350">
            <a:solidFill>
              <a:srgbClr val="3446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867912" y="17373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Lakehouse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PostgreSQL 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13248" y="1664208"/>
            <a:ext cx="1417320" cy="731520"/>
          </a:xfrm>
          <a:prstGeom prst="roundRect">
            <a:avLst>
              <a:gd name="adj" fmla="val 7500"/>
            </a:avLst>
          </a:prstGeom>
          <a:solidFill>
            <a:srgbClr val="34468C"/>
          </a:solidFill>
          <a:ln w="6350">
            <a:solidFill>
              <a:srgbClr val="3446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413248" y="17373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ETL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AI Inference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58584" y="1664208"/>
            <a:ext cx="1417320" cy="731520"/>
          </a:xfrm>
          <a:prstGeom prst="roundRect">
            <a:avLst>
              <a:gd name="adj" fmla="val 7500"/>
            </a:avLst>
          </a:prstGeom>
          <a:solidFill>
            <a:srgbClr val="34468C"/>
          </a:solidFill>
          <a:ln w="6350">
            <a:solidFill>
              <a:srgbClr val="3446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958584" y="17373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· Loki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2606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VPN Site-to-Site (TLS 1.2+)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606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CDC Streaming + Store-and-Forward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926080"/>
            <a:ext cx="3886200" cy="1508760"/>
          </a:xfrm>
          <a:prstGeom prst="roundRect">
            <a:avLst>
              <a:gd name="adj" fmla="val 3636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777240" y="30358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(</a:t>
            </a:r>
            <a:r>
              <a:rPr lang="en-US" sz="11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31012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IAM/SSO + MFA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Database — AES-256 at-rest 100%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NGFW + VLAN, Active-Passive HA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3886200" cy="1508760"/>
          </a:xfrm>
          <a:prstGeom prst="roundRect">
            <a:avLst>
              <a:gd name="adj" fmla="val 3636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4937760" y="30358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CHI NHÁNH — EDGE (Lớp 4)</a:t>
            </a:r>
            <a:endParaRPr lang="en-US" sz="1100"/>
          </a:p>
        </p:txBody>
      </p:sp>
      <p:sp>
        <p:nvSpPr>
          <p:cNvPr id="24" name="Text 22"/>
          <p:cNvSpPr txBox="1"/>
          <p:nvPr/>
        </p:nvSpPr>
        <p:spPr>
          <a:xfrm>
            <a:off x="4937760" y="331012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Cluster K3s + Kafka broker con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DB cache + UPS 650VA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</a:t>
            </a: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mạng</a:t>
            </a: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vẫn</a:t>
            </a: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gọi</a:t>
            </a: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 </a:t>
            </a: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cục</a:t>
            </a: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</a:t>
            </a: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để</a:t>
            </a: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</a:t>
            </a:r>
            <a:r>
              <a:rPr lang="en-US" sz="14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tiền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Yêu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cầu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thuật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danh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</a:t>
            </a: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4800600" cy="713232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380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năng &amp; dung lượng</a:t>
            </a:r>
            <a:endParaRPr lang="en-US" sz="1100"/>
          </a:p>
        </p:txBody>
      </p:sp>
      <p:sp>
        <p:nvSpPr>
          <p:cNvPr id="8" name="Text 6"/>
          <p:cNvSpPr txBox="1"/>
          <p:nvPr/>
        </p:nvSpPr>
        <p:spPr>
          <a:xfrm>
            <a:off x="749808" y="161848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2.000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nối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P95 ≤ 200ms · CDC ≥ 5.000 events/s · Lakehouse 2→10 TB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84832"/>
            <a:ext cx="4800600" cy="713232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49808" y="21671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/ DR</a:t>
            </a:r>
            <a:endParaRPr lang="en-US" sz="1100"/>
          </a:p>
        </p:txBody>
      </p:sp>
      <p:sp>
        <p:nvSpPr>
          <p:cNvPr id="12" name="Text 10"/>
          <p:cNvSpPr txBox="1"/>
          <p:nvPr/>
        </p:nvSpPr>
        <p:spPr>
          <a:xfrm>
            <a:off x="749808" y="2404872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Multi-zone Active-Active failover ≤ 60s · Kafka RF=3 · Queue Edge 48h · DR Drill 2 lần/năm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548640" y="2871216"/>
            <a:ext cx="4800600" cy="713232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2953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mật &amp; danh tính</a:t>
            </a:r>
            <a:endParaRPr lang="en-US" sz="1100"/>
          </a:p>
        </p:txBody>
      </p:sp>
      <p:sp>
        <p:nvSpPr>
          <p:cNvPr id="16" name="Text 14"/>
          <p:cNvSpPr txBox="1"/>
          <p:nvPr/>
        </p:nvSpPr>
        <p:spPr>
          <a:xfrm>
            <a:off x="749808" y="319125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100% ứng dụng · MFA admin · AES-256 · TLS 1.2+ · ẩn danh trước khi lên Cloud · RBAC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4800600" cy="713232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749808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hành</a:t>
            </a:r>
            <a:endParaRPr lang="en-US" sz="1100"/>
          </a:p>
        </p:txBody>
      </p:sp>
      <p:sp>
        <p:nvSpPr>
          <p:cNvPr id="20" name="Text 18"/>
          <p:cNvSpPr txBox="1"/>
          <p:nvPr/>
        </p:nvSpPr>
        <p:spPr>
          <a:xfrm>
            <a:off x="749808" y="3977640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Prometheus/Grafana · alert ≤ 5 phút · CMDB · IaC rollback &lt; 15 phút · CI/CD · capacity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577840" y="1298448"/>
            <a:ext cx="3017520" cy="3127248"/>
          </a:xfrm>
          <a:prstGeom prst="roundRect">
            <a:avLst>
              <a:gd name="adj" fmla="val 1818"/>
            </a:avLst>
          </a:prstGeom>
          <a:solidFill>
            <a:srgbClr val="1E2761"/>
          </a:solidFill>
          <a:ln w="63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5806440" y="14447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mục đầu tư</a:t>
            </a:r>
            <a:endParaRPr lang="en-US" sz="1250"/>
          </a:p>
        </p:txBody>
      </p:sp>
      <p:sp>
        <p:nvSpPr>
          <p:cNvPr id="24" name="Text 22"/>
          <p:cNvSpPr txBox="1"/>
          <p:nvPr/>
        </p:nvSpPr>
        <p:spPr>
          <a:xfrm>
            <a:off x="5806440" y="1755648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cứng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Edge Server · 34 UPS · 2 Rack Server HQ · Switch · NGFW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mềm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K3s/K8s, Kafka,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PostgreSQL, Airflow,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Prometheus, Terraform → 0đ license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</a:t>
            </a: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vụ</a:t>
            </a: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</a:t>
            </a: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HLD/LLD ·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dựng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&amp; 34 Edge · migrate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 · hardening ·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đào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CAPEX, OPEX và tổng chi phí sở hữu 3 năm</a:t>
            </a:r>
            <a:endParaRPr lang="en-US" sz="250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1,309 tỷ</a:t>
            </a:r>
            <a:endParaRPr lang="en-US" sz="2900"/>
          </a:p>
        </p:txBody>
      </p:sp>
      <p:sp>
        <p:nvSpPr>
          <p:cNvPr id="6" name="Text 4"/>
          <p:cNvSpPr txBox="1"/>
          <p:nvPr/>
        </p:nvSpPr>
        <p:spPr>
          <a:xfrm>
            <a:off x="548640" y="17647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đầu tư ban đầu</a:t>
            </a:r>
            <a:endParaRPr lang="en-US" sz="1050"/>
          </a:p>
        </p:txBody>
      </p:sp>
      <p:sp>
        <p:nvSpPr>
          <p:cNvPr id="7" name="Text 5"/>
          <p:cNvSpPr txBox="1"/>
          <p:nvPr/>
        </p:nvSpPr>
        <p:spPr>
          <a:xfrm>
            <a:off x="3154680" y="12344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1,123 tỷ</a:t>
            </a:r>
            <a:endParaRPr lang="en-US" sz="2900"/>
          </a:p>
        </p:txBody>
      </p:sp>
      <p:sp>
        <p:nvSpPr>
          <p:cNvPr id="8" name="Text 6"/>
          <p:cNvSpPr txBox="1"/>
          <p:nvPr/>
        </p:nvSpPr>
        <p:spPr>
          <a:xfrm>
            <a:off x="3154680" y="17647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mỗi năm</a:t>
            </a:r>
            <a:endParaRPr lang="en-US" sz="1050"/>
          </a:p>
        </p:txBody>
      </p:sp>
      <p:sp>
        <p:nvSpPr>
          <p:cNvPr id="9" name="Text 7"/>
          <p:cNvSpPr txBox="1"/>
          <p:nvPr/>
        </p:nvSpPr>
        <p:spPr>
          <a:xfrm>
            <a:off x="5760720" y="1234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900" b="1">
                <a:solidFill>
                  <a:srgbClr val="E0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5,209 tỷ</a:t>
            </a:r>
            <a:endParaRPr lang="en-US" sz="2900"/>
          </a:p>
        </p:txBody>
      </p:sp>
      <p:sp>
        <p:nvSpPr>
          <p:cNvPr id="10" name="Text 8"/>
          <p:cNvSpPr txBox="1"/>
          <p:nvPr/>
        </p:nvSpPr>
        <p:spPr>
          <a:xfrm>
            <a:off x="5760720" y="176479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3 năm ≈ 1,45% doanh thu</a:t>
            </a:r>
            <a:endParaRPr lang="en-US" sz="1050"/>
          </a:p>
        </p:txBody>
      </p:sp>
      <p:graphicFrame>
        <p:nvGraphicFramePr>
          <p:cNvPr id="11" name="Chart 0"/>
          <p:cNvGraphicFramePr/>
          <p:nvPr/>
        </p:nvGraphicFramePr>
        <p:xfrm>
          <a:off x="548640" y="2331720"/>
          <a:ext cx="48463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Shape 9"/>
          <p:cNvSpPr/>
          <p:nvPr/>
        </p:nvSpPr>
        <p:spPr>
          <a:xfrm>
            <a:off x="5577840" y="2331720"/>
            <a:ext cx="3017520" cy="2240280"/>
          </a:xfrm>
          <a:prstGeom prst="roundRect">
            <a:avLst>
              <a:gd name="adj" fmla="val 2449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5806440" y="24505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thành CAPEX</a:t>
            </a:r>
            <a:endParaRPr lang="en-US" sz="1150"/>
          </a:p>
        </p:txBody>
      </p:sp>
      <p:sp>
        <p:nvSpPr>
          <p:cNvPr id="14" name="Text 11"/>
          <p:cNvSpPr txBox="1"/>
          <p:nvPr/>
        </p:nvSpPr>
        <p:spPr>
          <a:xfrm>
            <a:off x="5806440" y="27614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cứng</a:t>
            </a:r>
            <a:endParaRPr lang="en-US" sz="1000"/>
          </a:p>
        </p:txBody>
      </p:sp>
      <p:sp>
        <p:nvSpPr>
          <p:cNvPr id="15" name="Text 12"/>
          <p:cNvSpPr txBox="1"/>
          <p:nvPr/>
        </p:nvSpPr>
        <p:spPr>
          <a:xfrm>
            <a:off x="7406640" y="276148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564,8 tr</a:t>
            </a:r>
            <a:endParaRPr lang="en-US" sz="1000"/>
          </a:p>
        </p:txBody>
      </p:sp>
      <p:sp>
        <p:nvSpPr>
          <p:cNvPr id="16" name="Shape 13"/>
          <p:cNvSpPr/>
          <p:nvPr/>
        </p:nvSpPr>
        <p:spPr>
          <a:xfrm>
            <a:off x="5806440" y="2999232"/>
            <a:ext cx="1100938" cy="73152"/>
          </a:xfrm>
          <a:prstGeom prst="rect">
            <a:avLst/>
          </a:prstGeom>
          <a:solidFill>
            <a:srgbClr val="3446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5806440" y="323697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vụ &amp; nhân công</a:t>
            </a:r>
            <a:endParaRPr lang="en-US" sz="1000"/>
          </a:p>
        </p:txBody>
      </p:sp>
      <p:sp>
        <p:nvSpPr>
          <p:cNvPr id="18" name="Text 15"/>
          <p:cNvSpPr txBox="1"/>
          <p:nvPr/>
        </p:nvSpPr>
        <p:spPr>
          <a:xfrm>
            <a:off x="7406640" y="3236976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632,0 tr</a:t>
            </a:r>
            <a:endParaRPr lang="en-US" sz="1000"/>
          </a:p>
        </p:txBody>
      </p:sp>
      <p:sp>
        <p:nvSpPr>
          <p:cNvPr id="19" name="Shape 16"/>
          <p:cNvSpPr/>
          <p:nvPr/>
        </p:nvSpPr>
        <p:spPr>
          <a:xfrm>
            <a:off x="5806440" y="3474720"/>
            <a:ext cx="1228954" cy="73152"/>
          </a:xfrm>
          <a:prstGeom prst="rect">
            <a:avLst/>
          </a:prstGeom>
          <a:solidFill>
            <a:srgbClr val="3446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806440" y="371246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giai đoạn triển khai</a:t>
            </a:r>
            <a:endParaRPr lang="en-US" sz="1000"/>
          </a:p>
        </p:txBody>
      </p:sp>
      <p:sp>
        <p:nvSpPr>
          <p:cNvPr id="21" name="Text 18"/>
          <p:cNvSpPr txBox="1"/>
          <p:nvPr/>
        </p:nvSpPr>
        <p:spPr>
          <a:xfrm>
            <a:off x="7406640" y="371246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112,0 tr</a:t>
            </a:r>
            <a:endParaRPr lang="en-US" sz="1000"/>
          </a:p>
        </p:txBody>
      </p:sp>
      <p:sp>
        <p:nvSpPr>
          <p:cNvPr id="22" name="Shape 19"/>
          <p:cNvSpPr/>
          <p:nvPr/>
        </p:nvSpPr>
        <p:spPr>
          <a:xfrm>
            <a:off x="5806440" y="3950208"/>
            <a:ext cx="230429" cy="73152"/>
          </a:xfrm>
          <a:prstGeom prst="rect">
            <a:avLst/>
          </a:prstGeom>
          <a:solidFill>
            <a:srgbClr val="3446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5806440" y="4206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giá phần cứng dựa trên khảo sát giá thị trường, chốt chính thức qua RFP.</a:t>
            </a:r>
            <a:endParaRPr lang="en-US" sz="85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Lợi ích quy đổi và thời gian hoàn vốn</a:t>
            </a:r>
            <a:endParaRPr lang="en-US" sz="250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80160"/>
          <a:ext cx="502920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06440" y="1280160"/>
            <a:ext cx="2788920" cy="2880360"/>
          </a:xfrm>
          <a:prstGeom prst="roundRect">
            <a:avLst>
              <a:gd name="adj" fmla="val 1967"/>
            </a:avLst>
          </a:prstGeom>
          <a:solidFill>
            <a:srgbClr val="1E2761"/>
          </a:solidFill>
          <a:ln w="63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6035040" y="141732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lợi ích/năm</a:t>
            </a:r>
            <a:endParaRPr lang="en-US" sz="1050"/>
          </a:p>
        </p:txBody>
      </p:sp>
      <p:sp>
        <p:nvSpPr>
          <p:cNvPr id="8" name="Text 5"/>
          <p:cNvSpPr txBox="1"/>
          <p:nvPr/>
        </p:nvSpPr>
        <p:spPr>
          <a:xfrm>
            <a:off x="6035040" y="16459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~1,955 tỷ</a:t>
            </a:r>
            <a:endParaRPr lang="en-US" sz="2600"/>
          </a:p>
        </p:txBody>
      </p:sp>
      <p:sp>
        <p:nvSpPr>
          <p:cNvPr id="9" name="Text 6"/>
          <p:cNvSpPr txBox="1"/>
          <p:nvPr/>
        </p:nvSpPr>
        <p:spPr>
          <a:xfrm>
            <a:off x="6035040" y="210312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OPEX 1,123 tỷ</a:t>
            </a:r>
            <a:endParaRPr lang="en-US" sz="1050"/>
          </a:p>
        </p:txBody>
      </p:sp>
      <p:sp>
        <p:nvSpPr>
          <p:cNvPr id="10" name="Text 7"/>
          <p:cNvSpPr txBox="1"/>
          <p:nvPr/>
        </p:nvSpPr>
        <p:spPr>
          <a:xfrm>
            <a:off x="6035040" y="239572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tiền ròng</a:t>
            </a:r>
            <a:endParaRPr lang="en-US" sz="1050"/>
          </a:p>
        </p:txBody>
      </p:sp>
      <p:sp>
        <p:nvSpPr>
          <p:cNvPr id="11" name="Text 8"/>
          <p:cNvSpPr txBox="1"/>
          <p:nvPr/>
        </p:nvSpPr>
        <p:spPr>
          <a:xfrm>
            <a:off x="6035040" y="2624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832 tr/năm</a:t>
            </a:r>
            <a:endParaRPr lang="en-US" sz="2200"/>
          </a:p>
        </p:txBody>
      </p:sp>
      <p:sp>
        <p:nvSpPr>
          <p:cNvPr id="12" name="Shape 9"/>
          <p:cNvSpPr/>
          <p:nvPr/>
        </p:nvSpPr>
        <p:spPr>
          <a:xfrm>
            <a:off x="6035040" y="3127248"/>
            <a:ext cx="2331720" cy="868680"/>
          </a:xfrm>
          <a:prstGeom prst="roundRect">
            <a:avLst>
              <a:gd name="adj" fmla="val 6316"/>
            </a:avLst>
          </a:prstGeom>
          <a:solidFill>
            <a:srgbClr val="E08A1E"/>
          </a:solidFill>
          <a:ln w="635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6172200" y="32004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050"/>
          </a:p>
        </p:txBody>
      </p:sp>
      <p:sp>
        <p:nvSpPr>
          <p:cNvPr id="14" name="Text 11"/>
          <p:cNvSpPr txBox="1"/>
          <p:nvPr/>
        </p:nvSpPr>
        <p:spPr>
          <a:xfrm>
            <a:off x="6172200" y="341071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1,73 năm</a:t>
            </a:r>
            <a:endParaRPr lang="en-US" sz="22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16 tuần, 5 pha, 5 mốc nghiệm thu</a:t>
            </a:r>
            <a:endParaRPr lang="en-US" sz="250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3232" y="13898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13232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8" name="Text 6"/>
          <p:cNvSpPr txBox="1"/>
          <p:nvPr/>
        </p:nvSpPr>
        <p:spPr>
          <a:xfrm>
            <a:off x="1234440" y="136245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50"/>
          </a:p>
        </p:txBody>
      </p:sp>
      <p:sp>
        <p:nvSpPr>
          <p:cNvPr id="9" name="Text 7"/>
          <p:cNvSpPr txBox="1"/>
          <p:nvPr/>
        </p:nvSpPr>
        <p:spPr>
          <a:xfrm>
            <a:off x="1234440" y="158191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T1–T3</a:t>
            </a:r>
            <a:endParaRPr lang="en-US" sz="950"/>
          </a:p>
        </p:txBody>
      </p:sp>
      <p:sp>
        <p:nvSpPr>
          <p:cNvPr id="10" name="Text 8"/>
          <p:cNvSpPr txBox="1"/>
          <p:nvPr/>
        </p:nvSpPr>
        <p:spPr>
          <a:xfrm>
            <a:off x="3017520" y="145389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VPN, Keycloak, NGFW, Monitoring, CMDB</a:t>
            </a:r>
            <a:endParaRPr lang="en-US" sz="1000"/>
          </a:p>
        </p:txBody>
      </p:sp>
      <p:sp>
        <p:nvSpPr>
          <p:cNvPr id="11" name="Text 9"/>
          <p:cNvSpPr txBox="1"/>
          <p:nvPr/>
        </p:nvSpPr>
        <p:spPr>
          <a:xfrm>
            <a:off x="7818120" y="145389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Mốc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193852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13232" y="20299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13232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5" name="Text 13"/>
          <p:cNvSpPr txBox="1"/>
          <p:nvPr/>
        </p:nvSpPr>
        <p:spPr>
          <a:xfrm>
            <a:off x="1234440" y="200253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150"/>
          </a:p>
        </p:txBody>
      </p:sp>
      <p:sp>
        <p:nvSpPr>
          <p:cNvPr id="16" name="Text 14"/>
          <p:cNvSpPr txBox="1"/>
          <p:nvPr/>
        </p:nvSpPr>
        <p:spPr>
          <a:xfrm>
            <a:off x="1234440" y="22219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T3–T6</a:t>
            </a:r>
            <a:endParaRPr lang="en-US" sz="950"/>
          </a:p>
        </p:txBody>
      </p:sp>
      <p:sp>
        <p:nvSpPr>
          <p:cNvPr id="17" name="Text 15"/>
          <p:cNvSpPr txBox="1"/>
          <p:nvPr/>
        </p:nvSpPr>
        <p:spPr>
          <a:xfrm>
            <a:off x="3017520" y="209397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multi-zone, Kafka HA, Backup/DR, Golden Image</a:t>
            </a:r>
            <a:endParaRPr lang="en-US" sz="1000"/>
          </a:p>
        </p:txBody>
      </p:sp>
      <p:sp>
        <p:nvSpPr>
          <p:cNvPr id="18" name="Text 16"/>
          <p:cNvSpPr txBox="1"/>
          <p:nvPr/>
        </p:nvSpPr>
        <p:spPr>
          <a:xfrm>
            <a:off x="7818120" y="20939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1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Mốc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57860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13232" y="26700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713232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22" name="Text 20"/>
          <p:cNvSpPr txBox="1"/>
          <p:nvPr/>
        </p:nvSpPr>
        <p:spPr>
          <a:xfrm>
            <a:off x="1234440" y="264261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Uplift</a:t>
            </a:r>
            <a:endParaRPr lang="en-US" sz="1150"/>
          </a:p>
        </p:txBody>
      </p:sp>
      <p:sp>
        <p:nvSpPr>
          <p:cNvPr id="23" name="Text 21"/>
          <p:cNvSpPr txBox="1"/>
          <p:nvPr/>
        </p:nvSpPr>
        <p:spPr>
          <a:xfrm>
            <a:off x="1234440" y="28620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T6–T9</a:t>
            </a:r>
            <a:endParaRPr lang="en-US" sz="950"/>
          </a:p>
        </p:txBody>
      </p:sp>
      <p:sp>
        <p:nvSpPr>
          <p:cNvPr id="24" name="Text 22"/>
          <p:cNvSpPr txBox="1"/>
          <p:nvPr/>
        </p:nvSpPr>
        <p:spPr>
          <a:xfrm>
            <a:off x="3017520" y="273405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8 hệ thống, MFA, AES-256, CDC, API Gateway</a:t>
            </a:r>
            <a:endParaRPr lang="en-US" sz="1000"/>
          </a:p>
        </p:txBody>
      </p:sp>
      <p:sp>
        <p:nvSpPr>
          <p:cNvPr id="25" name="Text 23"/>
          <p:cNvSpPr txBox="1"/>
          <p:nvPr/>
        </p:nvSpPr>
        <p:spPr>
          <a:xfrm>
            <a:off x="7818120" y="27340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1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Mốc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321868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E8F0FE"/>
          </a:solidFill>
          <a:ln w="6350">
            <a:solidFill>
              <a:srgbClr val="FDF0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85800" y="3310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68580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1234440" y="328269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&amp; AI</a:t>
            </a:r>
            <a:endParaRPr lang="en-US" sz="1150"/>
          </a:p>
        </p:txBody>
      </p:sp>
      <p:sp>
        <p:nvSpPr>
          <p:cNvPr id="30" name="Text 28"/>
          <p:cNvSpPr txBox="1"/>
          <p:nvPr/>
        </p:nvSpPr>
        <p:spPr>
          <a:xfrm>
            <a:off x="1234440" y="3502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T9–T13</a:t>
            </a:r>
            <a:endParaRPr lang="en-US" sz="950"/>
          </a:p>
        </p:txBody>
      </p:sp>
      <p:sp>
        <p:nvSpPr>
          <p:cNvPr id="31" name="Text 29"/>
          <p:cNvSpPr txBox="1"/>
          <p:nvPr/>
        </p:nvSpPr>
        <p:spPr>
          <a:xfrm>
            <a:off x="3017520" y="337413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12 tháng dữ liệu, 34 Edge, Pilot 5 CN, Pentest, UAT</a:t>
            </a:r>
            <a:endParaRPr lang="en-US" sz="1000"/>
          </a:p>
        </p:txBody>
      </p:sp>
      <p:sp>
        <p:nvSpPr>
          <p:cNvPr id="32" name="Text 30"/>
          <p:cNvSpPr txBox="1"/>
          <p:nvPr/>
        </p:nvSpPr>
        <p:spPr>
          <a:xfrm>
            <a:off x="7818120" y="33741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1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Mốc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385876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13232" y="39502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 txBox="1"/>
          <p:nvPr/>
        </p:nvSpPr>
        <p:spPr>
          <a:xfrm>
            <a:off x="71323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/>
          </a:p>
        </p:txBody>
      </p:sp>
      <p:sp>
        <p:nvSpPr>
          <p:cNvPr id="36" name="Text 34"/>
          <p:cNvSpPr txBox="1"/>
          <p:nvPr/>
        </p:nvSpPr>
        <p:spPr>
          <a:xfrm>
            <a:off x="1234440" y="39227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50"/>
          </a:p>
        </p:txBody>
      </p:sp>
      <p:sp>
        <p:nvSpPr>
          <p:cNvPr id="37" name="Text 35"/>
          <p:cNvSpPr txBox="1"/>
          <p:nvPr/>
        </p:nvSpPr>
        <p:spPr>
          <a:xfrm>
            <a:off x="1234440" y="414223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T13–T16</a:t>
            </a:r>
            <a:endParaRPr lang="en-US" sz="950"/>
          </a:p>
        </p:txBody>
      </p:sp>
      <p:sp>
        <p:nvSpPr>
          <p:cNvPr id="38" name="Text 36"/>
          <p:cNvSpPr txBox="1"/>
          <p:nvPr/>
        </p:nvSpPr>
        <p:spPr>
          <a:xfrm>
            <a:off x="3017520" y="401421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Runbook, DR Drill, </a:t>
            </a:r>
            <a:r>
              <a:rPr lang="en-US" sz="10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đào</a:t>
            </a:r>
            <a:r>
              <a:rPr lang="en-US" sz="10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</a:t>
            </a:r>
            <a:r>
              <a:rPr lang="en-US" sz="10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</a:t>
            </a:r>
            <a:r>
              <a:rPr lang="en-US" sz="10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818120" y="401421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1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Mốc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7548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ro, tổ chức, mua sắm và nghiệm thu</a:t>
            </a:r>
            <a:endParaRPr lang="en-US" sz="250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4173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Rủi ro cao nhất</a:t>
            </a:r>
            <a:endParaRPr lang="en-US" sz="1150"/>
          </a:p>
        </p:txBody>
      </p:sp>
      <p:sp>
        <p:nvSpPr>
          <p:cNvPr id="7" name="Text 5"/>
          <p:cNvSpPr txBox="1"/>
          <p:nvPr/>
        </p:nvSpPr>
        <p:spPr>
          <a:xfrm>
            <a:off x="749808" y="1700784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Chậm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API do 8 vendor POS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pilot 2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adapter pattern, fallback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CSDL read-only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MAPE → Go-live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thuộc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7720" y="129844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8888" y="14173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 chức &amp; RACI</a:t>
            </a:r>
            <a:endParaRPr lang="en-US" sz="1150"/>
          </a:p>
        </p:txBody>
      </p:sp>
      <p:sp>
        <p:nvSpPr>
          <p:cNvPr id="10" name="Text 8"/>
          <p:cNvSpPr txBox="1"/>
          <p:nvPr/>
        </p:nvSpPr>
        <p:spPr>
          <a:xfrm>
            <a:off x="4818888" y="1700784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Go-live; PM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chịu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trách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Tech Leads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phạm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qua Change Request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Jira,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scope creep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49808" y="30906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 </a:t>
            </a:r>
            <a:r>
              <a:rPr lang="en-US" sz="11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sắm</a:t>
            </a: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1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</a:t>
            </a: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</a:t>
            </a: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thầu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3374136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Chào giá cạnh tranh (RFP), tối thiểu 3 nhà thầu</a:t>
            </a:r>
            <a:endParaRPr lang="en-US" sz="120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70% kỹ thuật – 30% tài chính; ràng buộc SLA, NDA theo NĐ13, bảo hành L2/L3 12 tháng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4617720" y="2971800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8F0FE"/>
          </a:solidFill>
          <a:ln w="6350">
            <a:solidFill>
              <a:srgbClr val="E8F0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8888" y="30906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&amp; chuyển giao</a:t>
            </a:r>
            <a:endParaRPr lang="en-US" sz="1150"/>
          </a:p>
        </p:txBody>
      </p:sp>
      <p:sp>
        <p:nvSpPr>
          <p:cNvPr id="16" name="Text 14"/>
          <p:cNvSpPr txBox="1"/>
          <p:nvPr/>
        </p:nvSpPr>
        <p:spPr>
          <a:xfrm>
            <a:off x="4818888" y="3374136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 2.000 users ·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ngắt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mạng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DR Drill RTO ≤ 4h, RPO ≤ 15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Pentest 0 Critical/High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Bàn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LLD,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10+ Runbook, CMDB;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đo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lại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KPI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tại</a:t>
            </a:r>
            <a:r>
              <a:rPr lang="en-US" sz="1200" dirty="0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+1/+3/+6 </a:t>
            </a:r>
            <a:r>
              <a:rPr lang="en-US" sz="1200" dirty="0" err="1">
                <a:solidFill>
                  <a:srgbClr val="22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943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8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1150"/>
          </a:p>
        </p:txBody>
      </p:sp>
      <p:sp>
        <p:nvSpPr>
          <p:cNvPr id="3" name="Text 1"/>
          <p:cNvSpPr txBox="1"/>
          <p:nvPr/>
        </p:nvSpPr>
        <p:spPr>
          <a:xfrm>
            <a:off x="640080" y="93268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 phê duyệt chủ trương đầu tư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384048" cy="384048"/>
          </a:xfrm>
          <a:prstGeom prst="ellipse">
            <a:avLst/>
          </a:prstGeom>
          <a:solidFill>
            <a:srgbClr val="E08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5836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6" name="Text 4"/>
          <p:cNvSpPr txBox="1"/>
          <p:nvPr/>
        </p:nvSpPr>
        <p:spPr>
          <a:xfrm>
            <a:off x="1188720" y="16733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quyết đúng 3 vấn đề gốc</a:t>
            </a:r>
            <a:endParaRPr lang="en-US" sz="1300"/>
          </a:p>
        </p:txBody>
      </p:sp>
      <p:sp>
        <p:nvSpPr>
          <p:cNvPr id="7" name="Text 5"/>
          <p:cNvSpPr txBox="1"/>
          <p:nvPr/>
        </p:nvSpPr>
        <p:spPr>
          <a:xfrm>
            <a:off x="1188720" y="19110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Đứt gãy tích hợp · mù dữ liệu thực thời · lỗ hổng PII vi phạm Nghị định 13</a:t>
            </a:r>
            <a:endParaRPr lang="en-US" sz="1050"/>
          </a:p>
        </p:txBody>
      </p:sp>
      <p:sp>
        <p:nvSpPr>
          <p:cNvPr id="8" name="Shape 6"/>
          <p:cNvSpPr/>
          <p:nvPr/>
        </p:nvSpPr>
        <p:spPr>
          <a:xfrm>
            <a:off x="658368" y="2404872"/>
            <a:ext cx="384048" cy="384048"/>
          </a:xfrm>
          <a:prstGeom prst="ellipse">
            <a:avLst/>
          </a:prstGeom>
          <a:solidFill>
            <a:srgbClr val="E08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58368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0" name="Text 8"/>
          <p:cNvSpPr txBox="1"/>
          <p:nvPr/>
        </p:nvSpPr>
        <p:spPr>
          <a:xfrm>
            <a:off x="1188720" y="238658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Cloud đạt 6/6 tiêu chí</a:t>
            </a:r>
            <a:endParaRPr lang="en-US" sz="1300"/>
          </a:p>
        </p:txBody>
      </p:sp>
      <p:sp>
        <p:nvSpPr>
          <p:cNvPr id="11" name="Text 9"/>
          <p:cNvSpPr txBox="1"/>
          <p:nvPr/>
        </p:nvSpPr>
        <p:spPr>
          <a:xfrm>
            <a:off x="1188720" y="2624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án duy nhất vừa giữ được offline, vừa tuân thủ, vừa co giãn được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658368" y="3118104"/>
            <a:ext cx="384048" cy="384048"/>
          </a:xfrm>
          <a:prstGeom prst="ellipse">
            <a:avLst/>
          </a:prstGeom>
          <a:solidFill>
            <a:srgbClr val="E08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58368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14" name="Text 12"/>
          <p:cNvSpPr txBox="1"/>
          <p:nvPr/>
        </p:nvSpPr>
        <p:spPr>
          <a:xfrm>
            <a:off x="1188720" y="309981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số để nghiệm thu</a:t>
            </a:r>
            <a:endParaRPr lang="en-US" sz="1300"/>
          </a:p>
        </p:txBody>
      </p:sp>
      <p:sp>
        <p:nvSpPr>
          <p:cNvPr id="15" name="Text 13"/>
          <p:cNvSpPr txBox="1"/>
          <p:nvPr/>
        </p:nvSpPr>
        <p:spPr>
          <a:xfrm>
            <a:off x="1188720" y="3337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KPI có baseline, target, mốc đo và người chịu trách nhiệm số liệu</a:t>
            </a:r>
            <a:endParaRPr lang="en-US" sz="1050"/>
          </a:p>
        </p:txBody>
      </p:sp>
      <p:sp>
        <p:nvSpPr>
          <p:cNvPr id="16" name="Shape 14"/>
          <p:cNvSpPr/>
          <p:nvPr/>
        </p:nvSpPr>
        <p:spPr>
          <a:xfrm>
            <a:off x="658368" y="3831336"/>
            <a:ext cx="384048" cy="384048"/>
          </a:xfrm>
          <a:prstGeom prst="ellipse">
            <a:avLst/>
          </a:prstGeom>
          <a:solidFill>
            <a:srgbClr val="E08A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658368" y="3831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/>
          </a:p>
        </p:txBody>
      </p:sp>
      <p:sp>
        <p:nvSpPr>
          <p:cNvPr id="18" name="Text 16"/>
          <p:cNvSpPr txBox="1"/>
          <p:nvPr/>
        </p:nvSpPr>
        <p:spPr>
          <a:xfrm>
            <a:off x="1188720" y="3813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 thi tài chính</a:t>
            </a:r>
            <a:endParaRPr lang="en-US" sz="1300"/>
          </a:p>
        </p:txBody>
      </p:sp>
      <p:sp>
        <p:nvSpPr>
          <p:cNvPr id="19" name="Text 17"/>
          <p:cNvSpPr txBox="1"/>
          <p:nvPr/>
        </p:nvSpPr>
        <p:spPr>
          <a:xfrm>
            <a:off x="1188720" y="4050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1,309 tỷ · TCO 3 năm 5,209 tỷ ≈ 1,45% doanh thu · hoàn vốn ~1,7 năm</a:t>
            </a:r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2562</Words>
  <Application>Microsoft Office PowerPoint</Application>
  <PresentationFormat>On-screen Show (16:9)</PresentationFormat>
  <Paragraphs>404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Đồ án môn học — Đề xuất đầu tư hạ tầng CNTT cho chuỗi Ways Station</dc:title>
  <dc:subject>PptxGenJS Presentation</dc:subject>
  <dc:creator>Nhóm 5</dc:creator>
  <cp:lastModifiedBy>Phạm Minh Mẫn</cp:lastModifiedBy>
  <cp:revision>16</cp:revision>
  <dcterms:created xsi:type="dcterms:W3CDTF">2026-09-16T16:52:56Z</dcterms:created>
  <dcterms:modified xsi:type="dcterms:W3CDTF">2026-09-16T18:33:28Z</dcterms:modified>
</cp:coreProperties>
</file>