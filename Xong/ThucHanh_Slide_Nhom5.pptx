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2761"/>
    <a:srgbClr val="E8F0FE"/>
    <a:srgbClr val="768093"/>
    <a:srgbClr val="C6D0DE"/>
    <a:srgbClr val="424A7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9" d="100"/>
          <a:sy n="109" d="100"/>
        </p:scale>
        <p:origin x="706" y="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239910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TV1 (Nhóm trưởng) — 40 giây. Đây là video RIÊNG cho bài thực hành. Giới thiệu tên đề tài theo nhánh kỹ thuật, không khóa vào một thuật toán.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TV1 — 25 giây.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TV2 — 55 giây. Vào thẳng quy trình và điểm đau, không nói vòng vo về doanh nghiệp — cô đã nhắc nhóm chỗ này ở buổi 6.</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TV2 — 55 giây. Mở bằng câu 'một kết quả dự báo phục vụ ba phòng ban' — đó là điểm ăn tiền.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TV3 — 50 giây. Câu cuối rất quan trọng nếu cô đối chiếu với video đồ án.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TV3 — 60 giây. Phải giải thích được VÌ SAO MAPE có hai mốc — đây là câu hỏi khả năng cao.</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TV4 — 55 giây. Không đọc hết bảng — nói 3 chỉ số quan trọng nhất rồi nhấn câu cuối.</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TV4 — 50 giây.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TV5 — 60 giây. Hai ô dưới là phần cô góp ý ở buổi 6 — phải nói rõ.</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TV5 — 50 giây. Nói 2 use case chính (BR-01, BR-03), phần còn lại để hội đồng đọc.</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TV6 — 55 giây. Giới thiệu theo module, mỗi module một câu tóm tắt.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TV6 — 50 giây. Nhấn cột KPI liên kết bên phải.</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TV7 — 55 giây. Nhấn dòng 08:00 — đó là điểm kiểm soát của con người.</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TV7 — 55 giây. Ba tầng bên trái, ERD bên phải, đừng đọc hết thuộc tính.</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TV8 — 55 giây. Nhấn pha 6 Hypercare — nhiều nhóm quên pha này.</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TV8 — 60 giây. Ô bên phải là điểm phòng thủ: nhóm đã tính trước việc không trùng chi phí với đồ án.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TV9 — 55 giây. Nhấn R02 — đây là rủi ro nghề nghiệp của bài toán dữ liệu và nhóm đã có phương án.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TV9 — 55 giây. Nhấn ô cuối: nhóm không dừng ở nghiệm thu kỹ thuật mà đo cả giá trị nghiệp vụ.</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TV1 — 45 giây. Kết thúc video bài thực hành.</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a:effectLst/>
      </p:bgPr>
    </p:bg>
    <p:spTree>
      <p:nvGrpSpPr>
        <p:cNvPr id="1" name=""/>
        <p:cNvGrpSpPr/>
        <p:nvPr/>
      </p:nvGrpSpPr>
      <p:grpSpPr>
        <a:xfrm>
          <a:off x="0" y="0"/>
          <a:ext cx="0" cy="0"/>
          <a:chOff x="0" y="0"/>
          <a:chExt cx="0" cy="0"/>
        </a:xfrm>
      </p:grpSpPr>
      <p:sp>
        <p:nvSpPr>
          <p:cNvPr id="2" name="Text 0"/>
          <p:cNvSpPr txBox="1"/>
          <p:nvPr/>
        </p:nvSpPr>
        <p:spPr>
          <a:xfrm>
            <a:off x="640080" y="731520"/>
            <a:ext cx="7863840" cy="274320"/>
          </a:xfrm>
          <a:prstGeom prst="rect">
            <a:avLst/>
          </a:prstGeom>
          <a:noFill/>
          <a:ln/>
        </p:spPr>
        <p:txBody>
          <a:bodyPr wrap="square" lIns="0" tIns="0" rIns="0" bIns="0" rtlCol="0" anchor="ctr"/>
          <a:lstStyle/>
          <a:p>
            <a:pPr marL="0" indent="0">
              <a:buNone/>
            </a:pPr>
            <a:r>
              <a:rPr lang="en-US" sz="1150" b="1" kern="0" spc="180" dirty="0">
                <a:solidFill>
                  <a:srgbClr val="E08A1E"/>
                </a:solidFill>
                <a:latin typeface="Calibri" pitchFamily="34" charset="0"/>
                <a:ea typeface="Calibri" pitchFamily="34" charset="-122"/>
                <a:cs typeface="Calibri" pitchFamily="34" charset="-120"/>
              </a:rPr>
              <a:t>BÀI THỰC HÀNH · THUYẾT MINH ĐỀ TÀI PHÁT TRIỂN PHẦN MỀM</a:t>
            </a:r>
            <a:endParaRPr lang="en-US" sz="1150" dirty="0"/>
          </a:p>
        </p:txBody>
      </p:sp>
      <p:sp>
        <p:nvSpPr>
          <p:cNvPr id="3" name="Text 1"/>
          <p:cNvSpPr txBox="1"/>
          <p:nvPr/>
        </p:nvSpPr>
        <p:spPr>
          <a:xfrm>
            <a:off x="640080" y="1143000"/>
            <a:ext cx="7863840" cy="1325880"/>
          </a:xfrm>
          <a:prstGeom prst="rect">
            <a:avLst/>
          </a:prstGeom>
          <a:noFill/>
          <a:ln/>
        </p:spPr>
        <p:txBody>
          <a:bodyPr wrap="square" lIns="0" tIns="0" rIns="0" bIns="0" rtlCol="0" anchor="ctr"/>
          <a:lstStyle/>
          <a:p>
            <a:pPr marL="0" indent="0">
              <a:lnSpc>
                <a:spcPts val="4000"/>
              </a:lnSpc>
              <a:buNone/>
            </a:pPr>
            <a:r>
              <a:rPr lang="en-US" sz="3600" b="1" dirty="0">
                <a:solidFill>
                  <a:srgbClr val="FFFFFF"/>
                </a:solidFill>
                <a:latin typeface="Cambria" pitchFamily="34" charset="0"/>
                <a:ea typeface="Cambria" pitchFamily="34" charset="-122"/>
                <a:cs typeface="Cambria" pitchFamily="34" charset="-120"/>
              </a:rPr>
              <a:t>Ứng dụng AI dự báo</a:t>
            </a:r>
            <a:endParaRPr lang="en-US" sz="3600" dirty="0"/>
          </a:p>
          <a:p>
            <a:pPr marL="0" indent="0">
              <a:lnSpc>
                <a:spcPts val="4000"/>
              </a:lnSpc>
              <a:buNone/>
            </a:pPr>
            <a:r>
              <a:rPr lang="en-US" sz="3600" b="1" dirty="0">
                <a:solidFill>
                  <a:srgbClr val="FFFFFF"/>
                </a:solidFill>
                <a:latin typeface="Cambria" pitchFamily="34" charset="0"/>
                <a:ea typeface="Cambria" pitchFamily="34" charset="-122"/>
                <a:cs typeface="Cambria" pitchFamily="34" charset="-120"/>
              </a:rPr>
              <a:t>lưu lượng khách hàng</a:t>
            </a:r>
            <a:endParaRPr lang="en-US" sz="3600" dirty="0"/>
          </a:p>
        </p:txBody>
      </p:sp>
      <p:sp>
        <p:nvSpPr>
          <p:cNvPr id="4" name="Text 2"/>
          <p:cNvSpPr txBox="1"/>
          <p:nvPr/>
        </p:nvSpPr>
        <p:spPr>
          <a:xfrm>
            <a:off x="640080" y="2606040"/>
            <a:ext cx="7863840" cy="640080"/>
          </a:xfrm>
          <a:prstGeom prst="rect">
            <a:avLst/>
          </a:prstGeom>
          <a:noFill/>
          <a:ln/>
        </p:spPr>
        <p:txBody>
          <a:bodyPr wrap="square" lIns="0" tIns="0" rIns="0" bIns="0" rtlCol="0" anchor="ctr"/>
          <a:lstStyle/>
          <a:p>
            <a:pPr marL="0" indent="0">
              <a:buNone/>
            </a:pPr>
            <a:r>
              <a:rPr lang="en-US" sz="1400" dirty="0">
                <a:solidFill>
                  <a:srgbClr val="CADCFC"/>
                </a:solidFill>
                <a:latin typeface="Calibri" pitchFamily="34" charset="0"/>
                <a:ea typeface="Calibri" pitchFamily="34" charset="-122"/>
                <a:cs typeface="Calibri" pitchFamily="34" charset="-120"/>
              </a:rPr>
              <a:t>Mô hình học sâu và mô hình nền tảng chuỗi thời gian, triển khai cho chuỗi Ways Station đa chi nhánh</a:t>
            </a:r>
            <a:endParaRPr lang="en-US" sz="1400" dirty="0"/>
          </a:p>
        </p:txBody>
      </p:sp>
      <p:sp>
        <p:nvSpPr>
          <p:cNvPr id="5" name="Shape 3"/>
          <p:cNvSpPr/>
          <p:nvPr/>
        </p:nvSpPr>
        <p:spPr>
          <a:xfrm>
            <a:off x="640080" y="3383280"/>
            <a:ext cx="2514600" cy="566928"/>
          </a:xfrm>
          <a:prstGeom prst="roundRect">
            <a:avLst>
              <a:gd name="adj" fmla="val 8065"/>
            </a:avLst>
          </a:prstGeom>
          <a:solidFill>
            <a:srgbClr val="34468C"/>
          </a:solidFill>
          <a:ln/>
        </p:spPr>
        <p:txBody>
          <a:bodyPr/>
          <a:lstStyle/>
          <a:p>
            <a:endParaRPr lang="en-US"/>
          </a:p>
        </p:txBody>
      </p:sp>
      <p:sp>
        <p:nvSpPr>
          <p:cNvPr id="6" name="Text 4"/>
          <p:cNvSpPr txBox="1"/>
          <p:nvPr/>
        </p:nvSpPr>
        <p:spPr>
          <a:xfrm>
            <a:off x="640080" y="3383280"/>
            <a:ext cx="2514600" cy="566928"/>
          </a:xfrm>
          <a:prstGeom prst="rect">
            <a:avLst/>
          </a:prstGeom>
          <a:noFill/>
          <a:ln/>
        </p:spPr>
        <p:txBody>
          <a:bodyPr wrap="square" lIns="0" tIns="0" rIns="0" bIns="0" rtlCol="0" anchor="ctr"/>
          <a:lstStyle/>
          <a:p>
            <a:pPr marL="0" indent="0" algn="ctr">
              <a:buNone/>
            </a:pPr>
            <a:r>
              <a:rPr lang="en-US" sz="1150" dirty="0">
                <a:solidFill>
                  <a:srgbClr val="FFFFFF"/>
                </a:solidFill>
                <a:latin typeface="Calibri" pitchFamily="34" charset="0"/>
                <a:ea typeface="Calibri" pitchFamily="34" charset="-122"/>
                <a:cs typeface="Calibri" pitchFamily="34" charset="-120"/>
              </a:rPr>
              <a:t>MAPE &lt; 10%</a:t>
            </a:r>
            <a:endParaRPr lang="en-US" sz="1150" dirty="0"/>
          </a:p>
        </p:txBody>
      </p:sp>
      <p:sp>
        <p:nvSpPr>
          <p:cNvPr id="7" name="Shape 5"/>
          <p:cNvSpPr/>
          <p:nvPr/>
        </p:nvSpPr>
        <p:spPr>
          <a:xfrm>
            <a:off x="3337560" y="3383280"/>
            <a:ext cx="2514600" cy="566928"/>
          </a:xfrm>
          <a:prstGeom prst="roundRect">
            <a:avLst>
              <a:gd name="adj" fmla="val 8065"/>
            </a:avLst>
          </a:prstGeom>
          <a:solidFill>
            <a:srgbClr val="34468C"/>
          </a:solidFill>
          <a:ln/>
        </p:spPr>
        <p:txBody>
          <a:bodyPr/>
          <a:lstStyle/>
          <a:p>
            <a:endParaRPr lang="en-US"/>
          </a:p>
        </p:txBody>
      </p:sp>
      <p:sp>
        <p:nvSpPr>
          <p:cNvPr id="8" name="Text 6"/>
          <p:cNvSpPr txBox="1"/>
          <p:nvPr/>
        </p:nvSpPr>
        <p:spPr>
          <a:xfrm>
            <a:off x="3337560" y="3383280"/>
            <a:ext cx="2514600" cy="566928"/>
          </a:xfrm>
          <a:prstGeom prst="rect">
            <a:avLst/>
          </a:prstGeom>
          <a:noFill/>
          <a:ln/>
        </p:spPr>
        <p:txBody>
          <a:bodyPr wrap="square" lIns="0" tIns="0" rIns="0" bIns="0" rtlCol="0" anchor="ctr"/>
          <a:lstStyle/>
          <a:p>
            <a:pPr marL="0" indent="0" algn="ctr">
              <a:buNone/>
            </a:pPr>
            <a:r>
              <a:rPr lang="en-US" sz="1150" dirty="0">
                <a:solidFill>
                  <a:srgbClr val="FFFFFF"/>
                </a:solidFill>
                <a:latin typeface="Calibri" pitchFamily="34" charset="0"/>
                <a:ea typeface="Calibri" pitchFamily="34" charset="-122"/>
                <a:cs typeface="Calibri" pitchFamily="34" charset="-120"/>
              </a:rPr>
              <a:t>API P95 ≤ 500ms</a:t>
            </a:r>
            <a:endParaRPr lang="en-US" sz="1150" dirty="0"/>
          </a:p>
        </p:txBody>
      </p:sp>
      <p:sp>
        <p:nvSpPr>
          <p:cNvPr id="9" name="Shape 7"/>
          <p:cNvSpPr/>
          <p:nvPr/>
        </p:nvSpPr>
        <p:spPr>
          <a:xfrm>
            <a:off x="6035040" y="3383280"/>
            <a:ext cx="2514600" cy="566928"/>
          </a:xfrm>
          <a:prstGeom prst="roundRect">
            <a:avLst>
              <a:gd name="adj" fmla="val 8065"/>
            </a:avLst>
          </a:prstGeom>
          <a:solidFill>
            <a:srgbClr val="34468C"/>
          </a:solidFill>
          <a:ln/>
        </p:spPr>
        <p:txBody>
          <a:bodyPr/>
          <a:lstStyle/>
          <a:p>
            <a:endParaRPr lang="en-US"/>
          </a:p>
        </p:txBody>
      </p:sp>
      <p:sp>
        <p:nvSpPr>
          <p:cNvPr id="10" name="Text 8"/>
          <p:cNvSpPr txBox="1"/>
          <p:nvPr/>
        </p:nvSpPr>
        <p:spPr>
          <a:xfrm>
            <a:off x="6035040" y="3383280"/>
            <a:ext cx="2514600" cy="566928"/>
          </a:xfrm>
          <a:prstGeom prst="rect">
            <a:avLst/>
          </a:prstGeom>
          <a:noFill/>
          <a:ln/>
        </p:spPr>
        <p:txBody>
          <a:bodyPr wrap="square" lIns="0" tIns="0" rIns="0" bIns="0" rtlCol="0" anchor="ctr"/>
          <a:lstStyle/>
          <a:p>
            <a:pPr marL="0" indent="0" algn="ctr">
              <a:buNone/>
            </a:pPr>
            <a:r>
              <a:rPr lang="en-US" sz="1150" dirty="0">
                <a:solidFill>
                  <a:srgbClr val="FFFFFF"/>
                </a:solidFill>
                <a:latin typeface="Calibri" pitchFamily="34" charset="0"/>
                <a:ea typeface="Calibri" pitchFamily="34" charset="-122"/>
                <a:cs typeface="Calibri" pitchFamily="34" charset="-120"/>
              </a:rPr>
              <a:t>Triển khai 15 tuần</a:t>
            </a:r>
            <a:endParaRPr lang="en-US" sz="1150" dirty="0"/>
          </a:p>
        </p:txBody>
      </p:sp>
      <p:sp>
        <p:nvSpPr>
          <p:cNvPr id="11" name="Text 9"/>
          <p:cNvSpPr txBox="1"/>
          <p:nvPr/>
        </p:nvSpPr>
        <p:spPr>
          <a:xfrm>
            <a:off x="640080" y="4206240"/>
            <a:ext cx="7863840" cy="274320"/>
          </a:xfrm>
          <a:prstGeom prst="rect">
            <a:avLst/>
          </a:prstGeom>
          <a:noFill/>
          <a:ln/>
        </p:spPr>
        <p:txBody>
          <a:bodyPr wrap="square" lIns="0" tIns="0" rIns="0" bIns="0" rtlCol="0" anchor="ctr"/>
          <a:lstStyle/>
          <a:p>
            <a:pPr marL="0" indent="0">
              <a:buNone/>
            </a:pPr>
            <a:r>
              <a:rPr lang="en-US" sz="1200" dirty="0">
                <a:solidFill>
                  <a:srgbClr val="CADCFC"/>
                </a:solidFill>
                <a:latin typeface="Calibri" pitchFamily="34" charset="0"/>
                <a:ea typeface="Calibri" pitchFamily="34" charset="-122"/>
                <a:cs typeface="Calibri" pitchFamily="34" charset="-120"/>
              </a:rPr>
              <a:t>Nhóm 5  ·  34 chi nhánh  ·  TP. Hồ Chí Minh</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3" name="Text 1"/>
          <p:cNvSpPr txBox="1"/>
          <p:nvPr/>
        </p:nvSpPr>
        <p:spPr>
          <a:xfrm>
            <a:off x="548640" y="475488"/>
            <a:ext cx="8046720" cy="777240"/>
          </a:xfrm>
          <a:prstGeom prst="rect">
            <a:avLst/>
          </a:prstGeom>
          <a:noFill/>
          <a:ln/>
        </p:spPr>
        <p:txBody>
          <a:bodyPr wrap="square" lIns="0" tIns="0" rIns="0" bIns="0" rtlCol="0" anchor="t"/>
          <a:lstStyle/>
          <a:p>
            <a:pPr marL="0" indent="0">
              <a:buNone/>
            </a:pPr>
            <a:r>
              <a:rPr lang="en-US" sz="2500" b="1" dirty="0">
                <a:solidFill>
                  <a:srgbClr val="1E2761"/>
                </a:solidFill>
                <a:latin typeface="Cambria" pitchFamily="34" charset="0"/>
                <a:ea typeface="Cambria" pitchFamily="34" charset="-122"/>
                <a:cs typeface="Cambria" pitchFamily="34" charset="-120"/>
              </a:rPr>
              <a:t>Phân công trình bày — 9 thành viên</a:t>
            </a:r>
            <a:endParaRPr lang="en-US" sz="2500" dirty="0"/>
          </a:p>
        </p:txBody>
      </p:sp>
      <p:graphicFrame>
        <p:nvGraphicFramePr>
          <p:cNvPr id="5" name="Table 0"/>
          <p:cNvGraphicFramePr>
            <a:graphicFrameLocks noGrp="1"/>
          </p:cNvGraphicFramePr>
          <p:nvPr>
            <p:extLst>
              <p:ext uri="{D42A27DB-BD31-4B8C-83A1-F6EECF244321}">
                <p14:modId xmlns:p14="http://schemas.microsoft.com/office/powerpoint/2010/main" val="3960422133"/>
              </p:ext>
            </p:extLst>
          </p:nvPr>
        </p:nvGraphicFramePr>
        <p:xfrm>
          <a:off x="548640" y="1325880"/>
          <a:ext cx="8046720" cy="3017520"/>
        </p:xfrm>
        <a:graphic>
          <a:graphicData uri="http://schemas.openxmlformats.org/drawingml/2006/table">
            <a:tbl>
              <a:tblPr/>
              <a:tblGrid>
                <a:gridCol w="1828800">
                  <a:extLst>
                    <a:ext uri="{9D8B030D-6E8A-4147-A177-3AD203B41FA5}">
                      <a16:colId xmlns:a16="http://schemas.microsoft.com/office/drawing/2014/main" val="20000"/>
                    </a:ext>
                  </a:extLst>
                </a:gridCol>
                <a:gridCol w="484632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tblGrid>
              <a:tr h="301752">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Thành viên</a:t>
                      </a:r>
                      <a:endParaRPr lang="en-US" sz="10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Nội dung phụ trách</a:t>
                      </a:r>
                      <a:endParaRPr lang="en-US" sz="10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Slide</a:t>
                      </a:r>
                      <a:endParaRPr lang="en-US" sz="10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01752">
                <a:tc>
                  <a:txBody>
                    <a:bodyPr/>
                    <a:lstStyle/>
                    <a:p>
                      <a:pPr marL="0" indent="0">
                        <a:buNone/>
                      </a:pPr>
                      <a:r>
                        <a:rPr lang="en-US" sz="1000" dirty="0">
                          <a:solidFill>
                            <a:srgbClr val="222833"/>
                          </a:solidFill>
                          <a:latin typeface="Calibri" pitchFamily="34" charset="0"/>
                          <a:ea typeface="Calibri" pitchFamily="34" charset="-122"/>
                          <a:cs typeface="Calibri" pitchFamily="34" charset="-120"/>
                        </a:rPr>
                        <a:t>Phạm Minh Mẫn</a:t>
                      </a:r>
                      <a:endParaRPr lang="en-US" sz="100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1000" dirty="0">
                          <a:solidFill>
                            <a:srgbClr val="222833"/>
                          </a:solidFill>
                          <a:latin typeface="Calibri" pitchFamily="34" charset="0"/>
                          <a:ea typeface="Calibri" pitchFamily="34" charset="-122"/>
                          <a:cs typeface="Calibri" pitchFamily="34" charset="-120"/>
                        </a:rPr>
                        <a:t>Mở đầu, giới thiệu đề tài, kết luận</a:t>
                      </a:r>
                      <a:endParaRPr lang="en-US" sz="100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1000" dirty="0">
                          <a:solidFill>
                            <a:srgbClr val="222833"/>
                          </a:solidFill>
                          <a:latin typeface="Calibri" pitchFamily="34" charset="0"/>
                          <a:ea typeface="Calibri" pitchFamily="34" charset="-122"/>
                          <a:cs typeface="Calibri" pitchFamily="34" charset="-120"/>
                        </a:rPr>
                        <a:t>1–2, 19</a:t>
                      </a:r>
                      <a:endParaRPr lang="en-US" sz="100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extLst>
                  <a:ext uri="{0D108BD9-81ED-4DB2-BD59-A6C34878D82A}">
                    <a16:rowId xmlns:a16="http://schemas.microsoft.com/office/drawing/2014/main" val="10001"/>
                  </a:ext>
                </a:extLst>
              </a:tr>
              <a:tr h="301752">
                <a:tc>
                  <a:txBody>
                    <a:bodyPr/>
                    <a:lstStyle/>
                    <a:p>
                      <a:pPr marL="0" indent="0">
                        <a:buNone/>
                      </a:pPr>
                      <a:r>
                        <a:rPr lang="en-US" sz="1000" dirty="0">
                          <a:solidFill>
                            <a:srgbClr val="222833"/>
                          </a:solidFill>
                          <a:latin typeface="Calibri" pitchFamily="34" charset="0"/>
                          <a:ea typeface="Calibri" pitchFamily="34" charset="-122"/>
                          <a:cs typeface="Calibri" pitchFamily="34" charset="-120"/>
                        </a:rPr>
                        <a:t>Đặng Nguyễn Minh Anh</a:t>
                      </a:r>
                      <a:endParaRPr lang="en-US" sz="100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1000" dirty="0">
                          <a:solidFill>
                            <a:srgbClr val="222833"/>
                          </a:solidFill>
                          <a:latin typeface="Calibri" pitchFamily="34" charset="0"/>
                          <a:ea typeface="Calibri" pitchFamily="34" charset="-122"/>
                          <a:cs typeface="Calibri" pitchFamily="34" charset="-120"/>
                        </a:rPr>
                        <a:t>Bối cảnh, hiện trạng và tính cấp thiết của bài toán</a:t>
                      </a:r>
                      <a:endParaRPr lang="en-US" sz="100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1000" dirty="0">
                          <a:solidFill>
                            <a:srgbClr val="222833"/>
                          </a:solidFill>
                          <a:latin typeface="Calibri" pitchFamily="34" charset="0"/>
                          <a:ea typeface="Calibri" pitchFamily="34" charset="-122"/>
                          <a:cs typeface="Calibri" pitchFamily="34" charset="-120"/>
                        </a:rPr>
                        <a:t>3–4</a:t>
                      </a:r>
                      <a:endParaRPr lang="en-US" sz="100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extLst>
                  <a:ext uri="{0D108BD9-81ED-4DB2-BD59-A6C34878D82A}">
                    <a16:rowId xmlns:a16="http://schemas.microsoft.com/office/drawing/2014/main" val="10002"/>
                  </a:ext>
                </a:extLst>
              </a:tr>
              <a:tr h="301752">
                <a:tc>
                  <a:txBody>
                    <a:bodyPr/>
                    <a:lstStyle/>
                    <a:p>
                      <a:pPr marL="0" indent="0">
                        <a:buNone/>
                      </a:pPr>
                      <a:r>
                        <a:rPr lang="en-US" sz="1000" dirty="0" err="1">
                          <a:solidFill>
                            <a:srgbClr val="222833"/>
                          </a:solidFill>
                          <a:latin typeface="Calibri" pitchFamily="34" charset="0"/>
                          <a:ea typeface="Calibri" pitchFamily="34" charset="-122"/>
                          <a:cs typeface="Calibri" pitchFamily="34" charset="-120"/>
                        </a:rPr>
                        <a:t>Trần</a:t>
                      </a:r>
                      <a:r>
                        <a:rPr lang="en-US" sz="1000" dirty="0">
                          <a:solidFill>
                            <a:srgbClr val="222833"/>
                          </a:solidFill>
                          <a:latin typeface="Calibri" pitchFamily="34" charset="0"/>
                          <a:ea typeface="Calibri" pitchFamily="34" charset="-122"/>
                          <a:cs typeface="Calibri" pitchFamily="34" charset="-120"/>
                        </a:rPr>
                        <a:t> Văn </a:t>
                      </a:r>
                      <a:r>
                        <a:rPr lang="en-US" sz="1000" dirty="0" err="1">
                          <a:solidFill>
                            <a:srgbClr val="222833"/>
                          </a:solidFill>
                          <a:latin typeface="Calibri" pitchFamily="34" charset="0"/>
                          <a:ea typeface="Calibri" pitchFamily="34" charset="-122"/>
                          <a:cs typeface="Calibri" pitchFamily="34" charset="-120"/>
                        </a:rPr>
                        <a:t>Phây</a:t>
                      </a:r>
                      <a:endParaRPr lang="en-US" sz="100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1000" dirty="0">
                          <a:solidFill>
                            <a:srgbClr val="222833"/>
                          </a:solidFill>
                          <a:latin typeface="Calibri" pitchFamily="34" charset="0"/>
                          <a:ea typeface="Calibri" pitchFamily="34" charset="-122"/>
                          <a:cs typeface="Calibri" pitchFamily="34" charset="-120"/>
                        </a:rPr>
                        <a:t>Mục tiêu tổng quát và KPI nhóm A — mô hình AI</a:t>
                      </a:r>
                      <a:endParaRPr lang="en-US" sz="100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1000" dirty="0">
                          <a:solidFill>
                            <a:srgbClr val="222833"/>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extLst>
                  <a:ext uri="{0D108BD9-81ED-4DB2-BD59-A6C34878D82A}">
                    <a16:rowId xmlns:a16="http://schemas.microsoft.com/office/drawing/2014/main" val="10003"/>
                  </a:ext>
                </a:extLst>
              </a:tr>
              <a:tr h="301752">
                <a:tc>
                  <a:txBody>
                    <a:bodyPr/>
                    <a:lstStyle/>
                    <a:p>
                      <a:pPr marL="0" indent="0">
                        <a:buNone/>
                      </a:pPr>
                      <a:r>
                        <a:rPr lang="en-US" sz="1000" dirty="0">
                          <a:solidFill>
                            <a:srgbClr val="222833"/>
                          </a:solidFill>
                          <a:latin typeface="Calibri" pitchFamily="34" charset="0"/>
                          <a:ea typeface="Calibri" pitchFamily="34" charset="-122"/>
                          <a:cs typeface="Calibri" pitchFamily="34" charset="-120"/>
                        </a:rPr>
                        <a:t>Huỳnh Thị Kiều Uyên</a:t>
                      </a:r>
                      <a:endParaRPr lang="en-US" sz="100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1000" dirty="0">
                          <a:solidFill>
                            <a:srgbClr val="222833"/>
                          </a:solidFill>
                          <a:latin typeface="Calibri" pitchFamily="34" charset="0"/>
                          <a:ea typeface="Calibri" pitchFamily="34" charset="-122"/>
                          <a:cs typeface="Calibri" pitchFamily="34" charset="-120"/>
                        </a:rPr>
                        <a:t>KPI nhóm B và ánh xạ KPI theo giai đoạn</a:t>
                      </a:r>
                      <a:endParaRPr lang="en-US" sz="100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1000" dirty="0">
                          <a:solidFill>
                            <a:srgbClr val="222833"/>
                          </a:solidFill>
                          <a:latin typeface="Calibri" pitchFamily="34" charset="0"/>
                          <a:ea typeface="Calibri" pitchFamily="34" charset="-122"/>
                          <a:cs typeface="Calibri" pitchFamily="34" charset="-120"/>
                        </a:rPr>
                        <a:t>7–8</a:t>
                      </a:r>
                      <a:endParaRPr lang="en-US" sz="100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extLst>
                  <a:ext uri="{0D108BD9-81ED-4DB2-BD59-A6C34878D82A}">
                    <a16:rowId xmlns:a16="http://schemas.microsoft.com/office/drawing/2014/main" val="10004"/>
                  </a:ext>
                </a:extLst>
              </a:tr>
              <a:tr h="30175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dirty="0" err="1">
                          <a:solidFill>
                            <a:srgbClr val="222833"/>
                          </a:solidFill>
                          <a:latin typeface="Calibri" pitchFamily="34" charset="0"/>
                          <a:ea typeface="Calibri" pitchFamily="34" charset="-122"/>
                          <a:cs typeface="Calibri" pitchFamily="34" charset="-120"/>
                        </a:rPr>
                        <a:t>Trần</a:t>
                      </a:r>
                      <a:r>
                        <a:rPr lang="en-US" sz="1000" dirty="0">
                          <a:solidFill>
                            <a:srgbClr val="222833"/>
                          </a:solidFill>
                          <a:latin typeface="Calibri" pitchFamily="34" charset="0"/>
                          <a:ea typeface="Calibri" pitchFamily="34" charset="-122"/>
                          <a:cs typeface="Calibri" pitchFamily="34" charset="-120"/>
                        </a:rPr>
                        <a:t> Việt Đức</a:t>
                      </a:r>
                      <a:endParaRPr lang="en-US" sz="100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1000" dirty="0">
                          <a:solidFill>
                            <a:srgbClr val="222833"/>
                          </a:solidFill>
                          <a:latin typeface="Calibri" pitchFamily="34" charset="0"/>
                          <a:ea typeface="Calibri" pitchFamily="34" charset="-122"/>
                          <a:cs typeface="Calibri" pitchFamily="34" charset="-120"/>
                        </a:rPr>
                        <a:t>Phạm vi, giới hạn AI, yêu cầu nghiệp vụ</a:t>
                      </a:r>
                      <a:endParaRPr lang="en-US" sz="100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1000" dirty="0">
                          <a:solidFill>
                            <a:srgbClr val="222833"/>
                          </a:solidFill>
                          <a:latin typeface="Calibri" pitchFamily="34" charset="0"/>
                          <a:ea typeface="Calibri" pitchFamily="34" charset="-122"/>
                          <a:cs typeface="Calibri" pitchFamily="34" charset="-120"/>
                        </a:rPr>
                        <a:t>9–10</a:t>
                      </a:r>
                      <a:endParaRPr lang="en-US" sz="100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extLst>
                  <a:ext uri="{0D108BD9-81ED-4DB2-BD59-A6C34878D82A}">
                    <a16:rowId xmlns:a16="http://schemas.microsoft.com/office/drawing/2014/main" val="10005"/>
                  </a:ext>
                </a:extLst>
              </a:tr>
              <a:tr h="301752">
                <a:tc>
                  <a:txBody>
                    <a:bodyPr/>
                    <a:lstStyle/>
                    <a:p>
                      <a:pPr marL="0" indent="0">
                        <a:buNone/>
                      </a:pPr>
                      <a:r>
                        <a:rPr lang="en-US" sz="1000" dirty="0">
                          <a:solidFill>
                            <a:srgbClr val="222833"/>
                          </a:solidFill>
                          <a:latin typeface="Calibri" pitchFamily="34" charset="0"/>
                          <a:ea typeface="Calibri" pitchFamily="34" charset="-122"/>
                          <a:cs typeface="Calibri" pitchFamily="34" charset="-120"/>
                        </a:rPr>
                        <a:t>Nguyễn Đức Huy</a:t>
                      </a:r>
                      <a:endParaRPr lang="en-US" sz="100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1000" dirty="0">
                          <a:solidFill>
                            <a:srgbClr val="222833"/>
                          </a:solidFill>
                          <a:latin typeface="Calibri" pitchFamily="34" charset="0"/>
                          <a:ea typeface="Calibri" pitchFamily="34" charset="-122"/>
                          <a:cs typeface="Calibri" pitchFamily="34" charset="-120"/>
                        </a:rPr>
                        <a:t>Yêu cầu chức năng và phi chức năng</a:t>
                      </a:r>
                      <a:endParaRPr lang="en-US" sz="100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1000" dirty="0">
                          <a:solidFill>
                            <a:srgbClr val="222833"/>
                          </a:solidFill>
                          <a:latin typeface="Calibri" pitchFamily="34" charset="0"/>
                          <a:ea typeface="Calibri" pitchFamily="34" charset="-122"/>
                          <a:cs typeface="Calibri" pitchFamily="34" charset="-120"/>
                        </a:rPr>
                        <a:t>11–12</a:t>
                      </a:r>
                      <a:endParaRPr lang="en-US" sz="100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extLst>
                  <a:ext uri="{0D108BD9-81ED-4DB2-BD59-A6C34878D82A}">
                    <a16:rowId xmlns:a16="http://schemas.microsoft.com/office/drawing/2014/main" val="10006"/>
                  </a:ext>
                </a:extLst>
              </a:tr>
              <a:tr h="301752">
                <a:tc>
                  <a:txBody>
                    <a:bodyPr/>
                    <a:lstStyle/>
                    <a:p>
                      <a:pPr marL="0" indent="0">
                        <a:buNone/>
                      </a:pPr>
                      <a:r>
                        <a:rPr lang="en-US" sz="1000" dirty="0">
                          <a:solidFill>
                            <a:srgbClr val="222833"/>
                          </a:solidFill>
                          <a:latin typeface="Calibri" pitchFamily="34" charset="0"/>
                          <a:ea typeface="Calibri" pitchFamily="34" charset="-122"/>
                          <a:cs typeface="Calibri" pitchFamily="34" charset="-120"/>
                        </a:rPr>
                        <a:t>Vũ Duy</a:t>
                      </a:r>
                      <a:endParaRPr lang="en-US" sz="100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1000" dirty="0">
                          <a:solidFill>
                            <a:srgbClr val="222833"/>
                          </a:solidFill>
                          <a:latin typeface="Calibri" pitchFamily="34" charset="0"/>
                          <a:ea typeface="Calibri" pitchFamily="34" charset="-122"/>
                          <a:cs typeface="Calibri" pitchFamily="34" charset="-120"/>
                        </a:rPr>
                        <a:t>Quy trình TO-BE, pipeline và kiến trúc hệ thống</a:t>
                      </a:r>
                      <a:endParaRPr lang="en-US" sz="100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1000" dirty="0">
                          <a:solidFill>
                            <a:srgbClr val="222833"/>
                          </a:solidFill>
                          <a:latin typeface="Calibri" pitchFamily="34" charset="0"/>
                          <a:ea typeface="Calibri" pitchFamily="34" charset="-122"/>
                          <a:cs typeface="Calibri" pitchFamily="34" charset="-120"/>
                        </a:rPr>
                        <a:t>13–14</a:t>
                      </a:r>
                      <a:endParaRPr lang="en-US" sz="100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extLst>
                  <a:ext uri="{0D108BD9-81ED-4DB2-BD59-A6C34878D82A}">
                    <a16:rowId xmlns:a16="http://schemas.microsoft.com/office/drawing/2014/main" val="10007"/>
                  </a:ext>
                </a:extLst>
              </a:tr>
              <a:tr h="301752">
                <a:tc>
                  <a:txBody>
                    <a:bodyPr/>
                    <a:lstStyle/>
                    <a:p>
                      <a:pPr marL="0" indent="0">
                        <a:buNone/>
                      </a:pPr>
                      <a:r>
                        <a:rPr lang="en-US" sz="1000" dirty="0" err="1">
                          <a:solidFill>
                            <a:srgbClr val="222833"/>
                          </a:solidFill>
                          <a:latin typeface="Calibri" pitchFamily="34" charset="0"/>
                          <a:ea typeface="Calibri" pitchFamily="34" charset="-122"/>
                          <a:cs typeface="Calibri" pitchFamily="34" charset="-120"/>
                        </a:rPr>
                        <a:t>Trần</a:t>
                      </a:r>
                      <a:r>
                        <a:rPr lang="en-US" sz="1000" dirty="0">
                          <a:solidFill>
                            <a:srgbClr val="222833"/>
                          </a:solidFill>
                          <a:latin typeface="Calibri" pitchFamily="34" charset="0"/>
                          <a:ea typeface="Calibri" pitchFamily="34" charset="-122"/>
                          <a:cs typeface="Calibri" pitchFamily="34" charset="-120"/>
                        </a:rPr>
                        <a:t> Anh Tú</a:t>
                      </a:r>
                      <a:endParaRPr lang="en-US" sz="100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1000" dirty="0">
                          <a:solidFill>
                            <a:srgbClr val="222833"/>
                          </a:solidFill>
                          <a:latin typeface="Calibri" pitchFamily="34" charset="0"/>
                          <a:ea typeface="Calibri" pitchFamily="34" charset="-122"/>
                          <a:cs typeface="Calibri" pitchFamily="34" charset="-120"/>
                        </a:rPr>
                        <a:t>Kế hoạch triển khai, nhân sự và dự toán chi phí</a:t>
                      </a:r>
                      <a:endParaRPr lang="en-US" sz="100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1000" dirty="0">
                          <a:solidFill>
                            <a:srgbClr val="222833"/>
                          </a:solidFill>
                          <a:latin typeface="Calibri" pitchFamily="34" charset="0"/>
                          <a:ea typeface="Calibri" pitchFamily="34" charset="-122"/>
                          <a:cs typeface="Calibri" pitchFamily="34" charset="-120"/>
                        </a:rPr>
                        <a:t>15–16</a:t>
                      </a:r>
                      <a:endParaRPr lang="en-US" sz="100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extLst>
                  <a:ext uri="{0D108BD9-81ED-4DB2-BD59-A6C34878D82A}">
                    <a16:rowId xmlns:a16="http://schemas.microsoft.com/office/drawing/2014/main" val="10008"/>
                  </a:ext>
                </a:extLst>
              </a:tr>
              <a:tr h="301752">
                <a:tc>
                  <a:txBody>
                    <a:bodyPr/>
                    <a:lstStyle/>
                    <a:p>
                      <a:pPr marL="0" indent="0">
                        <a:buNone/>
                      </a:pPr>
                      <a:r>
                        <a:rPr lang="en-US" sz="1000" dirty="0">
                          <a:solidFill>
                            <a:srgbClr val="222833"/>
                          </a:solidFill>
                          <a:latin typeface="Calibri" pitchFamily="34" charset="0"/>
                          <a:ea typeface="Calibri" pitchFamily="34" charset="-122"/>
                          <a:cs typeface="Calibri" pitchFamily="34" charset="-120"/>
                        </a:rPr>
                        <a:t>Lê Quang Đạt</a:t>
                      </a:r>
                      <a:endParaRPr lang="en-US" sz="100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1000" dirty="0">
                          <a:solidFill>
                            <a:srgbClr val="222833"/>
                          </a:solidFill>
                          <a:latin typeface="Calibri" pitchFamily="34" charset="0"/>
                          <a:ea typeface="Calibri" pitchFamily="34" charset="-122"/>
                          <a:cs typeface="Calibri" pitchFamily="34" charset="-120"/>
                        </a:rPr>
                        <a:t>Rủi ro, kiểm thử, vận hành và nghiệm thu</a:t>
                      </a:r>
                      <a:endParaRPr lang="en-US" sz="100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1000" dirty="0">
                          <a:solidFill>
                            <a:srgbClr val="222833"/>
                          </a:solidFill>
                          <a:latin typeface="Calibri" pitchFamily="34" charset="0"/>
                          <a:ea typeface="Calibri" pitchFamily="34" charset="-122"/>
                          <a:cs typeface="Calibri" pitchFamily="34" charset="-120"/>
                        </a:rPr>
                        <a:t>17–18</a:t>
                      </a:r>
                      <a:endParaRPr lang="en-US" sz="100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extLst>
                  <a:ext uri="{0D108BD9-81ED-4DB2-BD59-A6C34878D82A}">
                    <a16:rowId xmlns:a16="http://schemas.microsoft.com/office/drawing/2014/main" val="10009"/>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3" name="Text 1"/>
          <p:cNvSpPr txBox="1"/>
          <p:nvPr/>
        </p:nvSpPr>
        <p:spPr>
          <a:xfrm>
            <a:off x="548640" y="475488"/>
            <a:ext cx="8046720" cy="777240"/>
          </a:xfrm>
          <a:prstGeom prst="rect">
            <a:avLst/>
          </a:prstGeom>
          <a:noFill/>
          <a:ln/>
        </p:spPr>
        <p:txBody>
          <a:bodyPr wrap="square" lIns="0" tIns="0" rIns="0" bIns="0" rtlCol="0" anchor="t"/>
          <a:lstStyle/>
          <a:p>
            <a:pPr marL="0" indent="0">
              <a:buNone/>
            </a:pPr>
            <a:r>
              <a:rPr lang="en-US" sz="2500" b="1" dirty="0">
                <a:solidFill>
                  <a:srgbClr val="1E2761"/>
                </a:solidFill>
                <a:latin typeface="Cambria" pitchFamily="34" charset="0"/>
                <a:ea typeface="Cambria" pitchFamily="34" charset="-122"/>
                <a:cs typeface="Cambria" pitchFamily="34" charset="-120"/>
              </a:rPr>
              <a:t>Hiện trạng: điều phối nguồn lực theo cảm tính</a:t>
            </a:r>
            <a:endParaRPr lang="en-US" sz="2500" dirty="0"/>
          </a:p>
        </p:txBody>
      </p:sp>
      <p:sp>
        <p:nvSpPr>
          <p:cNvPr id="5" name="Shape 3"/>
          <p:cNvSpPr/>
          <p:nvPr/>
        </p:nvSpPr>
        <p:spPr>
          <a:xfrm>
            <a:off x="548640" y="1325880"/>
            <a:ext cx="8046720" cy="713232"/>
          </a:xfrm>
          <a:prstGeom prst="roundRect">
            <a:avLst>
              <a:gd name="adj" fmla="val 7692"/>
            </a:avLst>
          </a:prstGeom>
          <a:solidFill>
            <a:srgbClr val="E8F0FE"/>
          </a:solidFill>
          <a:ln w="6350">
            <a:solidFill>
              <a:srgbClr val="E8F0FE"/>
            </a:solidFill>
            <a:prstDash val="solid"/>
          </a:ln>
        </p:spPr>
        <p:txBody>
          <a:bodyPr/>
          <a:lstStyle/>
          <a:p>
            <a:endParaRPr lang="en-US"/>
          </a:p>
        </p:txBody>
      </p:sp>
      <p:sp>
        <p:nvSpPr>
          <p:cNvPr id="6" name="Shape 4"/>
          <p:cNvSpPr/>
          <p:nvPr/>
        </p:nvSpPr>
        <p:spPr>
          <a:xfrm>
            <a:off x="777240" y="1508760"/>
            <a:ext cx="384048" cy="384048"/>
          </a:xfrm>
          <a:prstGeom prst="ellipse">
            <a:avLst/>
          </a:prstGeom>
          <a:solidFill>
            <a:srgbClr val="1E2761"/>
          </a:solidFill>
          <a:ln/>
        </p:spPr>
        <p:txBody>
          <a:bodyPr/>
          <a:lstStyle/>
          <a:p>
            <a:endParaRPr lang="en-US"/>
          </a:p>
        </p:txBody>
      </p:sp>
      <p:sp>
        <p:nvSpPr>
          <p:cNvPr id="7" name="Text 5"/>
          <p:cNvSpPr txBox="1"/>
          <p:nvPr/>
        </p:nvSpPr>
        <p:spPr>
          <a:xfrm>
            <a:off x="777240" y="150876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1298448" y="1435608"/>
            <a:ext cx="2377440" cy="502920"/>
          </a:xfrm>
          <a:prstGeom prst="rect">
            <a:avLst/>
          </a:prstGeom>
          <a:noFill/>
          <a:ln/>
        </p:spPr>
        <p:txBody>
          <a:bodyPr wrap="square" lIns="0" tIns="0" rIns="0" bIns="0" rtlCol="0" anchor="ctr"/>
          <a:lstStyle/>
          <a:p>
            <a:pPr marL="0" indent="0">
              <a:buNone/>
            </a:pPr>
            <a:r>
              <a:rPr lang="en-US" sz="1150" b="1" dirty="0">
                <a:solidFill>
                  <a:srgbClr val="1E2761"/>
                </a:solidFill>
                <a:latin typeface="Calibri" pitchFamily="34" charset="0"/>
                <a:ea typeface="Calibri" pitchFamily="34" charset="-122"/>
                <a:cs typeface="Calibri" pitchFamily="34" charset="-120"/>
              </a:rPr>
              <a:t>Dữ liệu phân tán, độ trễ cao</a:t>
            </a:r>
            <a:endParaRPr lang="en-US" sz="1150" dirty="0"/>
          </a:p>
        </p:txBody>
      </p:sp>
      <p:sp>
        <p:nvSpPr>
          <p:cNvPr id="9" name="Text 7"/>
          <p:cNvSpPr txBox="1"/>
          <p:nvPr/>
        </p:nvSpPr>
        <p:spPr>
          <a:xfrm>
            <a:off x="3749040" y="1444752"/>
            <a:ext cx="4663440" cy="530352"/>
          </a:xfrm>
          <a:prstGeom prst="rect">
            <a:avLst/>
          </a:prstGeom>
          <a:noFill/>
          <a:ln/>
        </p:spPr>
        <p:txBody>
          <a:bodyPr wrap="square" lIns="0" tIns="0" rIns="0" bIns="0" rtlCol="0" anchor="ctr"/>
          <a:lstStyle/>
          <a:p>
            <a:pPr marL="0" indent="0">
              <a:buNone/>
            </a:pPr>
            <a:r>
              <a:rPr lang="en-US" sz="1200" dirty="0">
                <a:solidFill>
                  <a:srgbClr val="222833"/>
                </a:solidFill>
                <a:latin typeface="Calibri" pitchFamily="34" charset="0"/>
                <a:ea typeface="Calibri" pitchFamily="34" charset="-122"/>
                <a:cs typeface="Calibri" pitchFamily="34" charset="-120"/>
              </a:rPr>
              <a:t>Dữ liệu giao dịch POS tại 34 chi nhánh xử lý thủ công, lưu trữ phân tán — độ trễ tổng hợp 48 đến 72 giờ.</a:t>
            </a:r>
            <a:endParaRPr lang="en-US" sz="1200" dirty="0"/>
          </a:p>
        </p:txBody>
      </p:sp>
      <p:sp>
        <p:nvSpPr>
          <p:cNvPr id="10" name="Shape 8"/>
          <p:cNvSpPr/>
          <p:nvPr/>
        </p:nvSpPr>
        <p:spPr>
          <a:xfrm>
            <a:off x="548640" y="2112264"/>
            <a:ext cx="8046720" cy="713232"/>
          </a:xfrm>
          <a:prstGeom prst="roundRect">
            <a:avLst>
              <a:gd name="adj" fmla="val 7692"/>
            </a:avLst>
          </a:prstGeom>
          <a:solidFill>
            <a:srgbClr val="E8F0FE"/>
          </a:solidFill>
          <a:ln w="6350">
            <a:solidFill>
              <a:srgbClr val="E8F0FE"/>
            </a:solidFill>
            <a:prstDash val="solid"/>
          </a:ln>
        </p:spPr>
        <p:txBody>
          <a:bodyPr/>
          <a:lstStyle/>
          <a:p>
            <a:endParaRPr lang="en-US"/>
          </a:p>
        </p:txBody>
      </p:sp>
      <p:sp>
        <p:nvSpPr>
          <p:cNvPr id="11" name="Shape 9"/>
          <p:cNvSpPr/>
          <p:nvPr/>
        </p:nvSpPr>
        <p:spPr>
          <a:xfrm>
            <a:off x="777240" y="2295144"/>
            <a:ext cx="384048" cy="384048"/>
          </a:xfrm>
          <a:prstGeom prst="ellipse">
            <a:avLst/>
          </a:prstGeom>
          <a:solidFill>
            <a:srgbClr val="1E2761"/>
          </a:solidFill>
          <a:ln/>
        </p:spPr>
        <p:txBody>
          <a:bodyPr/>
          <a:lstStyle/>
          <a:p>
            <a:endParaRPr lang="en-US"/>
          </a:p>
        </p:txBody>
      </p:sp>
      <p:sp>
        <p:nvSpPr>
          <p:cNvPr id="12" name="Text 10"/>
          <p:cNvSpPr txBox="1"/>
          <p:nvPr/>
        </p:nvSpPr>
        <p:spPr>
          <a:xfrm>
            <a:off x="777240" y="2295144"/>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1298448" y="2221992"/>
            <a:ext cx="2377440" cy="502920"/>
          </a:xfrm>
          <a:prstGeom prst="rect">
            <a:avLst/>
          </a:prstGeom>
          <a:noFill/>
          <a:ln/>
        </p:spPr>
        <p:txBody>
          <a:bodyPr wrap="square" lIns="0" tIns="0" rIns="0" bIns="0" rtlCol="0" anchor="ctr"/>
          <a:lstStyle/>
          <a:p>
            <a:pPr marL="0" indent="0">
              <a:buNone/>
            </a:pPr>
            <a:r>
              <a:rPr lang="en-US" sz="1150" b="1" dirty="0">
                <a:solidFill>
                  <a:srgbClr val="1E2761"/>
                </a:solidFill>
                <a:latin typeface="Calibri" pitchFamily="34" charset="0"/>
                <a:ea typeface="Calibri" pitchFamily="34" charset="-122"/>
                <a:cs typeface="Calibri" pitchFamily="34" charset="-120"/>
              </a:rPr>
              <a:t>Giờ cao điểm</a:t>
            </a:r>
            <a:endParaRPr lang="en-US" sz="1150" dirty="0"/>
          </a:p>
        </p:txBody>
      </p:sp>
      <p:sp>
        <p:nvSpPr>
          <p:cNvPr id="14" name="Text 12"/>
          <p:cNvSpPr txBox="1"/>
          <p:nvPr/>
        </p:nvSpPr>
        <p:spPr>
          <a:xfrm>
            <a:off x="3749040" y="2231136"/>
            <a:ext cx="4663440" cy="530352"/>
          </a:xfrm>
          <a:prstGeom prst="rect">
            <a:avLst/>
          </a:prstGeom>
          <a:noFill/>
          <a:ln/>
        </p:spPr>
        <p:txBody>
          <a:bodyPr wrap="square" lIns="0" tIns="0" rIns="0" bIns="0" rtlCol="0" anchor="ctr"/>
          <a:lstStyle/>
          <a:p>
            <a:pPr marL="0" indent="0">
              <a:buNone/>
            </a:pPr>
            <a:r>
              <a:rPr lang="en-US" sz="1200" dirty="0">
                <a:solidFill>
                  <a:srgbClr val="222833"/>
                </a:solidFill>
                <a:latin typeface="Calibri" pitchFamily="34" charset="0"/>
                <a:ea typeface="Calibri" pitchFamily="34" charset="-122"/>
                <a:cs typeface="Calibri" pitchFamily="34" charset="-120"/>
              </a:rPr>
              <a:t>Thiếu nhân lực phục vụ, gián đoạn nguồn cung vật tư, khách chờ lâu, chất lượng dịch vụ suy giảm.</a:t>
            </a:r>
            <a:endParaRPr lang="en-US" sz="1200" dirty="0"/>
          </a:p>
        </p:txBody>
      </p:sp>
      <p:sp>
        <p:nvSpPr>
          <p:cNvPr id="15" name="Shape 13"/>
          <p:cNvSpPr/>
          <p:nvPr/>
        </p:nvSpPr>
        <p:spPr>
          <a:xfrm>
            <a:off x="548640" y="2898648"/>
            <a:ext cx="8046720" cy="713232"/>
          </a:xfrm>
          <a:prstGeom prst="roundRect">
            <a:avLst>
              <a:gd name="adj" fmla="val 7692"/>
            </a:avLst>
          </a:prstGeom>
          <a:solidFill>
            <a:srgbClr val="E8F0FE"/>
          </a:solidFill>
          <a:ln w="6350">
            <a:solidFill>
              <a:srgbClr val="E8F0FE"/>
            </a:solidFill>
            <a:prstDash val="solid"/>
          </a:ln>
        </p:spPr>
        <p:txBody>
          <a:bodyPr/>
          <a:lstStyle/>
          <a:p>
            <a:endParaRPr lang="en-US"/>
          </a:p>
        </p:txBody>
      </p:sp>
      <p:sp>
        <p:nvSpPr>
          <p:cNvPr id="16" name="Shape 14"/>
          <p:cNvSpPr/>
          <p:nvPr/>
        </p:nvSpPr>
        <p:spPr>
          <a:xfrm>
            <a:off x="777240" y="3081528"/>
            <a:ext cx="384048" cy="384048"/>
          </a:xfrm>
          <a:prstGeom prst="ellipse">
            <a:avLst/>
          </a:prstGeom>
          <a:solidFill>
            <a:srgbClr val="1E2761"/>
          </a:solidFill>
          <a:ln/>
        </p:spPr>
        <p:txBody>
          <a:bodyPr/>
          <a:lstStyle/>
          <a:p>
            <a:endParaRPr lang="en-US"/>
          </a:p>
        </p:txBody>
      </p:sp>
      <p:sp>
        <p:nvSpPr>
          <p:cNvPr id="17" name="Text 15"/>
          <p:cNvSpPr txBox="1"/>
          <p:nvPr/>
        </p:nvSpPr>
        <p:spPr>
          <a:xfrm>
            <a:off x="777240" y="3081528"/>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298448" y="3008376"/>
            <a:ext cx="2377440" cy="502920"/>
          </a:xfrm>
          <a:prstGeom prst="rect">
            <a:avLst/>
          </a:prstGeom>
          <a:noFill/>
          <a:ln/>
        </p:spPr>
        <p:txBody>
          <a:bodyPr wrap="square" lIns="0" tIns="0" rIns="0" bIns="0" rtlCol="0" anchor="ctr"/>
          <a:lstStyle/>
          <a:p>
            <a:pPr marL="0" indent="0">
              <a:buNone/>
            </a:pPr>
            <a:r>
              <a:rPr lang="en-US" sz="1150" b="1" dirty="0">
                <a:solidFill>
                  <a:srgbClr val="1E2761"/>
                </a:solidFill>
                <a:latin typeface="Calibri" pitchFamily="34" charset="0"/>
                <a:ea typeface="Calibri" pitchFamily="34" charset="-122"/>
                <a:cs typeface="Calibri" pitchFamily="34" charset="-120"/>
              </a:rPr>
              <a:t>Giờ thấp điểm</a:t>
            </a:r>
            <a:endParaRPr lang="en-US" sz="1150" dirty="0"/>
          </a:p>
        </p:txBody>
      </p:sp>
      <p:sp>
        <p:nvSpPr>
          <p:cNvPr id="19" name="Text 17"/>
          <p:cNvSpPr txBox="1"/>
          <p:nvPr/>
        </p:nvSpPr>
        <p:spPr>
          <a:xfrm>
            <a:off x="3749040" y="3017520"/>
            <a:ext cx="4663440" cy="530352"/>
          </a:xfrm>
          <a:prstGeom prst="rect">
            <a:avLst/>
          </a:prstGeom>
          <a:noFill/>
          <a:ln/>
        </p:spPr>
        <p:txBody>
          <a:bodyPr wrap="square" lIns="0" tIns="0" rIns="0" bIns="0" rtlCol="0" anchor="ctr"/>
          <a:lstStyle/>
          <a:p>
            <a:pPr marL="0" indent="0">
              <a:buNone/>
            </a:pPr>
            <a:r>
              <a:rPr lang="en-US" sz="1200" dirty="0">
                <a:solidFill>
                  <a:srgbClr val="222833"/>
                </a:solidFill>
                <a:latin typeface="Calibri" pitchFamily="34" charset="0"/>
                <a:ea typeface="Calibri" pitchFamily="34" charset="-122"/>
                <a:cs typeface="Calibri" pitchFamily="34" charset="-120"/>
              </a:rPr>
              <a:t>Dư thừa nhân lực phân bổ cố định, lãng phí chi phí vận hành (OPEX).</a:t>
            </a:r>
            <a:endParaRPr lang="en-US" sz="1200" dirty="0"/>
          </a:p>
        </p:txBody>
      </p:sp>
      <p:sp>
        <p:nvSpPr>
          <p:cNvPr id="20" name="Shape 18"/>
          <p:cNvSpPr/>
          <p:nvPr/>
        </p:nvSpPr>
        <p:spPr>
          <a:xfrm>
            <a:off x="548640" y="3685032"/>
            <a:ext cx="8046720" cy="713232"/>
          </a:xfrm>
          <a:prstGeom prst="roundRect">
            <a:avLst>
              <a:gd name="adj" fmla="val 7692"/>
            </a:avLst>
          </a:prstGeom>
          <a:solidFill>
            <a:srgbClr val="E8F0FE"/>
          </a:solidFill>
          <a:ln w="6350">
            <a:solidFill>
              <a:srgbClr val="E8F0FE"/>
            </a:solidFill>
            <a:prstDash val="solid"/>
          </a:ln>
        </p:spPr>
        <p:txBody>
          <a:bodyPr/>
          <a:lstStyle/>
          <a:p>
            <a:endParaRPr lang="en-US"/>
          </a:p>
        </p:txBody>
      </p:sp>
      <p:sp>
        <p:nvSpPr>
          <p:cNvPr id="21" name="Shape 19"/>
          <p:cNvSpPr/>
          <p:nvPr/>
        </p:nvSpPr>
        <p:spPr>
          <a:xfrm>
            <a:off x="777240" y="3867912"/>
            <a:ext cx="384048" cy="384048"/>
          </a:xfrm>
          <a:prstGeom prst="ellipse">
            <a:avLst/>
          </a:prstGeom>
          <a:solidFill>
            <a:srgbClr val="1E2761"/>
          </a:solidFill>
          <a:ln/>
        </p:spPr>
        <p:txBody>
          <a:bodyPr/>
          <a:lstStyle/>
          <a:p>
            <a:endParaRPr lang="en-US"/>
          </a:p>
        </p:txBody>
      </p:sp>
      <p:sp>
        <p:nvSpPr>
          <p:cNvPr id="22" name="Text 20"/>
          <p:cNvSpPr txBox="1"/>
          <p:nvPr/>
        </p:nvSpPr>
        <p:spPr>
          <a:xfrm>
            <a:off x="777240" y="3867912"/>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1"/>
          <p:cNvSpPr txBox="1"/>
          <p:nvPr/>
        </p:nvSpPr>
        <p:spPr>
          <a:xfrm>
            <a:off x="1298448" y="3794760"/>
            <a:ext cx="2377440" cy="502920"/>
          </a:xfrm>
          <a:prstGeom prst="rect">
            <a:avLst/>
          </a:prstGeom>
          <a:noFill/>
          <a:ln/>
        </p:spPr>
        <p:txBody>
          <a:bodyPr wrap="square" lIns="0" tIns="0" rIns="0" bIns="0" rtlCol="0" anchor="ctr"/>
          <a:lstStyle/>
          <a:p>
            <a:pPr marL="0" indent="0">
              <a:buNone/>
            </a:pPr>
            <a:r>
              <a:rPr lang="en-US" sz="1150" b="1" dirty="0">
                <a:solidFill>
                  <a:srgbClr val="1E2761"/>
                </a:solidFill>
                <a:latin typeface="Calibri" pitchFamily="34" charset="0"/>
                <a:ea typeface="Calibri" pitchFamily="34" charset="-122"/>
                <a:cs typeface="Calibri" pitchFamily="34" charset="-120"/>
              </a:rPr>
              <a:t>Hạ tầng tính toán cục bộ yếu</a:t>
            </a:r>
            <a:endParaRPr lang="en-US" sz="1150" dirty="0"/>
          </a:p>
        </p:txBody>
      </p:sp>
      <p:sp>
        <p:nvSpPr>
          <p:cNvPr id="24" name="Text 22"/>
          <p:cNvSpPr txBox="1"/>
          <p:nvPr/>
        </p:nvSpPr>
        <p:spPr>
          <a:xfrm>
            <a:off x="3749040" y="3803904"/>
            <a:ext cx="4663440" cy="530352"/>
          </a:xfrm>
          <a:prstGeom prst="rect">
            <a:avLst/>
          </a:prstGeom>
          <a:noFill/>
          <a:ln/>
        </p:spPr>
        <p:txBody>
          <a:bodyPr wrap="square" lIns="0" tIns="0" rIns="0" bIns="0" rtlCol="0" anchor="ctr"/>
          <a:lstStyle/>
          <a:p>
            <a:pPr marL="0" indent="0">
              <a:buNone/>
            </a:pPr>
            <a:r>
              <a:rPr lang="en-US" sz="1200" dirty="0">
                <a:solidFill>
                  <a:srgbClr val="222833"/>
                </a:solidFill>
                <a:latin typeface="Calibri" pitchFamily="34" charset="0"/>
                <a:ea typeface="Calibri" pitchFamily="34" charset="-122"/>
                <a:cs typeface="Calibri" pitchFamily="34" charset="-120"/>
              </a:rPr>
              <a:t>Máy chủ tại chi nhánh không đủ năng lực làm sạch, trích xuất đặc trưng và huấn luyện mô hình trên dữ liệu lịch sử lớn.</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3" name="Text 1"/>
          <p:cNvSpPr txBox="1"/>
          <p:nvPr/>
        </p:nvSpPr>
        <p:spPr>
          <a:xfrm>
            <a:off x="548640" y="475488"/>
            <a:ext cx="8046720" cy="777240"/>
          </a:xfrm>
          <a:prstGeom prst="rect">
            <a:avLst/>
          </a:prstGeom>
          <a:noFill/>
          <a:ln/>
        </p:spPr>
        <p:txBody>
          <a:bodyPr wrap="square" lIns="0" tIns="0" rIns="0" bIns="0" rtlCol="0" anchor="t"/>
          <a:lstStyle/>
          <a:p>
            <a:pPr marL="0" indent="0">
              <a:buNone/>
            </a:pPr>
            <a:r>
              <a:rPr lang="en-US" sz="2500" b="1" dirty="0">
                <a:solidFill>
                  <a:srgbClr val="1E2761"/>
                </a:solidFill>
                <a:latin typeface="Cambria" pitchFamily="34" charset="0"/>
                <a:ea typeface="Cambria" pitchFamily="34" charset="-122"/>
                <a:cs typeface="Cambria" pitchFamily="34" charset="-120"/>
              </a:rPr>
              <a:t>Một kết quả dự báo, bốn quy trình hưởng lợi</a:t>
            </a:r>
            <a:endParaRPr lang="en-US" sz="2500" dirty="0"/>
          </a:p>
        </p:txBody>
      </p:sp>
      <p:sp>
        <p:nvSpPr>
          <p:cNvPr id="5" name="Shape 3"/>
          <p:cNvSpPr/>
          <p:nvPr/>
        </p:nvSpPr>
        <p:spPr>
          <a:xfrm>
            <a:off x="2834640" y="1298448"/>
            <a:ext cx="3474720" cy="731520"/>
          </a:xfrm>
          <a:prstGeom prst="roundRect">
            <a:avLst>
              <a:gd name="adj" fmla="val 7500"/>
            </a:avLst>
          </a:prstGeom>
          <a:solidFill>
            <a:srgbClr val="1E2761"/>
          </a:solidFill>
          <a:ln w="6350">
            <a:solidFill>
              <a:srgbClr val="1E2761"/>
            </a:solidFill>
            <a:prstDash val="solid"/>
          </a:ln>
        </p:spPr>
        <p:txBody>
          <a:bodyPr/>
          <a:lstStyle/>
          <a:p>
            <a:endParaRPr lang="en-US"/>
          </a:p>
        </p:txBody>
      </p:sp>
      <p:sp>
        <p:nvSpPr>
          <p:cNvPr id="6" name="Text 4"/>
          <p:cNvSpPr txBox="1"/>
          <p:nvPr/>
        </p:nvSpPr>
        <p:spPr>
          <a:xfrm>
            <a:off x="2834640" y="1389888"/>
            <a:ext cx="3474720" cy="566928"/>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Dự báo lưu lượng khách</a:t>
            </a:r>
            <a:endParaRPr lang="en-US" sz="1150" dirty="0"/>
          </a:p>
          <a:p>
            <a:pPr marL="0" indent="0" algn="ctr">
              <a:buNone/>
            </a:pPr>
            <a:r>
              <a:rPr lang="en-US" sz="1150" b="1" dirty="0">
                <a:solidFill>
                  <a:srgbClr val="FFFFFF"/>
                </a:solidFill>
                <a:latin typeface="Calibri" pitchFamily="34" charset="0"/>
                <a:ea typeface="Calibri" pitchFamily="34" charset="-122"/>
                <a:cs typeface="Calibri" pitchFamily="34" charset="-120"/>
              </a:rPr>
              <a:t>theo từng khung giờ, từng chi nhánh</a:t>
            </a:r>
            <a:endParaRPr lang="en-US" sz="1150" dirty="0"/>
          </a:p>
        </p:txBody>
      </p:sp>
      <p:sp>
        <p:nvSpPr>
          <p:cNvPr id="7" name="Shape 5"/>
          <p:cNvSpPr/>
          <p:nvPr/>
        </p:nvSpPr>
        <p:spPr>
          <a:xfrm>
            <a:off x="548640" y="2304288"/>
            <a:ext cx="3977640" cy="914400"/>
          </a:xfrm>
          <a:prstGeom prst="roundRect">
            <a:avLst>
              <a:gd name="adj" fmla="val 6000"/>
            </a:avLst>
          </a:prstGeom>
          <a:solidFill>
            <a:srgbClr val="E8F0FE"/>
          </a:solidFill>
          <a:ln w="6350">
            <a:solidFill>
              <a:srgbClr val="E8F0FE"/>
            </a:solidFill>
            <a:prstDash val="solid"/>
          </a:ln>
        </p:spPr>
        <p:txBody>
          <a:bodyPr/>
          <a:lstStyle/>
          <a:p>
            <a:endParaRPr lang="en-US"/>
          </a:p>
        </p:txBody>
      </p:sp>
      <p:sp>
        <p:nvSpPr>
          <p:cNvPr id="8" name="Text 6"/>
          <p:cNvSpPr txBox="1"/>
          <p:nvPr/>
        </p:nvSpPr>
        <p:spPr>
          <a:xfrm>
            <a:off x="749808" y="2414016"/>
            <a:ext cx="3611880" cy="237744"/>
          </a:xfrm>
          <a:prstGeom prst="rect">
            <a:avLst/>
          </a:prstGeom>
          <a:noFill/>
          <a:ln/>
        </p:spPr>
        <p:txBody>
          <a:bodyPr wrap="square" lIns="0" tIns="0" rIns="0" bIns="0" rtlCol="0" anchor="ctr"/>
          <a:lstStyle/>
          <a:p>
            <a:pPr marL="0" indent="0">
              <a:buNone/>
            </a:pPr>
            <a:r>
              <a:rPr lang="en-US" sz="1150" b="1" dirty="0">
                <a:solidFill>
                  <a:srgbClr val="1E2761"/>
                </a:solidFill>
                <a:latin typeface="Calibri" pitchFamily="34" charset="0"/>
                <a:ea typeface="Calibri" pitchFamily="34" charset="-122"/>
                <a:cs typeface="Calibri" pitchFamily="34" charset="-120"/>
              </a:rPr>
              <a:t>Phòng Điều phối</a:t>
            </a:r>
            <a:endParaRPr lang="en-US" sz="1150" dirty="0"/>
          </a:p>
        </p:txBody>
      </p:sp>
      <p:sp>
        <p:nvSpPr>
          <p:cNvPr id="9" name="Text 7"/>
          <p:cNvSpPr txBox="1"/>
          <p:nvPr/>
        </p:nvSpPr>
        <p:spPr>
          <a:xfrm>
            <a:off x="749808" y="2670048"/>
            <a:ext cx="3611880" cy="457200"/>
          </a:xfrm>
          <a:prstGeom prst="rect">
            <a:avLst/>
          </a:prstGeom>
          <a:noFill/>
          <a:ln/>
        </p:spPr>
        <p:txBody>
          <a:bodyPr wrap="square" lIns="0" tIns="0" rIns="0" bIns="0" rtlCol="0" anchor="ctr"/>
          <a:lstStyle/>
          <a:p>
            <a:pPr marL="0" indent="0">
              <a:buNone/>
            </a:pPr>
            <a:r>
              <a:rPr lang="en-US" sz="1200" dirty="0">
                <a:solidFill>
                  <a:srgbClr val="5A6478"/>
                </a:solidFill>
                <a:latin typeface="Calibri" pitchFamily="34" charset="0"/>
                <a:ea typeface="Calibri" pitchFamily="34" charset="-122"/>
                <a:cs typeface="Calibri" pitchFamily="34" charset="-120"/>
              </a:rPr>
              <a:t>Xếp ca theo dữ liệu thay vì cảm tính — hết thiếu người giờ cao điểm, dư người giờ vắng</a:t>
            </a:r>
            <a:endParaRPr lang="en-US" sz="1200" dirty="0"/>
          </a:p>
        </p:txBody>
      </p:sp>
      <p:sp>
        <p:nvSpPr>
          <p:cNvPr id="10" name="Shape 8"/>
          <p:cNvSpPr/>
          <p:nvPr/>
        </p:nvSpPr>
        <p:spPr>
          <a:xfrm>
            <a:off x="4617720" y="2304288"/>
            <a:ext cx="3977640" cy="914400"/>
          </a:xfrm>
          <a:prstGeom prst="roundRect">
            <a:avLst>
              <a:gd name="adj" fmla="val 6000"/>
            </a:avLst>
          </a:prstGeom>
          <a:solidFill>
            <a:srgbClr val="E8F0FE"/>
          </a:solidFill>
          <a:ln w="6350">
            <a:solidFill>
              <a:srgbClr val="E8F0FE"/>
            </a:solidFill>
            <a:prstDash val="solid"/>
          </a:ln>
        </p:spPr>
        <p:txBody>
          <a:bodyPr/>
          <a:lstStyle/>
          <a:p>
            <a:endParaRPr lang="en-US"/>
          </a:p>
        </p:txBody>
      </p:sp>
      <p:sp>
        <p:nvSpPr>
          <p:cNvPr id="11" name="Text 9"/>
          <p:cNvSpPr txBox="1"/>
          <p:nvPr/>
        </p:nvSpPr>
        <p:spPr>
          <a:xfrm>
            <a:off x="4818888" y="2414016"/>
            <a:ext cx="3611880" cy="237744"/>
          </a:xfrm>
          <a:prstGeom prst="rect">
            <a:avLst/>
          </a:prstGeom>
          <a:noFill/>
          <a:ln/>
        </p:spPr>
        <p:txBody>
          <a:bodyPr wrap="square" lIns="0" tIns="0" rIns="0" bIns="0" rtlCol="0" anchor="ctr"/>
          <a:lstStyle/>
          <a:p>
            <a:pPr marL="0" indent="0">
              <a:buNone/>
            </a:pPr>
            <a:r>
              <a:rPr lang="en-US" sz="1150" b="1" dirty="0">
                <a:solidFill>
                  <a:srgbClr val="1E2761"/>
                </a:solidFill>
                <a:latin typeface="Calibri" pitchFamily="34" charset="0"/>
                <a:ea typeface="Calibri" pitchFamily="34" charset="-122"/>
                <a:cs typeface="Calibri" pitchFamily="34" charset="-120"/>
              </a:rPr>
              <a:t>Bộ phận Kho hàng</a:t>
            </a:r>
            <a:endParaRPr lang="en-US" sz="1150" dirty="0"/>
          </a:p>
        </p:txBody>
      </p:sp>
      <p:sp>
        <p:nvSpPr>
          <p:cNvPr id="12" name="Text 10"/>
          <p:cNvSpPr txBox="1"/>
          <p:nvPr/>
        </p:nvSpPr>
        <p:spPr>
          <a:xfrm>
            <a:off x="4818888" y="2670048"/>
            <a:ext cx="3611880" cy="457200"/>
          </a:xfrm>
          <a:prstGeom prst="rect">
            <a:avLst/>
          </a:prstGeom>
          <a:noFill/>
          <a:ln/>
        </p:spPr>
        <p:txBody>
          <a:bodyPr wrap="square" lIns="0" tIns="0" rIns="0" bIns="0" rtlCol="0" anchor="ctr"/>
          <a:lstStyle/>
          <a:p>
            <a:pPr marL="0" indent="0">
              <a:buNone/>
            </a:pPr>
            <a:r>
              <a:rPr lang="en-US" sz="1200" dirty="0">
                <a:solidFill>
                  <a:srgbClr val="5A6478"/>
                </a:solidFill>
                <a:latin typeface="Calibri" pitchFamily="34" charset="0"/>
                <a:ea typeface="Calibri" pitchFamily="34" charset="-122"/>
                <a:cs typeface="Calibri" pitchFamily="34" charset="-120"/>
              </a:rPr>
              <a:t>Lập kế hoạch luân chuyển hàng kịp thời, tránh đứt gãy cung ứng hoặc tồn đọng quá hạn</a:t>
            </a:r>
            <a:endParaRPr lang="en-US" sz="1200" dirty="0"/>
          </a:p>
        </p:txBody>
      </p:sp>
      <p:sp>
        <p:nvSpPr>
          <p:cNvPr id="13" name="Shape 11"/>
          <p:cNvSpPr/>
          <p:nvPr/>
        </p:nvSpPr>
        <p:spPr>
          <a:xfrm>
            <a:off x="548640" y="3355848"/>
            <a:ext cx="3977640" cy="914400"/>
          </a:xfrm>
          <a:prstGeom prst="roundRect">
            <a:avLst>
              <a:gd name="adj" fmla="val 6000"/>
            </a:avLst>
          </a:prstGeom>
          <a:solidFill>
            <a:srgbClr val="E8F0FE"/>
          </a:solidFill>
          <a:ln w="6350">
            <a:solidFill>
              <a:srgbClr val="E8F0FE"/>
            </a:solidFill>
            <a:prstDash val="solid"/>
          </a:ln>
        </p:spPr>
        <p:txBody>
          <a:bodyPr/>
          <a:lstStyle/>
          <a:p>
            <a:endParaRPr lang="en-US"/>
          </a:p>
        </p:txBody>
      </p:sp>
      <p:sp>
        <p:nvSpPr>
          <p:cNvPr id="14" name="Text 12"/>
          <p:cNvSpPr txBox="1"/>
          <p:nvPr/>
        </p:nvSpPr>
        <p:spPr>
          <a:xfrm>
            <a:off x="749808" y="3465576"/>
            <a:ext cx="3611880" cy="237744"/>
          </a:xfrm>
          <a:prstGeom prst="rect">
            <a:avLst/>
          </a:prstGeom>
          <a:noFill/>
          <a:ln/>
        </p:spPr>
        <p:txBody>
          <a:bodyPr wrap="square" lIns="0" tIns="0" rIns="0" bIns="0" rtlCol="0" anchor="ctr"/>
          <a:lstStyle/>
          <a:p>
            <a:pPr marL="0" indent="0">
              <a:buNone/>
            </a:pPr>
            <a:r>
              <a:rPr lang="en-US" sz="1150" b="1" dirty="0">
                <a:solidFill>
                  <a:srgbClr val="1E2761"/>
                </a:solidFill>
                <a:latin typeface="Calibri" pitchFamily="34" charset="0"/>
                <a:ea typeface="Calibri" pitchFamily="34" charset="-122"/>
                <a:cs typeface="Calibri" pitchFamily="34" charset="-120"/>
              </a:rPr>
              <a:t>Bộ phận Marketing</a:t>
            </a:r>
            <a:endParaRPr lang="en-US" sz="1150" dirty="0"/>
          </a:p>
        </p:txBody>
      </p:sp>
      <p:sp>
        <p:nvSpPr>
          <p:cNvPr id="15" name="Text 13"/>
          <p:cNvSpPr txBox="1"/>
          <p:nvPr/>
        </p:nvSpPr>
        <p:spPr>
          <a:xfrm>
            <a:off x="749808" y="3721608"/>
            <a:ext cx="3611880" cy="457200"/>
          </a:xfrm>
          <a:prstGeom prst="rect">
            <a:avLst/>
          </a:prstGeom>
          <a:noFill/>
          <a:ln/>
        </p:spPr>
        <p:txBody>
          <a:bodyPr wrap="square" lIns="0" tIns="0" rIns="0" bIns="0" rtlCol="0" anchor="ctr"/>
          <a:lstStyle/>
          <a:p>
            <a:pPr marL="0" indent="0">
              <a:buNone/>
            </a:pPr>
            <a:r>
              <a:rPr lang="en-US" sz="1200" dirty="0">
                <a:solidFill>
                  <a:srgbClr val="5A6478"/>
                </a:solidFill>
                <a:latin typeface="Calibri" pitchFamily="34" charset="0"/>
                <a:ea typeface="Calibri" pitchFamily="34" charset="-122"/>
                <a:cs typeface="Calibri" pitchFamily="34" charset="-120"/>
              </a:rPr>
              <a:t>Nhận diện khung giờ thấp điểm để kích cầu, không đốt ngân sách vào giờ đã kín chỗ</a:t>
            </a:r>
            <a:endParaRPr lang="en-US" sz="1200" dirty="0"/>
          </a:p>
        </p:txBody>
      </p:sp>
      <p:sp>
        <p:nvSpPr>
          <p:cNvPr id="16" name="Shape 14"/>
          <p:cNvSpPr/>
          <p:nvPr/>
        </p:nvSpPr>
        <p:spPr>
          <a:xfrm>
            <a:off x="4617720" y="3355848"/>
            <a:ext cx="3977640" cy="914400"/>
          </a:xfrm>
          <a:prstGeom prst="roundRect">
            <a:avLst>
              <a:gd name="adj" fmla="val 6000"/>
            </a:avLst>
          </a:prstGeom>
          <a:solidFill>
            <a:srgbClr val="E8F0FE"/>
          </a:solidFill>
          <a:ln w="6350">
            <a:solidFill>
              <a:srgbClr val="E8F0FE"/>
            </a:solidFill>
            <a:prstDash val="solid"/>
          </a:ln>
        </p:spPr>
        <p:txBody>
          <a:bodyPr/>
          <a:lstStyle/>
          <a:p>
            <a:endParaRPr lang="en-US"/>
          </a:p>
        </p:txBody>
      </p:sp>
      <p:sp>
        <p:nvSpPr>
          <p:cNvPr id="17" name="Text 15"/>
          <p:cNvSpPr txBox="1"/>
          <p:nvPr/>
        </p:nvSpPr>
        <p:spPr>
          <a:xfrm>
            <a:off x="4818888" y="3465576"/>
            <a:ext cx="3611880" cy="237744"/>
          </a:xfrm>
          <a:prstGeom prst="rect">
            <a:avLst/>
          </a:prstGeom>
          <a:noFill/>
          <a:ln/>
        </p:spPr>
        <p:txBody>
          <a:bodyPr wrap="square" lIns="0" tIns="0" rIns="0" bIns="0" rtlCol="0" anchor="ctr"/>
          <a:lstStyle/>
          <a:p>
            <a:pPr marL="0" indent="0">
              <a:buNone/>
            </a:pPr>
            <a:r>
              <a:rPr lang="en-US" sz="1150" b="1" dirty="0">
                <a:solidFill>
                  <a:srgbClr val="1E2761"/>
                </a:solidFill>
                <a:latin typeface="Calibri" pitchFamily="34" charset="0"/>
                <a:ea typeface="Calibri" pitchFamily="34" charset="-122"/>
                <a:cs typeface="Calibri" pitchFamily="34" charset="-120"/>
              </a:rPr>
              <a:t>Quản lý chi nhánh</a:t>
            </a:r>
            <a:endParaRPr lang="en-US" sz="1150" dirty="0"/>
          </a:p>
        </p:txBody>
      </p:sp>
      <p:sp>
        <p:nvSpPr>
          <p:cNvPr id="18" name="Text 16"/>
          <p:cNvSpPr txBox="1"/>
          <p:nvPr/>
        </p:nvSpPr>
        <p:spPr>
          <a:xfrm>
            <a:off x="4818888" y="3721608"/>
            <a:ext cx="3611880" cy="457200"/>
          </a:xfrm>
          <a:prstGeom prst="rect">
            <a:avLst/>
          </a:prstGeom>
          <a:noFill/>
          <a:ln/>
        </p:spPr>
        <p:txBody>
          <a:bodyPr wrap="square" lIns="0" tIns="0" rIns="0" bIns="0" rtlCol="0" anchor="ctr"/>
          <a:lstStyle/>
          <a:p>
            <a:pPr marL="0" indent="0">
              <a:buNone/>
            </a:pPr>
            <a:r>
              <a:rPr lang="en-US" sz="1200" dirty="0">
                <a:solidFill>
                  <a:srgbClr val="5A6478"/>
                </a:solidFill>
                <a:latin typeface="Calibri" pitchFamily="34" charset="0"/>
                <a:ea typeface="Calibri" pitchFamily="34" charset="-122"/>
                <a:cs typeface="Calibri" pitchFamily="34" charset="-120"/>
              </a:rPr>
              <a:t>Lường trước đột biến để giữ chất lượng dịch vụ, giảm thời gian khách phải chờ</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3" name="Text 1"/>
          <p:cNvSpPr txBox="1"/>
          <p:nvPr/>
        </p:nvSpPr>
        <p:spPr>
          <a:xfrm>
            <a:off x="548640" y="475488"/>
            <a:ext cx="8046720" cy="777240"/>
          </a:xfrm>
          <a:prstGeom prst="rect">
            <a:avLst/>
          </a:prstGeom>
          <a:noFill/>
          <a:ln/>
        </p:spPr>
        <p:txBody>
          <a:bodyPr wrap="square" lIns="0" tIns="0" rIns="0" bIns="0" rtlCol="0" anchor="t"/>
          <a:lstStyle/>
          <a:p>
            <a:pPr marL="0" indent="0">
              <a:buNone/>
            </a:pPr>
            <a:r>
              <a:rPr lang="en-US" sz="2500" b="1" dirty="0">
                <a:solidFill>
                  <a:srgbClr val="1E2761"/>
                </a:solidFill>
                <a:latin typeface="Cambria" pitchFamily="34" charset="0"/>
                <a:ea typeface="Cambria" pitchFamily="34" charset="-122"/>
                <a:cs typeface="Cambria" pitchFamily="34" charset="-120"/>
              </a:rPr>
              <a:t>Mục tiêu tổng quát và cấu trúc bộ KPI</a:t>
            </a:r>
            <a:endParaRPr lang="en-US" sz="2500" dirty="0"/>
          </a:p>
        </p:txBody>
      </p:sp>
      <p:sp>
        <p:nvSpPr>
          <p:cNvPr id="5" name="Shape 3"/>
          <p:cNvSpPr/>
          <p:nvPr/>
        </p:nvSpPr>
        <p:spPr>
          <a:xfrm>
            <a:off x="548640" y="1298448"/>
            <a:ext cx="8046720" cy="841248"/>
          </a:xfrm>
          <a:prstGeom prst="roundRect">
            <a:avLst>
              <a:gd name="adj" fmla="val 6522"/>
            </a:avLst>
          </a:prstGeom>
          <a:solidFill>
            <a:srgbClr val="1E2761"/>
          </a:solidFill>
          <a:ln w="6350">
            <a:solidFill>
              <a:srgbClr val="1E2761"/>
            </a:solidFill>
            <a:prstDash val="solid"/>
          </a:ln>
        </p:spPr>
        <p:txBody>
          <a:bodyPr/>
          <a:lstStyle/>
          <a:p>
            <a:endParaRPr lang="en-US"/>
          </a:p>
        </p:txBody>
      </p:sp>
      <p:sp>
        <p:nvSpPr>
          <p:cNvPr id="6" name="Text 4"/>
          <p:cNvSpPr txBox="1"/>
          <p:nvPr/>
        </p:nvSpPr>
        <p:spPr>
          <a:xfrm>
            <a:off x="822960" y="1399032"/>
            <a:ext cx="7498080" cy="219456"/>
          </a:xfrm>
          <a:prstGeom prst="rect">
            <a:avLst/>
          </a:prstGeom>
          <a:noFill/>
          <a:ln/>
        </p:spPr>
        <p:txBody>
          <a:bodyPr wrap="square" lIns="0" tIns="0" rIns="0" bIns="0" rtlCol="0" anchor="ctr"/>
          <a:lstStyle/>
          <a:p>
            <a:pPr marL="0" indent="0">
              <a:buNone/>
            </a:pPr>
            <a:r>
              <a:rPr lang="en-US" sz="1000" b="1" dirty="0">
                <a:solidFill>
                  <a:srgbClr val="E08A1E"/>
                </a:solidFill>
                <a:latin typeface="Calibri" pitchFamily="34" charset="0"/>
                <a:ea typeface="Calibri" pitchFamily="34" charset="-122"/>
                <a:cs typeface="Calibri" pitchFamily="34" charset="-120"/>
              </a:rPr>
              <a:t>MỤC TIÊU TỔNG QUÁT</a:t>
            </a:r>
            <a:endParaRPr lang="en-US" sz="1000" dirty="0"/>
          </a:p>
        </p:txBody>
      </p:sp>
      <p:sp>
        <p:nvSpPr>
          <p:cNvPr id="7" name="Text 5"/>
          <p:cNvSpPr txBox="1"/>
          <p:nvPr/>
        </p:nvSpPr>
        <p:spPr>
          <a:xfrm>
            <a:off x="822960" y="1627632"/>
            <a:ext cx="7498080" cy="438912"/>
          </a:xfrm>
          <a:prstGeom prst="rect">
            <a:avLst/>
          </a:prstGeom>
          <a:noFill/>
          <a:ln/>
        </p:spPr>
        <p:txBody>
          <a:bodyPr wrap="square" lIns="0" tIns="0" rIns="0" bIns="0" rtlCol="0" anchor="ctr"/>
          <a:lstStyle/>
          <a:p>
            <a:pPr marL="0" indent="0">
              <a:buNone/>
            </a:pPr>
            <a:r>
              <a:rPr lang="en-US" sz="1150" dirty="0">
                <a:solidFill>
                  <a:srgbClr val="FFFFFF"/>
                </a:solidFill>
                <a:latin typeface="Calibri" pitchFamily="34" charset="0"/>
                <a:ea typeface="Calibri" pitchFamily="34" charset="-122"/>
                <a:cs typeface="Calibri" pitchFamily="34" charset="-120"/>
              </a:rPr>
              <a:t>Xây dựng nền tảng tự động thu thập dữ liệu giao dịch, huấn luyện mô hình học máy phân tích chuỗi thời gian, và cung cấp kết quả dự báo qua các API chuyên dụng phục vụ nội bộ.</a:t>
            </a:r>
            <a:endParaRPr lang="en-US" sz="1150" dirty="0"/>
          </a:p>
        </p:txBody>
      </p:sp>
      <p:sp>
        <p:nvSpPr>
          <p:cNvPr id="8" name="Shape 6"/>
          <p:cNvSpPr/>
          <p:nvPr/>
        </p:nvSpPr>
        <p:spPr>
          <a:xfrm>
            <a:off x="548640" y="2331720"/>
            <a:ext cx="3977640" cy="1828800"/>
          </a:xfrm>
          <a:prstGeom prst="roundRect">
            <a:avLst>
              <a:gd name="adj" fmla="val 3000"/>
            </a:avLst>
          </a:prstGeom>
          <a:solidFill>
            <a:srgbClr val="E8F0FE"/>
          </a:solidFill>
          <a:ln w="6350">
            <a:solidFill>
              <a:srgbClr val="E8F0FE"/>
            </a:solidFill>
            <a:prstDash val="solid"/>
          </a:ln>
        </p:spPr>
        <p:txBody>
          <a:bodyPr/>
          <a:lstStyle/>
          <a:p>
            <a:endParaRPr lang="en-US"/>
          </a:p>
        </p:txBody>
      </p:sp>
      <p:sp>
        <p:nvSpPr>
          <p:cNvPr id="9" name="Text 7"/>
          <p:cNvSpPr txBox="1"/>
          <p:nvPr/>
        </p:nvSpPr>
        <p:spPr>
          <a:xfrm>
            <a:off x="749808" y="2468880"/>
            <a:ext cx="3611880" cy="256032"/>
          </a:xfrm>
          <a:prstGeom prst="rect">
            <a:avLst/>
          </a:prstGeom>
          <a:noFill/>
          <a:ln/>
        </p:spPr>
        <p:txBody>
          <a:bodyPr wrap="square" lIns="0" tIns="0" rIns="0" bIns="0" rtlCol="0" anchor="ctr"/>
          <a:lstStyle/>
          <a:p>
            <a:pPr marL="0" indent="0">
              <a:buNone/>
            </a:pPr>
            <a:r>
              <a:rPr lang="en-US" sz="1250" b="1" dirty="0">
                <a:solidFill>
                  <a:srgbClr val="1E2761"/>
                </a:solidFill>
                <a:latin typeface="Calibri" pitchFamily="34" charset="0"/>
                <a:ea typeface="Calibri" pitchFamily="34" charset="-122"/>
                <a:cs typeface="Calibri" pitchFamily="34" charset="-120"/>
              </a:rPr>
              <a:t>Nhóm A — KPI Mô hình AI</a:t>
            </a:r>
            <a:endParaRPr lang="en-US" sz="1250" dirty="0"/>
          </a:p>
        </p:txBody>
      </p:sp>
      <p:sp>
        <p:nvSpPr>
          <p:cNvPr id="10" name="Text 8"/>
          <p:cNvSpPr txBox="1"/>
          <p:nvPr/>
        </p:nvSpPr>
        <p:spPr>
          <a:xfrm>
            <a:off x="749808" y="2761488"/>
            <a:ext cx="3611880" cy="548640"/>
          </a:xfrm>
          <a:prstGeom prst="rect">
            <a:avLst/>
          </a:prstGeom>
          <a:noFill/>
          <a:ln/>
        </p:spPr>
        <p:txBody>
          <a:bodyPr wrap="square" lIns="0" tIns="0" rIns="0" bIns="0" rtlCol="0" anchor="ctr"/>
          <a:lstStyle/>
          <a:p>
            <a:pPr marL="0" indent="0">
              <a:buNone/>
            </a:pPr>
            <a:r>
              <a:rPr lang="en-US" sz="1200" dirty="0">
                <a:solidFill>
                  <a:srgbClr val="222833"/>
                </a:solidFill>
                <a:latin typeface="Calibri" pitchFamily="34" charset="0"/>
                <a:ea typeface="Calibri" pitchFamily="34" charset="-122"/>
                <a:cs typeface="Calibri" pitchFamily="34" charset="-120"/>
              </a:rPr>
              <a:t>Đo năng lực và độ chính xác của mô hình học máy chuỗi thời gian so với baseline thủ công.</a:t>
            </a:r>
            <a:endParaRPr lang="en-US" sz="1200" dirty="0"/>
          </a:p>
        </p:txBody>
      </p:sp>
      <p:sp>
        <p:nvSpPr>
          <p:cNvPr id="11" name="Text 9"/>
          <p:cNvSpPr txBox="1"/>
          <p:nvPr/>
        </p:nvSpPr>
        <p:spPr>
          <a:xfrm>
            <a:off x="749808" y="3364992"/>
            <a:ext cx="3611880" cy="640080"/>
          </a:xfrm>
          <a:prstGeom prst="rect">
            <a:avLst/>
          </a:prstGeom>
          <a:noFill/>
          <a:ln/>
        </p:spPr>
        <p:txBody>
          <a:bodyPr wrap="square" lIns="0" tIns="0" rIns="0" bIns="0" rtlCol="0" anchor="ctr"/>
          <a:lstStyle/>
          <a:p>
            <a:pPr marL="0" indent="0">
              <a:buNone/>
            </a:pPr>
            <a:r>
              <a:rPr lang="en-US" sz="1200" dirty="0">
                <a:solidFill>
                  <a:srgbClr val="E08A1E"/>
                </a:solidFill>
                <a:latin typeface="Calibri" pitchFamily="34" charset="0"/>
                <a:ea typeface="Calibri" pitchFamily="34" charset="-122"/>
                <a:cs typeface="Calibri" pitchFamily="34" charset="-120"/>
              </a:rPr>
              <a:t>MAPE · MAE · Precision · Inference latency · Độ ổn định đa ngữ cảnh</a:t>
            </a:r>
            <a:endParaRPr lang="en-US" sz="1200" dirty="0"/>
          </a:p>
        </p:txBody>
      </p:sp>
      <p:sp>
        <p:nvSpPr>
          <p:cNvPr id="12" name="Shape 10"/>
          <p:cNvSpPr/>
          <p:nvPr/>
        </p:nvSpPr>
        <p:spPr>
          <a:xfrm>
            <a:off x="4617720" y="2331720"/>
            <a:ext cx="3977640" cy="1828800"/>
          </a:xfrm>
          <a:prstGeom prst="roundRect">
            <a:avLst>
              <a:gd name="adj" fmla="val 3000"/>
            </a:avLst>
          </a:prstGeom>
          <a:solidFill>
            <a:srgbClr val="E8F0FE"/>
          </a:solidFill>
          <a:ln w="6350">
            <a:solidFill>
              <a:srgbClr val="E8F0FE"/>
            </a:solidFill>
            <a:prstDash val="solid"/>
          </a:ln>
        </p:spPr>
        <p:txBody>
          <a:bodyPr/>
          <a:lstStyle/>
          <a:p>
            <a:endParaRPr lang="en-US"/>
          </a:p>
        </p:txBody>
      </p:sp>
      <p:sp>
        <p:nvSpPr>
          <p:cNvPr id="13" name="Text 11"/>
          <p:cNvSpPr txBox="1"/>
          <p:nvPr/>
        </p:nvSpPr>
        <p:spPr>
          <a:xfrm>
            <a:off x="4818888" y="2468880"/>
            <a:ext cx="3611880" cy="256032"/>
          </a:xfrm>
          <a:prstGeom prst="rect">
            <a:avLst/>
          </a:prstGeom>
          <a:noFill/>
          <a:ln/>
        </p:spPr>
        <p:txBody>
          <a:bodyPr wrap="square" lIns="0" tIns="0" rIns="0" bIns="0" rtlCol="0" anchor="ctr"/>
          <a:lstStyle/>
          <a:p>
            <a:pPr marL="0" indent="0">
              <a:buNone/>
            </a:pPr>
            <a:r>
              <a:rPr lang="en-US" sz="1250" b="1" dirty="0">
                <a:solidFill>
                  <a:srgbClr val="1E2761"/>
                </a:solidFill>
                <a:latin typeface="Calibri" pitchFamily="34" charset="0"/>
                <a:ea typeface="Calibri" pitchFamily="34" charset="-122"/>
                <a:cs typeface="Calibri" pitchFamily="34" charset="-120"/>
              </a:rPr>
              <a:t>Nhóm B — KPI Phần mềm &amp; vận hành</a:t>
            </a:r>
            <a:endParaRPr lang="en-US" sz="1250" dirty="0"/>
          </a:p>
        </p:txBody>
      </p:sp>
      <p:sp>
        <p:nvSpPr>
          <p:cNvPr id="14" name="Text 12"/>
          <p:cNvSpPr txBox="1"/>
          <p:nvPr/>
        </p:nvSpPr>
        <p:spPr>
          <a:xfrm>
            <a:off x="4818888" y="2761488"/>
            <a:ext cx="3611880" cy="548640"/>
          </a:xfrm>
          <a:prstGeom prst="rect">
            <a:avLst/>
          </a:prstGeom>
          <a:noFill/>
          <a:ln/>
        </p:spPr>
        <p:txBody>
          <a:bodyPr wrap="square" lIns="0" tIns="0" rIns="0" bIns="0" rtlCol="0" anchor="ctr"/>
          <a:lstStyle/>
          <a:p>
            <a:pPr marL="0" indent="0">
              <a:buNone/>
            </a:pPr>
            <a:r>
              <a:rPr lang="en-US" sz="1200" dirty="0">
                <a:solidFill>
                  <a:srgbClr val="222833"/>
                </a:solidFill>
                <a:latin typeface="Calibri" pitchFamily="34" charset="0"/>
                <a:ea typeface="Calibri" pitchFamily="34" charset="-122"/>
                <a:cs typeface="Calibri" pitchFamily="34" charset="-120"/>
              </a:rPr>
              <a:t>Đo tính sẵn sàng, độ tin cậy và chất lượng kỹ thuật của ứng dụng trong môi trường vận hành.</a:t>
            </a:r>
            <a:endParaRPr lang="en-US" sz="1200" dirty="0"/>
          </a:p>
        </p:txBody>
      </p:sp>
      <p:sp>
        <p:nvSpPr>
          <p:cNvPr id="15" name="Text 13"/>
          <p:cNvSpPr txBox="1"/>
          <p:nvPr/>
        </p:nvSpPr>
        <p:spPr>
          <a:xfrm>
            <a:off x="4818888" y="3364992"/>
            <a:ext cx="3611880" cy="640080"/>
          </a:xfrm>
          <a:prstGeom prst="rect">
            <a:avLst/>
          </a:prstGeom>
          <a:noFill/>
          <a:ln/>
        </p:spPr>
        <p:txBody>
          <a:bodyPr wrap="square" lIns="0" tIns="0" rIns="0" bIns="0" rtlCol="0" anchor="ctr"/>
          <a:lstStyle/>
          <a:p>
            <a:pPr marL="0" indent="0">
              <a:buNone/>
            </a:pPr>
            <a:r>
              <a:rPr lang="en-US" sz="1200" dirty="0">
                <a:solidFill>
                  <a:srgbClr val="E08A1E"/>
                </a:solidFill>
                <a:latin typeface="Calibri" pitchFamily="34" charset="0"/>
                <a:ea typeface="Calibri" pitchFamily="34" charset="-122"/>
                <a:cs typeface="Calibri" pitchFamily="34" charset="-120"/>
              </a:rPr>
              <a:t>Response time · Batch duration · Uptime · Completeness · Freshness · Error rate · MTTD</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3" name="Text 1"/>
          <p:cNvSpPr txBox="1"/>
          <p:nvPr/>
        </p:nvSpPr>
        <p:spPr>
          <a:xfrm>
            <a:off x="548640" y="475488"/>
            <a:ext cx="8046720" cy="777240"/>
          </a:xfrm>
          <a:prstGeom prst="rect">
            <a:avLst/>
          </a:prstGeom>
          <a:noFill/>
          <a:ln/>
        </p:spPr>
        <p:txBody>
          <a:bodyPr wrap="square" lIns="0" tIns="0" rIns="0" bIns="0" rtlCol="0" anchor="t"/>
          <a:lstStyle/>
          <a:p>
            <a:pPr marL="0" indent="0">
              <a:buNone/>
            </a:pPr>
            <a:r>
              <a:rPr lang="en-US" sz="2500" b="1" dirty="0">
                <a:solidFill>
                  <a:srgbClr val="1E2761"/>
                </a:solidFill>
                <a:latin typeface="Cambria" pitchFamily="34" charset="0"/>
                <a:ea typeface="Cambria" pitchFamily="34" charset="-122"/>
                <a:cs typeface="Cambria" pitchFamily="34" charset="-120"/>
              </a:rPr>
              <a:t>KPI mô hình AI — có baseline và mốc đo</a:t>
            </a:r>
            <a:endParaRPr lang="en-US" sz="2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8046720" cy="2852928"/>
        </p:xfrm>
        <a:graphic>
          <a:graphicData uri="http://schemas.openxmlformats.org/drawingml/2006/table">
            <a:tbl>
              <a:tblPr/>
              <a:tblGrid>
                <a:gridCol w="50292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057400">
                  <a:extLst>
                    <a:ext uri="{9D8B030D-6E8A-4147-A177-3AD203B41FA5}">
                      <a16:colId xmlns:a16="http://schemas.microsoft.com/office/drawing/2014/main" val="20002"/>
                    </a:ext>
                  </a:extLst>
                </a:gridCol>
                <a:gridCol w="2194560">
                  <a:extLst>
                    <a:ext uri="{9D8B030D-6E8A-4147-A177-3AD203B41FA5}">
                      <a16:colId xmlns:a16="http://schemas.microsoft.com/office/drawing/2014/main" val="20003"/>
                    </a:ext>
                  </a:extLst>
                </a:gridCol>
                <a:gridCol w="1005840">
                  <a:extLst>
                    <a:ext uri="{9D8B030D-6E8A-4147-A177-3AD203B41FA5}">
                      <a16:colId xmlns:a16="http://schemas.microsoft.com/office/drawing/2014/main" val="20004"/>
                    </a:ext>
                  </a:extLst>
                </a:gridCol>
              </a:tblGrid>
              <a:tr h="475488">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Mã</a:t>
                      </a:r>
                      <a:endParaRPr lang="en-US" sz="10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Độ đo</a:t>
                      </a:r>
                      <a:endParaRPr lang="en-US" sz="10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Baseline đối chứng</a:t>
                      </a:r>
                      <a:endParaRPr lang="en-US" sz="10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Target</a:t>
                      </a:r>
                      <a:endParaRPr lang="en-US" sz="10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Mốc đo</a:t>
                      </a:r>
                      <a:endParaRPr lang="en-US" sz="10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475488">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A.1</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MAPE (scikit-learn, Hyndman)</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MA 7 ngày ~25–30%; ARIMA ~18–22%</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&lt; 15% tại Pilot → &lt; 10% sau 3 tháng</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G3; +1/3/6 th</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extLst>
                  <a:ext uri="{0D108BD9-81ED-4DB2-BD59-A6C34878D82A}">
                    <a16:rowId xmlns:a16="http://schemas.microsoft.com/office/drawing/2014/main" val="10001"/>
                  </a:ext>
                </a:extLst>
              </a:tr>
              <a:tr h="475488">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A.2</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MAE (scikit-learn)</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Không đo lường được</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 3 khách / CN / khung giờ</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G3; +3 th</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extLst>
                  <a:ext uri="{0D108BD9-81ED-4DB2-BD59-A6C34878D82A}">
                    <a16:rowId xmlns:a16="http://schemas.microsoft.com/office/drawing/2014/main" val="10002"/>
                  </a:ext>
                </a:extLst>
              </a:tr>
              <a:tr h="475488">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A.3</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Peak Detection Precision (Powers)</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Không đo lường được</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 85% (ngưỡng 1,5× trung bình)</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G3; +3 th</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extLst>
                  <a:ext uri="{0D108BD9-81ED-4DB2-BD59-A6C34878D82A}">
                    <a16:rowId xmlns:a16="http://schemas.microsoft.com/office/drawing/2014/main" val="10003"/>
                  </a:ext>
                </a:extLst>
              </a:tr>
              <a:tr h="475488">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A.4</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Model Inference Latency</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Không áp dụng</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 200 ms / chi nhánh</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G3; G4</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extLst>
                  <a:ext uri="{0D108BD9-81ED-4DB2-BD59-A6C34878D82A}">
                    <a16:rowId xmlns:a16="http://schemas.microsoft.com/office/drawing/2014/main" val="10004"/>
                  </a:ext>
                </a:extLst>
              </a:tr>
              <a:tr h="475488">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A.5</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Độ ổn định đa ngữ cảnh (Δ MAPE)</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Không đo lường được</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Δ ≤ 10% trên ≥ 4 bộ dữ liệu</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G3; +6 th</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3" name="Text 1"/>
          <p:cNvSpPr txBox="1"/>
          <p:nvPr/>
        </p:nvSpPr>
        <p:spPr>
          <a:xfrm>
            <a:off x="548640" y="475488"/>
            <a:ext cx="8046720" cy="777240"/>
          </a:xfrm>
          <a:prstGeom prst="rect">
            <a:avLst/>
          </a:prstGeom>
          <a:noFill/>
          <a:ln/>
        </p:spPr>
        <p:txBody>
          <a:bodyPr wrap="square" lIns="0" tIns="0" rIns="0" bIns="0" rtlCol="0" anchor="t"/>
          <a:lstStyle/>
          <a:p>
            <a:pPr marL="0" indent="0">
              <a:buNone/>
            </a:pPr>
            <a:r>
              <a:rPr lang="en-US" sz="2500" b="1" dirty="0">
                <a:solidFill>
                  <a:srgbClr val="1E2761"/>
                </a:solidFill>
                <a:latin typeface="Cambria" pitchFamily="34" charset="0"/>
                <a:ea typeface="Cambria" pitchFamily="34" charset="-122"/>
                <a:cs typeface="Cambria" pitchFamily="34" charset="-120"/>
              </a:rPr>
              <a:t>KPI phần mềm và vận hành hệ thống</a:t>
            </a:r>
            <a:endParaRPr lang="en-US" sz="2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8046720" cy="3072384"/>
        </p:xfrm>
        <a:graphic>
          <a:graphicData uri="http://schemas.openxmlformats.org/drawingml/2006/table">
            <a:tbl>
              <a:tblPr/>
              <a:tblGrid>
                <a:gridCol w="50292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gridCol w="1920240">
                  <a:extLst>
                    <a:ext uri="{9D8B030D-6E8A-4147-A177-3AD203B41FA5}">
                      <a16:colId xmlns:a16="http://schemas.microsoft.com/office/drawing/2014/main" val="20003"/>
                    </a:ext>
                  </a:extLst>
                </a:gridCol>
                <a:gridCol w="1005840">
                  <a:extLst>
                    <a:ext uri="{9D8B030D-6E8A-4147-A177-3AD203B41FA5}">
                      <a16:colId xmlns:a16="http://schemas.microsoft.com/office/drawing/2014/main" val="20004"/>
                    </a:ext>
                  </a:extLst>
                </a:gridCol>
              </a:tblGrid>
              <a:tr h="384048">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Mã</a:t>
                      </a:r>
                      <a:endParaRPr lang="en-US" sz="10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Độ đo</a:t>
                      </a:r>
                      <a:endParaRPr lang="en-US" sz="10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Baseline</a:t>
                      </a:r>
                      <a:endParaRPr lang="en-US" sz="10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Target</a:t>
                      </a:r>
                      <a:endParaRPr lang="en-US" sz="10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Owner</a:t>
                      </a:r>
                      <a:endParaRPr lang="en-US" sz="10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84048">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B.1</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API Response Time P95 (AWS)</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Chưa có API</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 500 ms / request</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Backend Dev</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B.2</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Batch Job Duration</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Tổng hợp thủ công 48–72h</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 30 phút cho 34 chi nhánh</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Data Engineer</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B.3</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Software Availability (Google SRE)</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Chưa có hệ thống</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 99,9% (≤ 43,2 phút/tháng)</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DevOps/SRE</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B.4</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Data Completeness (ISO 25012)</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Dữ liệu rời rạc, chưa làm sạch</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 99,5% bản ghi POS</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Data Engineer</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extLst>
                  <a:ext uri="{0D108BD9-81ED-4DB2-BD59-A6C34878D82A}">
                    <a16:rowId xmlns:a16="http://schemas.microsoft.com/office/drawing/2014/main" val="10004"/>
                  </a:ext>
                </a:extLst>
              </a:tr>
              <a:tr h="384048">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B.5</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Batch Data Freshness (ISO 25012)</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48–72 giờ</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 24 giờ (hoàn tất 01:00 AM)</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Data Engineer</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extLst>
                  <a:ext uri="{0D108BD9-81ED-4DB2-BD59-A6C34878D82A}">
                    <a16:rowId xmlns:a16="http://schemas.microsoft.com/office/drawing/2014/main" val="10005"/>
                  </a:ext>
                </a:extLst>
              </a:tr>
              <a:tr h="384048">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B.6</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API Error Rate (Google SRE)</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Không áp dụng</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&lt; 0,1% (HTTP 5xx)</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QA / SRE</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extLst>
                  <a:ext uri="{0D108BD9-81ED-4DB2-BD59-A6C34878D82A}">
                    <a16:rowId xmlns:a16="http://schemas.microsoft.com/office/drawing/2014/main" val="10006"/>
                  </a:ext>
                </a:extLst>
              </a:tr>
              <a:tr h="384048">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B.7</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MTTD — phát hiện sự cố</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4–8 giờ (báo qua Zalo)</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 15 phút</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DevOps/SRE</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3" name="Text 1"/>
          <p:cNvSpPr txBox="1"/>
          <p:nvPr/>
        </p:nvSpPr>
        <p:spPr>
          <a:xfrm>
            <a:off x="548640" y="475488"/>
            <a:ext cx="8046720" cy="777240"/>
          </a:xfrm>
          <a:prstGeom prst="rect">
            <a:avLst/>
          </a:prstGeom>
          <a:noFill/>
          <a:ln/>
        </p:spPr>
        <p:txBody>
          <a:bodyPr wrap="square" lIns="0" tIns="0" rIns="0" bIns="0" rtlCol="0" anchor="t"/>
          <a:lstStyle/>
          <a:p>
            <a:pPr marL="0" indent="0">
              <a:buNone/>
            </a:pPr>
            <a:r>
              <a:rPr lang="en-US" sz="2500" b="1" dirty="0">
                <a:solidFill>
                  <a:srgbClr val="1E2761"/>
                </a:solidFill>
                <a:latin typeface="Cambria" pitchFamily="34" charset="0"/>
                <a:ea typeface="Cambria" pitchFamily="34" charset="-122"/>
                <a:cs typeface="Cambria" pitchFamily="34" charset="-120"/>
              </a:rPr>
              <a:t>KPI gắn với từng giai đoạn nghiệm thu</a:t>
            </a:r>
            <a:endParaRPr lang="en-US" sz="25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8046720" cy="3072384"/>
        </p:xfrm>
        <a:graphic>
          <a:graphicData uri="http://schemas.openxmlformats.org/drawingml/2006/table">
            <a:tbl>
              <a:tblPr/>
              <a:tblGrid>
                <a:gridCol w="219456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260604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tblGrid>
              <a:tr h="438912">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Giai đoạn</a:t>
                      </a:r>
                      <a:endParaRPr lang="en-US" sz="10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Sản phẩm bàn giao</a:t>
                      </a:r>
                      <a:endParaRPr lang="en-US" sz="10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KPI nghiệm thu</a:t>
                      </a:r>
                      <a:endParaRPr lang="en-US" sz="10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Phụ trách</a:t>
                      </a:r>
                      <a:endParaRPr lang="en-US" sz="10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438912">
                <a:tc>
                  <a:txBody>
                    <a:bodyPr/>
                    <a:lstStyle/>
                    <a:p>
                      <a:pPr marL="0" indent="0">
                        <a:buNone/>
                      </a:pPr>
                      <a:r>
                        <a:rPr lang="en-US" sz="900" dirty="0">
                          <a:solidFill>
                            <a:srgbClr val="222833"/>
                          </a:solidFill>
                          <a:latin typeface="Calibri" pitchFamily="34" charset="0"/>
                          <a:ea typeface="Calibri" pitchFamily="34" charset="-122"/>
                          <a:cs typeface="Calibri" pitchFamily="34" charset="-120"/>
                        </a:rPr>
                        <a:t>G1 — Khảo sát &amp; phân tích dữ liệu</a:t>
                      </a:r>
                      <a:endParaRPr lang="en-US" sz="90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00" dirty="0">
                          <a:solidFill>
                            <a:srgbClr val="222833"/>
                          </a:solidFill>
                          <a:latin typeface="Calibri" pitchFamily="34" charset="0"/>
                          <a:ea typeface="Calibri" pitchFamily="34" charset="-122"/>
                          <a:cs typeface="Calibri" pitchFamily="34" charset="-120"/>
                        </a:rPr>
                        <a:t>Tài liệu đặc tả dữ liệu, dataset sạch</a:t>
                      </a:r>
                      <a:endParaRPr lang="en-US" sz="90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00" dirty="0">
                          <a:solidFill>
                            <a:srgbClr val="222833"/>
                          </a:solidFill>
                          <a:latin typeface="Calibri" pitchFamily="34" charset="0"/>
                          <a:ea typeface="Calibri" pitchFamily="34" charset="-122"/>
                          <a:cs typeface="Calibri" pitchFamily="34" charset="-120"/>
                        </a:rPr>
                        <a:t>B.4 ≥ 99,5%; Schema hợp lệ 100%</a:t>
                      </a:r>
                      <a:endParaRPr lang="en-US" sz="90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00" dirty="0">
                          <a:solidFill>
                            <a:srgbClr val="222833"/>
                          </a:solidFill>
                          <a:latin typeface="Calibri" pitchFamily="34" charset="0"/>
                          <a:ea typeface="Calibri" pitchFamily="34" charset="-122"/>
                          <a:cs typeface="Calibri" pitchFamily="34" charset="-120"/>
                        </a:rPr>
                        <a:t>Data Engineer</a:t>
                      </a:r>
                      <a:endParaRPr lang="en-US" sz="90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extLst>
                  <a:ext uri="{0D108BD9-81ED-4DB2-BD59-A6C34878D82A}">
                    <a16:rowId xmlns:a16="http://schemas.microsoft.com/office/drawing/2014/main" val="10001"/>
                  </a:ext>
                </a:extLst>
              </a:tr>
              <a:tr h="438912">
                <a:tc>
                  <a:txBody>
                    <a:bodyPr/>
                    <a:lstStyle/>
                    <a:p>
                      <a:pPr marL="0" indent="0">
                        <a:buNone/>
                      </a:pPr>
                      <a:r>
                        <a:rPr lang="en-US" sz="900" dirty="0">
                          <a:solidFill>
                            <a:srgbClr val="222833"/>
                          </a:solidFill>
                          <a:latin typeface="Calibri" pitchFamily="34" charset="0"/>
                          <a:ea typeface="Calibri" pitchFamily="34" charset="-122"/>
                          <a:cs typeface="Calibri" pitchFamily="34" charset="-120"/>
                        </a:rPr>
                        <a:t>G2 — Thiết kế kiến trúc phần mềm</a:t>
                      </a:r>
                      <a:endParaRPr lang="en-US" sz="90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00" dirty="0">
                          <a:solidFill>
                            <a:srgbClr val="222833"/>
                          </a:solidFill>
                          <a:latin typeface="Calibri" pitchFamily="34" charset="0"/>
                          <a:ea typeface="Calibri" pitchFamily="34" charset="-122"/>
                          <a:cs typeface="Calibri" pitchFamily="34" charset="-120"/>
                        </a:rPr>
                        <a:t>Tài liệu kiến trúc, API Contract</a:t>
                      </a:r>
                      <a:endParaRPr lang="en-US" sz="90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00" dirty="0">
                          <a:solidFill>
                            <a:srgbClr val="222833"/>
                          </a:solidFill>
                          <a:latin typeface="Calibri" pitchFamily="34" charset="0"/>
                          <a:ea typeface="Calibri" pitchFamily="34" charset="-122"/>
                          <a:cs typeface="Calibri" pitchFamily="34" charset="-120"/>
                        </a:rPr>
                        <a:t>100% API đạt chuẩn RESTful</a:t>
                      </a:r>
                      <a:endParaRPr lang="en-US" sz="90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00" dirty="0">
                          <a:solidFill>
                            <a:srgbClr val="222833"/>
                          </a:solidFill>
                          <a:latin typeface="Calibri" pitchFamily="34" charset="0"/>
                          <a:ea typeface="Calibri" pitchFamily="34" charset="-122"/>
                          <a:cs typeface="Calibri" pitchFamily="34" charset="-120"/>
                        </a:rPr>
                        <a:t>Software Architect</a:t>
                      </a:r>
                      <a:endParaRPr lang="en-US" sz="90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extLst>
                  <a:ext uri="{0D108BD9-81ED-4DB2-BD59-A6C34878D82A}">
                    <a16:rowId xmlns:a16="http://schemas.microsoft.com/office/drawing/2014/main" val="10002"/>
                  </a:ext>
                </a:extLst>
              </a:tr>
              <a:tr h="438912">
                <a:tc>
                  <a:txBody>
                    <a:bodyPr/>
                    <a:lstStyle/>
                    <a:p>
                      <a:pPr marL="0" indent="0">
                        <a:buNone/>
                      </a:pPr>
                      <a:r>
                        <a:rPr lang="en-US" sz="900" dirty="0">
                          <a:solidFill>
                            <a:srgbClr val="222833"/>
                          </a:solidFill>
                          <a:latin typeface="Calibri" pitchFamily="34" charset="0"/>
                          <a:ea typeface="Calibri" pitchFamily="34" charset="-122"/>
                          <a:cs typeface="Calibri" pitchFamily="34" charset="-120"/>
                        </a:rPr>
                        <a:t>G3 — Phát triển mô hình &amp; pipeline</a:t>
                      </a:r>
                      <a:endParaRPr lang="en-US" sz="90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00" dirty="0">
                          <a:solidFill>
                            <a:srgbClr val="222833"/>
                          </a:solidFill>
                          <a:latin typeface="Calibri" pitchFamily="34" charset="0"/>
                          <a:ea typeface="Calibri" pitchFamily="34" charset="-122"/>
                          <a:cs typeface="Calibri" pitchFamily="34" charset="-120"/>
                        </a:rPr>
                        <a:t>Mã nguồn pipeline, artifact mô hình</a:t>
                      </a:r>
                      <a:endParaRPr lang="en-US" sz="90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00" dirty="0">
                          <a:solidFill>
                            <a:srgbClr val="222833"/>
                          </a:solidFill>
                          <a:latin typeface="Calibri" pitchFamily="34" charset="0"/>
                          <a:ea typeface="Calibri" pitchFamily="34" charset="-122"/>
                          <a:cs typeface="Calibri" pitchFamily="34" charset="-120"/>
                        </a:rPr>
                        <a:t>A.1 &lt; 15%; A.3 ≥ 85%; A.4 ≤ 200ms; A.5 ≤ 10%</a:t>
                      </a:r>
                      <a:endParaRPr lang="en-US" sz="90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00" dirty="0">
                          <a:solidFill>
                            <a:srgbClr val="222833"/>
                          </a:solidFill>
                          <a:latin typeface="Calibri" pitchFamily="34" charset="0"/>
                          <a:ea typeface="Calibri" pitchFamily="34" charset="-122"/>
                          <a:cs typeface="Calibri" pitchFamily="34" charset="-120"/>
                        </a:rPr>
                        <a:t>ML Engineer</a:t>
                      </a:r>
                      <a:endParaRPr lang="en-US" sz="90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extLst>
                  <a:ext uri="{0D108BD9-81ED-4DB2-BD59-A6C34878D82A}">
                    <a16:rowId xmlns:a16="http://schemas.microsoft.com/office/drawing/2014/main" val="10003"/>
                  </a:ext>
                </a:extLst>
              </a:tr>
              <a:tr h="438912">
                <a:tc>
                  <a:txBody>
                    <a:bodyPr/>
                    <a:lstStyle/>
                    <a:p>
                      <a:pPr marL="0" indent="0">
                        <a:buNone/>
                      </a:pPr>
                      <a:r>
                        <a:rPr lang="en-US" sz="900" dirty="0">
                          <a:solidFill>
                            <a:srgbClr val="222833"/>
                          </a:solidFill>
                          <a:latin typeface="Calibri" pitchFamily="34" charset="0"/>
                          <a:ea typeface="Calibri" pitchFamily="34" charset="-122"/>
                          <a:cs typeface="Calibri" pitchFamily="34" charset="-120"/>
                        </a:rPr>
                        <a:t>G4 — Kiểm thử &amp; đóng gói</a:t>
                      </a:r>
                      <a:endParaRPr lang="en-US" sz="90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00" dirty="0">
                          <a:solidFill>
                            <a:srgbClr val="222833"/>
                          </a:solidFill>
                          <a:latin typeface="Calibri" pitchFamily="34" charset="0"/>
                          <a:ea typeface="Calibri" pitchFamily="34" charset="-122"/>
                          <a:cs typeface="Calibri" pitchFamily="34" charset="-120"/>
                        </a:rPr>
                        <a:t>Docker image, bộ test, báo cáo UAT</a:t>
                      </a:r>
                      <a:endParaRPr lang="en-US" sz="90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00" dirty="0">
                          <a:solidFill>
                            <a:srgbClr val="222833"/>
                          </a:solidFill>
                          <a:latin typeface="Calibri" pitchFamily="34" charset="0"/>
                          <a:ea typeface="Calibri" pitchFamily="34" charset="-122"/>
                          <a:cs typeface="Calibri" pitchFamily="34" charset="-120"/>
                        </a:rPr>
                        <a:t>B.1 ≤ 500ms; B.6 &lt; 0,1%; B.2 ≤ 30 phút</a:t>
                      </a:r>
                      <a:endParaRPr lang="en-US" sz="90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00" dirty="0">
                          <a:solidFill>
                            <a:srgbClr val="222833"/>
                          </a:solidFill>
                          <a:latin typeface="Calibri" pitchFamily="34" charset="0"/>
                          <a:ea typeface="Calibri" pitchFamily="34" charset="-122"/>
                          <a:cs typeface="Calibri" pitchFamily="34" charset="-120"/>
                        </a:rPr>
                        <a:t>QA Engineer</a:t>
                      </a:r>
                      <a:endParaRPr lang="en-US" sz="90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extLst>
                  <a:ext uri="{0D108BD9-81ED-4DB2-BD59-A6C34878D82A}">
                    <a16:rowId xmlns:a16="http://schemas.microsoft.com/office/drawing/2014/main" val="10004"/>
                  </a:ext>
                </a:extLst>
              </a:tr>
              <a:tr h="438912">
                <a:tc>
                  <a:txBody>
                    <a:bodyPr/>
                    <a:lstStyle/>
                    <a:p>
                      <a:pPr marL="0" indent="0">
                        <a:buNone/>
                      </a:pPr>
                      <a:r>
                        <a:rPr lang="en-US" sz="900" dirty="0">
                          <a:solidFill>
                            <a:srgbClr val="222833"/>
                          </a:solidFill>
                          <a:latin typeface="Calibri" pitchFamily="34" charset="0"/>
                          <a:ea typeface="Calibri" pitchFamily="34" charset="-122"/>
                          <a:cs typeface="Calibri" pitchFamily="34" charset="-120"/>
                        </a:rPr>
                        <a:t>G5 — Triển khai &amp; vận hành</a:t>
                      </a:r>
                      <a:endParaRPr lang="en-US" sz="90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00" dirty="0">
                          <a:solidFill>
                            <a:srgbClr val="222833"/>
                          </a:solidFill>
                          <a:latin typeface="Calibri" pitchFamily="34" charset="0"/>
                          <a:ea typeface="Calibri" pitchFamily="34" charset="-122"/>
                          <a:cs typeface="Calibri" pitchFamily="34" charset="-120"/>
                        </a:rPr>
                        <a:t>Hệ thống API Production, dashboard</a:t>
                      </a:r>
                      <a:endParaRPr lang="en-US" sz="90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00" dirty="0">
                          <a:solidFill>
                            <a:srgbClr val="222833"/>
                          </a:solidFill>
                          <a:latin typeface="Calibri" pitchFamily="34" charset="0"/>
                          <a:ea typeface="Calibri" pitchFamily="34" charset="-122"/>
                          <a:cs typeface="Calibri" pitchFamily="34" charset="-120"/>
                        </a:rPr>
                        <a:t>B.3 ≥ 99,9%; B.5 ≤ 24h; B.7 ≤ 15 phút</a:t>
                      </a:r>
                      <a:endParaRPr lang="en-US" sz="90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00" dirty="0">
                          <a:solidFill>
                            <a:srgbClr val="222833"/>
                          </a:solidFill>
                          <a:latin typeface="Calibri" pitchFamily="34" charset="0"/>
                          <a:ea typeface="Calibri" pitchFamily="34" charset="-122"/>
                          <a:cs typeface="Calibri" pitchFamily="34" charset="-120"/>
                        </a:rPr>
                        <a:t>DevOps / SRE</a:t>
                      </a:r>
                      <a:endParaRPr lang="en-US" sz="90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extLst>
                  <a:ext uri="{0D108BD9-81ED-4DB2-BD59-A6C34878D82A}">
                    <a16:rowId xmlns:a16="http://schemas.microsoft.com/office/drawing/2014/main" val="10005"/>
                  </a:ext>
                </a:extLst>
              </a:tr>
              <a:tr h="438912">
                <a:tc>
                  <a:txBody>
                    <a:bodyPr/>
                    <a:lstStyle/>
                    <a:p>
                      <a:pPr marL="0" indent="0">
                        <a:buNone/>
                      </a:pPr>
                      <a:r>
                        <a:rPr lang="en-US" sz="900" dirty="0">
                          <a:solidFill>
                            <a:srgbClr val="222833"/>
                          </a:solidFill>
                          <a:latin typeface="Calibri" pitchFamily="34" charset="0"/>
                          <a:ea typeface="Calibri" pitchFamily="34" charset="-122"/>
                          <a:cs typeface="Calibri" pitchFamily="34" charset="-120"/>
                        </a:rPr>
                        <a:t>Sau go-live</a:t>
                      </a:r>
                      <a:endParaRPr lang="en-US" sz="90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00" dirty="0">
                          <a:solidFill>
                            <a:srgbClr val="222833"/>
                          </a:solidFill>
                          <a:latin typeface="Calibri" pitchFamily="34" charset="0"/>
                          <a:ea typeface="Calibri" pitchFamily="34" charset="-122"/>
                          <a:cs typeface="Calibri" pitchFamily="34" charset="-120"/>
                        </a:rPr>
                        <a:t>Báo cáo Benefit Realization</a:t>
                      </a:r>
                      <a:endParaRPr lang="en-US" sz="90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00" dirty="0">
                          <a:solidFill>
                            <a:srgbClr val="222833"/>
                          </a:solidFill>
                          <a:latin typeface="Calibri" pitchFamily="34" charset="0"/>
                          <a:ea typeface="Calibri" pitchFamily="34" charset="-122"/>
                          <a:cs typeface="Calibri" pitchFamily="34" charset="-120"/>
                        </a:rPr>
                        <a:t>A.1 &lt; 10% tại mốc +3 tháng</a:t>
                      </a:r>
                      <a:endParaRPr lang="en-US" sz="90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00" dirty="0">
                          <a:solidFill>
                            <a:srgbClr val="222833"/>
                          </a:solidFill>
                          <a:latin typeface="Calibri" pitchFamily="34" charset="0"/>
                          <a:ea typeface="Calibri" pitchFamily="34" charset="-122"/>
                          <a:cs typeface="Calibri" pitchFamily="34" charset="-120"/>
                        </a:rPr>
                        <a:t>ML Engineer + PM</a:t>
                      </a:r>
                      <a:endParaRPr lang="en-US" sz="90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3" name="Text 1"/>
          <p:cNvSpPr txBox="1"/>
          <p:nvPr/>
        </p:nvSpPr>
        <p:spPr>
          <a:xfrm>
            <a:off x="548640" y="475488"/>
            <a:ext cx="8046720" cy="777240"/>
          </a:xfrm>
          <a:prstGeom prst="rect">
            <a:avLst/>
          </a:prstGeom>
          <a:noFill/>
          <a:ln/>
        </p:spPr>
        <p:txBody>
          <a:bodyPr wrap="square" lIns="0" tIns="0" rIns="0" bIns="0" rtlCol="0" anchor="t"/>
          <a:lstStyle/>
          <a:p>
            <a:pPr marL="0" indent="0">
              <a:buNone/>
            </a:pPr>
            <a:r>
              <a:rPr lang="en-US" sz="2500" b="1" dirty="0">
                <a:solidFill>
                  <a:srgbClr val="1E2761"/>
                </a:solidFill>
                <a:latin typeface="Cambria" pitchFamily="34" charset="0"/>
                <a:ea typeface="Cambria" pitchFamily="34" charset="-122"/>
                <a:cs typeface="Cambria" pitchFamily="34" charset="-120"/>
              </a:rPr>
              <a:t>Phạm vi, giới hạn AI và phương án dự phòng</a:t>
            </a:r>
            <a:endParaRPr lang="en-US" sz="2500" dirty="0"/>
          </a:p>
        </p:txBody>
      </p:sp>
      <p:sp>
        <p:nvSpPr>
          <p:cNvPr id="5" name="Shape 3"/>
          <p:cNvSpPr/>
          <p:nvPr/>
        </p:nvSpPr>
        <p:spPr>
          <a:xfrm>
            <a:off x="548640" y="1298448"/>
            <a:ext cx="3977640" cy="1417320"/>
          </a:xfrm>
          <a:prstGeom prst="roundRect">
            <a:avLst>
              <a:gd name="adj" fmla="val 3871"/>
            </a:avLst>
          </a:prstGeom>
          <a:solidFill>
            <a:srgbClr val="E8F0FE"/>
          </a:solidFill>
          <a:ln w="6350">
            <a:solidFill>
              <a:srgbClr val="E8F0FE"/>
            </a:solidFill>
            <a:prstDash val="solid"/>
          </a:ln>
        </p:spPr>
        <p:txBody>
          <a:bodyPr/>
          <a:lstStyle/>
          <a:p>
            <a:endParaRPr lang="en-US"/>
          </a:p>
        </p:txBody>
      </p:sp>
      <p:sp>
        <p:nvSpPr>
          <p:cNvPr id="6" name="Text 4"/>
          <p:cNvSpPr txBox="1"/>
          <p:nvPr/>
        </p:nvSpPr>
        <p:spPr>
          <a:xfrm>
            <a:off x="749808" y="1417320"/>
            <a:ext cx="3611880" cy="237744"/>
          </a:xfrm>
          <a:prstGeom prst="rect">
            <a:avLst/>
          </a:prstGeom>
          <a:noFill/>
          <a:ln/>
        </p:spPr>
        <p:txBody>
          <a:bodyPr wrap="square" lIns="0" tIns="0" rIns="0" bIns="0" rtlCol="0" anchor="ctr"/>
          <a:lstStyle/>
          <a:p>
            <a:pPr marL="0" indent="0">
              <a:buNone/>
            </a:pPr>
            <a:r>
              <a:rPr lang="en-US" sz="1150" b="1" dirty="0">
                <a:solidFill>
                  <a:srgbClr val="1E2761"/>
                </a:solidFill>
                <a:latin typeface="Calibri" pitchFamily="34" charset="0"/>
                <a:ea typeface="Calibri" pitchFamily="34" charset="-122"/>
                <a:cs typeface="Calibri" pitchFamily="34" charset="-120"/>
              </a:rPr>
              <a:t>Trong phạm vi</a:t>
            </a:r>
            <a:endParaRPr lang="en-US" sz="1150" dirty="0"/>
          </a:p>
        </p:txBody>
      </p:sp>
      <p:sp>
        <p:nvSpPr>
          <p:cNvPr id="7" name="Text 5"/>
          <p:cNvSpPr txBox="1"/>
          <p:nvPr/>
        </p:nvSpPr>
        <p:spPr>
          <a:xfrm>
            <a:off x="749808" y="1700784"/>
            <a:ext cx="3611880" cy="905256"/>
          </a:xfrm>
          <a:prstGeom prst="rect">
            <a:avLst/>
          </a:prstGeom>
          <a:noFill/>
          <a:ln/>
        </p:spPr>
        <p:txBody>
          <a:bodyPr wrap="square" lIns="0" tIns="0" rIns="0" bIns="0" rtlCol="0" anchor="ctr"/>
          <a:lstStyle/>
          <a:p>
            <a:pPr marL="342900" indent="-342900">
              <a:spcAft>
                <a:spcPts val="600"/>
              </a:spcAft>
              <a:buSzPct val="100000"/>
              <a:buChar char="•"/>
            </a:pPr>
            <a:r>
              <a:rPr lang="en-US" sz="1100" dirty="0">
                <a:solidFill>
                  <a:srgbClr val="222833"/>
                </a:solidFill>
                <a:latin typeface="Calibri" pitchFamily="34" charset="0"/>
                <a:ea typeface="Calibri" pitchFamily="34" charset="-122"/>
                <a:cs typeface="Calibri" pitchFamily="34" charset="-120"/>
              </a:rPr>
              <a:t>Luồng tích hợp dữ liệu POS → Cloud</a:t>
            </a:r>
            <a:endParaRPr lang="en-US" sz="1100" dirty="0"/>
          </a:p>
          <a:p>
            <a:pPr marL="342900" indent="-342900">
              <a:spcAft>
                <a:spcPts val="600"/>
              </a:spcAft>
              <a:buSzPct val="100000"/>
              <a:buChar char="•"/>
            </a:pPr>
            <a:r>
              <a:rPr lang="en-US" sz="1100" dirty="0">
                <a:solidFill>
                  <a:srgbClr val="222833"/>
                </a:solidFill>
                <a:latin typeface="Calibri" pitchFamily="34" charset="0"/>
                <a:ea typeface="Calibri" pitchFamily="34" charset="-122"/>
                <a:cs typeface="Calibri" pitchFamily="34" charset="-120"/>
              </a:rPr>
              <a:t>Huấn luyện mô hình dự báo chuỗi thời gian</a:t>
            </a:r>
            <a:endParaRPr lang="en-US" sz="1100" dirty="0"/>
          </a:p>
          <a:p>
            <a:pPr marL="342900" indent="-342900">
              <a:spcAft>
                <a:spcPts val="600"/>
              </a:spcAft>
              <a:buSzPct val="100000"/>
              <a:buChar char="•"/>
            </a:pPr>
            <a:r>
              <a:rPr lang="en-US" sz="1100" dirty="0">
                <a:solidFill>
                  <a:srgbClr val="222833"/>
                </a:solidFill>
                <a:latin typeface="Calibri" pitchFamily="34" charset="0"/>
                <a:ea typeface="Calibri" pitchFamily="34" charset="-122"/>
                <a:cs typeface="Calibri" pitchFamily="34" charset="-120"/>
              </a:rPr>
              <a:t>Cung cấp kết quả qua RESTful API và dashboard</a:t>
            </a:r>
            <a:endParaRPr lang="en-US" sz="1100" dirty="0"/>
          </a:p>
        </p:txBody>
      </p:sp>
      <p:sp>
        <p:nvSpPr>
          <p:cNvPr id="8" name="Shape 6"/>
          <p:cNvSpPr/>
          <p:nvPr/>
        </p:nvSpPr>
        <p:spPr>
          <a:xfrm>
            <a:off x="4617720" y="1298448"/>
            <a:ext cx="3977640" cy="1417320"/>
          </a:xfrm>
          <a:prstGeom prst="roundRect">
            <a:avLst>
              <a:gd name="adj" fmla="val 3871"/>
            </a:avLst>
          </a:prstGeom>
          <a:solidFill>
            <a:srgbClr val="E8F0FE"/>
          </a:solidFill>
          <a:ln w="6350">
            <a:solidFill>
              <a:srgbClr val="E8F0FE"/>
            </a:solidFill>
            <a:prstDash val="solid"/>
          </a:ln>
        </p:spPr>
        <p:txBody>
          <a:bodyPr/>
          <a:lstStyle/>
          <a:p>
            <a:endParaRPr lang="en-US"/>
          </a:p>
        </p:txBody>
      </p:sp>
      <p:sp>
        <p:nvSpPr>
          <p:cNvPr id="9" name="Text 7"/>
          <p:cNvSpPr txBox="1"/>
          <p:nvPr/>
        </p:nvSpPr>
        <p:spPr>
          <a:xfrm>
            <a:off x="4818888" y="1417320"/>
            <a:ext cx="3611880" cy="237744"/>
          </a:xfrm>
          <a:prstGeom prst="rect">
            <a:avLst/>
          </a:prstGeom>
          <a:noFill/>
          <a:ln/>
        </p:spPr>
        <p:txBody>
          <a:bodyPr wrap="square" lIns="0" tIns="0" rIns="0" bIns="0" rtlCol="0" anchor="ctr"/>
          <a:lstStyle/>
          <a:p>
            <a:pPr marL="0" indent="0">
              <a:buNone/>
            </a:pPr>
            <a:r>
              <a:rPr lang="en-US" sz="1150" b="1" dirty="0">
                <a:solidFill>
                  <a:srgbClr val="1E2761"/>
                </a:solidFill>
                <a:latin typeface="Calibri" pitchFamily="34" charset="0"/>
                <a:ea typeface="Calibri" pitchFamily="34" charset="-122"/>
                <a:cs typeface="Calibri" pitchFamily="34" charset="-120"/>
              </a:rPr>
              <a:t>Ngoài phạm vi</a:t>
            </a:r>
            <a:endParaRPr lang="en-US" sz="1150" dirty="0"/>
          </a:p>
        </p:txBody>
      </p:sp>
      <p:sp>
        <p:nvSpPr>
          <p:cNvPr id="10" name="Text 8"/>
          <p:cNvSpPr txBox="1"/>
          <p:nvPr/>
        </p:nvSpPr>
        <p:spPr>
          <a:xfrm>
            <a:off x="4818888" y="1572768"/>
            <a:ext cx="3611880" cy="905256"/>
          </a:xfrm>
          <a:prstGeom prst="rect">
            <a:avLst/>
          </a:prstGeom>
          <a:noFill/>
          <a:ln/>
        </p:spPr>
        <p:txBody>
          <a:bodyPr wrap="square" lIns="0" tIns="0" rIns="0" bIns="0" rtlCol="0" anchor="ctr"/>
          <a:lstStyle/>
          <a:p>
            <a:pPr marL="342900" indent="-342900">
              <a:spcAft>
                <a:spcPts val="600"/>
              </a:spcAft>
              <a:buSzPct val="100000"/>
              <a:buChar char="•"/>
            </a:pPr>
            <a:r>
              <a:rPr lang="en-US" sz="1100" dirty="0">
                <a:solidFill>
                  <a:srgbClr val="222833"/>
                </a:solidFill>
                <a:latin typeface="Calibri" pitchFamily="34" charset="0"/>
                <a:ea typeface="Calibri" pitchFamily="34" charset="-122"/>
                <a:cs typeface="Calibri" pitchFamily="34" charset="-120"/>
              </a:rPr>
              <a:t>Không sửa kiến trúc phần mềm kho, nhân sự, ERP </a:t>
            </a:r>
            <a:r>
              <a:rPr lang="en-US" sz="1100" dirty="0" err="1">
                <a:solidFill>
                  <a:srgbClr val="222833"/>
                </a:solidFill>
                <a:latin typeface="Calibri" pitchFamily="34" charset="0"/>
                <a:ea typeface="Calibri" pitchFamily="34" charset="-122"/>
                <a:cs typeface="Calibri" pitchFamily="34" charset="-120"/>
              </a:rPr>
              <a:t>hiện</a:t>
            </a:r>
            <a:r>
              <a:rPr lang="en-US" sz="1100" dirty="0">
                <a:solidFill>
                  <a:srgbClr val="222833"/>
                </a:solidFill>
                <a:latin typeface="Calibri" pitchFamily="34" charset="0"/>
                <a:ea typeface="Calibri" pitchFamily="34" charset="-122"/>
                <a:cs typeface="Calibri" pitchFamily="34" charset="-120"/>
              </a:rPr>
              <a:t> </a:t>
            </a:r>
            <a:r>
              <a:rPr lang="en-US" sz="1100" dirty="0" err="1">
                <a:solidFill>
                  <a:srgbClr val="222833"/>
                </a:solidFill>
                <a:latin typeface="Calibri" pitchFamily="34" charset="0"/>
                <a:ea typeface="Calibri" pitchFamily="34" charset="-122"/>
                <a:cs typeface="Calibri" pitchFamily="34" charset="-120"/>
              </a:rPr>
              <a:t>hành</a:t>
            </a:r>
            <a:endParaRPr lang="en-US" sz="1100" dirty="0"/>
          </a:p>
        </p:txBody>
      </p:sp>
      <p:sp>
        <p:nvSpPr>
          <p:cNvPr id="11" name="Shape 9"/>
          <p:cNvSpPr/>
          <p:nvPr/>
        </p:nvSpPr>
        <p:spPr>
          <a:xfrm>
            <a:off x="548640" y="2834640"/>
            <a:ext cx="3977640" cy="1783080"/>
          </a:xfrm>
          <a:prstGeom prst="roundRect">
            <a:avLst>
              <a:gd name="adj" fmla="val 3077"/>
            </a:avLst>
          </a:prstGeom>
          <a:solidFill>
            <a:srgbClr val="FDF0DC"/>
          </a:solidFill>
          <a:ln w="6350">
            <a:solidFill>
              <a:srgbClr val="FDF0DC"/>
            </a:solidFill>
            <a:prstDash val="solid"/>
          </a:ln>
        </p:spPr>
        <p:txBody>
          <a:bodyPr/>
          <a:lstStyle/>
          <a:p>
            <a:endParaRPr lang="en-US"/>
          </a:p>
        </p:txBody>
      </p:sp>
      <p:sp>
        <p:nvSpPr>
          <p:cNvPr id="12" name="Text 10"/>
          <p:cNvSpPr txBox="1"/>
          <p:nvPr/>
        </p:nvSpPr>
        <p:spPr>
          <a:xfrm>
            <a:off x="749808" y="2953512"/>
            <a:ext cx="3611880" cy="237744"/>
          </a:xfrm>
          <a:prstGeom prst="rect">
            <a:avLst/>
          </a:prstGeom>
          <a:noFill/>
          <a:ln/>
        </p:spPr>
        <p:txBody>
          <a:bodyPr wrap="square" lIns="0" tIns="0" rIns="0" bIns="0" rtlCol="0" anchor="ctr"/>
          <a:lstStyle/>
          <a:p>
            <a:pPr marL="0" indent="0">
              <a:buNone/>
            </a:pPr>
            <a:r>
              <a:rPr lang="en-US" sz="1150" b="1" dirty="0">
                <a:solidFill>
                  <a:srgbClr val="1E2761"/>
                </a:solidFill>
                <a:latin typeface="Calibri" pitchFamily="34" charset="0"/>
                <a:ea typeface="Calibri" pitchFamily="34" charset="-122"/>
                <a:cs typeface="Calibri" pitchFamily="34" charset="-120"/>
              </a:rPr>
              <a:t>Giới hạn vai trò AI</a:t>
            </a:r>
            <a:endParaRPr lang="en-US" sz="1150" dirty="0"/>
          </a:p>
        </p:txBody>
      </p:sp>
      <p:sp>
        <p:nvSpPr>
          <p:cNvPr id="13" name="Text 11"/>
          <p:cNvSpPr txBox="1"/>
          <p:nvPr/>
        </p:nvSpPr>
        <p:spPr>
          <a:xfrm>
            <a:off x="749808" y="3236976"/>
            <a:ext cx="3611880" cy="1271016"/>
          </a:xfrm>
          <a:prstGeom prst="rect">
            <a:avLst/>
          </a:prstGeom>
          <a:noFill/>
          <a:ln/>
        </p:spPr>
        <p:txBody>
          <a:bodyPr wrap="square" lIns="0" tIns="0" rIns="0" bIns="0" rtlCol="0" anchor="ctr"/>
          <a:lstStyle/>
          <a:p>
            <a:pPr marL="342900" indent="-342900">
              <a:spcAft>
                <a:spcPts val="600"/>
              </a:spcAft>
              <a:buSzPct val="100000"/>
              <a:buChar char="•"/>
            </a:pPr>
            <a:r>
              <a:rPr lang="en-US" sz="1100" dirty="0">
                <a:solidFill>
                  <a:srgbClr val="222833"/>
                </a:solidFill>
                <a:latin typeface="Calibri" pitchFamily="34" charset="0"/>
                <a:ea typeface="Calibri" pitchFamily="34" charset="-122"/>
                <a:cs typeface="Calibri" pitchFamily="34" charset="-120"/>
              </a:rPr>
              <a:t>AI chỉ hỗ trợ ra quyết định; quản lý con người chốt quyết định cuối cùng</a:t>
            </a:r>
            <a:endParaRPr lang="en-US" sz="1100" dirty="0"/>
          </a:p>
          <a:p>
            <a:pPr marL="342900" indent="-342900">
              <a:spcAft>
                <a:spcPts val="600"/>
              </a:spcAft>
              <a:buSzPct val="100000"/>
              <a:buChar char="•"/>
            </a:pPr>
            <a:r>
              <a:rPr lang="en-US" sz="1100" dirty="0">
                <a:solidFill>
                  <a:srgbClr val="222833"/>
                </a:solidFill>
                <a:latin typeface="Calibri" pitchFamily="34" charset="0"/>
                <a:ea typeface="Calibri" pitchFamily="34" charset="-122"/>
                <a:cs typeface="Calibri" pitchFamily="34" charset="-120"/>
              </a:rPr>
              <a:t>Độ chính xác suy giảm với sự kiện đột biến không có mẫu lịch sử; cần tái huấn luyện hàng tháng</a:t>
            </a:r>
            <a:endParaRPr lang="en-US" sz="1100" dirty="0"/>
          </a:p>
        </p:txBody>
      </p:sp>
      <p:sp>
        <p:nvSpPr>
          <p:cNvPr id="14" name="Shape 12"/>
          <p:cNvSpPr/>
          <p:nvPr/>
        </p:nvSpPr>
        <p:spPr>
          <a:xfrm>
            <a:off x="4617720" y="2834640"/>
            <a:ext cx="3977640" cy="1783080"/>
          </a:xfrm>
          <a:prstGeom prst="roundRect">
            <a:avLst>
              <a:gd name="adj" fmla="val 3077"/>
            </a:avLst>
          </a:prstGeom>
          <a:solidFill>
            <a:srgbClr val="FDF0DC"/>
          </a:solidFill>
          <a:ln w="6350">
            <a:solidFill>
              <a:srgbClr val="FDF0DC"/>
            </a:solidFill>
            <a:prstDash val="solid"/>
          </a:ln>
        </p:spPr>
        <p:txBody>
          <a:bodyPr/>
          <a:lstStyle/>
          <a:p>
            <a:endParaRPr lang="en-US"/>
          </a:p>
        </p:txBody>
      </p:sp>
      <p:sp>
        <p:nvSpPr>
          <p:cNvPr id="15" name="Text 13"/>
          <p:cNvSpPr txBox="1"/>
          <p:nvPr/>
        </p:nvSpPr>
        <p:spPr>
          <a:xfrm>
            <a:off x="4818888" y="2953512"/>
            <a:ext cx="3611880" cy="237744"/>
          </a:xfrm>
          <a:prstGeom prst="rect">
            <a:avLst/>
          </a:prstGeom>
          <a:noFill/>
          <a:ln/>
        </p:spPr>
        <p:txBody>
          <a:bodyPr wrap="square" lIns="0" tIns="0" rIns="0" bIns="0" rtlCol="0" anchor="ctr"/>
          <a:lstStyle/>
          <a:p>
            <a:pPr marL="0" indent="0">
              <a:buNone/>
            </a:pPr>
            <a:r>
              <a:rPr lang="en-US" sz="1150" b="1" dirty="0">
                <a:solidFill>
                  <a:srgbClr val="1E2761"/>
                </a:solidFill>
                <a:latin typeface="Calibri" pitchFamily="34" charset="0"/>
                <a:ea typeface="Calibri" pitchFamily="34" charset="-122"/>
                <a:cs typeface="Calibri" pitchFamily="34" charset="-120"/>
              </a:rPr>
              <a:t>Phương án kỹ thuật dự phòng</a:t>
            </a:r>
            <a:endParaRPr lang="en-US" sz="1150" dirty="0"/>
          </a:p>
        </p:txBody>
      </p:sp>
      <p:sp>
        <p:nvSpPr>
          <p:cNvPr id="16" name="Text 14"/>
          <p:cNvSpPr txBox="1"/>
          <p:nvPr/>
        </p:nvSpPr>
        <p:spPr>
          <a:xfrm>
            <a:off x="4818888" y="3236976"/>
            <a:ext cx="3611880" cy="1271016"/>
          </a:xfrm>
          <a:prstGeom prst="rect">
            <a:avLst/>
          </a:prstGeom>
          <a:noFill/>
          <a:ln/>
        </p:spPr>
        <p:txBody>
          <a:bodyPr wrap="square" lIns="0" tIns="0" rIns="0" bIns="0" rtlCol="0" anchor="ctr"/>
          <a:lstStyle/>
          <a:p>
            <a:pPr marL="342900" indent="-342900">
              <a:spcAft>
                <a:spcPts val="600"/>
              </a:spcAft>
              <a:buSzPct val="100000"/>
              <a:buChar char="•"/>
            </a:pPr>
            <a:r>
              <a:rPr lang="en-US" sz="1100" dirty="0">
                <a:solidFill>
                  <a:srgbClr val="222833"/>
                </a:solidFill>
                <a:latin typeface="Calibri" pitchFamily="34" charset="0"/>
                <a:ea typeface="Calibri" pitchFamily="34" charset="-122"/>
                <a:cs typeface="Calibri" pitchFamily="34" charset="-120"/>
              </a:rPr>
              <a:t>Nhóm cam kết ngưỡng chỉ số, không cam kết một thuật toán cụ thể</a:t>
            </a:r>
            <a:endParaRPr lang="en-US" sz="1100" dirty="0"/>
          </a:p>
          <a:p>
            <a:pPr marL="342900" indent="-342900">
              <a:spcAft>
                <a:spcPts val="600"/>
              </a:spcAft>
              <a:buSzPct val="100000"/>
              <a:buChar char="•"/>
            </a:pPr>
            <a:r>
              <a:rPr lang="en-US" sz="1100" dirty="0">
                <a:solidFill>
                  <a:srgbClr val="222833"/>
                </a:solidFill>
                <a:latin typeface="Calibri" pitchFamily="34" charset="0"/>
                <a:ea typeface="Calibri" pitchFamily="34" charset="-122"/>
                <a:cs typeface="Calibri" pitchFamily="34" charset="-120"/>
              </a:rPr>
              <a:t>Thực nghiệm song song TSFM, LSTM/BiLSTM, Prophet, ARIMA rồi chọn mô hình tốt và ổn định nhất</a:t>
            </a:r>
            <a:endParaRPr lang="en-US" sz="1100" dirty="0"/>
          </a:p>
          <a:p>
            <a:pPr marL="342900" indent="-342900">
              <a:spcAft>
                <a:spcPts val="600"/>
              </a:spcAft>
              <a:buSzPct val="100000"/>
              <a:buChar char="•"/>
            </a:pPr>
            <a:r>
              <a:rPr lang="en-US" sz="1100" dirty="0">
                <a:solidFill>
                  <a:srgbClr val="222833"/>
                </a:solidFill>
                <a:latin typeface="Calibri" pitchFamily="34" charset="0"/>
                <a:ea typeface="Calibri" pitchFamily="34" charset="-122"/>
                <a:cs typeface="Calibri" pitchFamily="34" charset="-120"/>
              </a:rPr>
              <a:t>Nếu chưa đạt tại Pilot: phát hành chế độ beta, giữ Moving Average làm fallback, lập Change Request</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3" name="Text 1"/>
          <p:cNvSpPr txBox="1"/>
          <p:nvPr/>
        </p:nvSpPr>
        <p:spPr>
          <a:xfrm>
            <a:off x="548640" y="475488"/>
            <a:ext cx="8046720" cy="777240"/>
          </a:xfrm>
          <a:prstGeom prst="rect">
            <a:avLst/>
          </a:prstGeom>
          <a:noFill/>
          <a:ln/>
        </p:spPr>
        <p:txBody>
          <a:bodyPr wrap="square" lIns="0" tIns="0" rIns="0" bIns="0" rtlCol="0" anchor="t"/>
          <a:lstStyle/>
          <a:p>
            <a:pPr marL="0" indent="0">
              <a:buNone/>
            </a:pPr>
            <a:r>
              <a:rPr lang="en-US" sz="2500" b="1" dirty="0">
                <a:solidFill>
                  <a:srgbClr val="1E2761"/>
                </a:solidFill>
                <a:latin typeface="Cambria" pitchFamily="34" charset="0"/>
                <a:ea typeface="Cambria" pitchFamily="34" charset="-122"/>
                <a:cs typeface="Cambria" pitchFamily="34" charset="-120"/>
              </a:rPr>
              <a:t>Use case: tác nhân, luồng chính, ngoại lệ</a:t>
            </a:r>
            <a:endParaRPr lang="en-US" sz="25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8046720" cy="3291840"/>
        </p:xfrm>
        <a:graphic>
          <a:graphicData uri="http://schemas.openxmlformats.org/drawingml/2006/table">
            <a:tbl>
              <a:tblPr/>
              <a:tblGrid>
                <a:gridCol w="640080">
                  <a:extLst>
                    <a:ext uri="{9D8B030D-6E8A-4147-A177-3AD203B41FA5}">
                      <a16:colId xmlns:a16="http://schemas.microsoft.com/office/drawing/2014/main" val="20000"/>
                    </a:ext>
                  </a:extLst>
                </a:gridCol>
                <a:gridCol w="169164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2514600">
                  <a:extLst>
                    <a:ext uri="{9D8B030D-6E8A-4147-A177-3AD203B41FA5}">
                      <a16:colId xmlns:a16="http://schemas.microsoft.com/office/drawing/2014/main" val="20003"/>
                    </a:ext>
                  </a:extLst>
                </a:gridCol>
                <a:gridCol w="2011680">
                  <a:extLst>
                    <a:ext uri="{9D8B030D-6E8A-4147-A177-3AD203B41FA5}">
                      <a16:colId xmlns:a16="http://schemas.microsoft.com/office/drawing/2014/main" val="20004"/>
                    </a:ext>
                  </a:extLst>
                </a:gridCol>
              </a:tblGrid>
              <a:tr h="548640">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ID</a:t>
                      </a:r>
                      <a:endParaRPr lang="en-US" sz="10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Nghiệp vụ</a:t>
                      </a:r>
                      <a:endParaRPr lang="en-US" sz="10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Tác nhân</a:t>
                      </a:r>
                      <a:endParaRPr lang="en-US" sz="10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Luồng chính</a:t>
                      </a:r>
                      <a:endParaRPr lang="en-US" sz="10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Ngoại lệ</a:t>
                      </a:r>
                      <a:endParaRPr lang="en-US" sz="10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548640">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BR-01</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Xem dự báo lưu lượng khách</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Quản lý chi nhánh</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Đăng nhập → chọn chi nhánh &amp; thời gian → API trả dữ liệu dự báo</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API lỗi → hiển thị dữ liệu lịch sử tuần trước</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extLst>
                  <a:ext uri="{0D108BD9-81ED-4DB2-BD59-A6C34878D82A}">
                    <a16:rowId xmlns:a16="http://schemas.microsoft.com/office/drawing/2014/main" val="10001"/>
                  </a:ext>
                </a:extLst>
              </a:tr>
              <a:tr h="548640">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BR-02</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Nhận cảnh báo giờ cao điểm</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Bộ phận Điều phối</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Hệ thống phân tích dự báo → nếu &gt; 1,5× trung bình thì tự gửi cảnh báo</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Gửi webhook thất bại → đẩy noti trên dashboard</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extLst>
                  <a:ext uri="{0D108BD9-81ED-4DB2-BD59-A6C34878D82A}">
                    <a16:rowId xmlns:a16="http://schemas.microsoft.com/office/drawing/2014/main" val="10002"/>
                  </a:ext>
                </a:extLst>
              </a:tr>
              <a:tr h="548640">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BR-03</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Tự động hoá pipeline dữ liệu</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Hệ thống (Cronjob)</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01:00 kết nối POS → trích xuất → làm sạch → nạp Data Warehouse</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Rớt kết nối → retry 3 lần → alert Data Engineer</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extLst>
                  <a:ext uri="{0D108BD9-81ED-4DB2-BD59-A6C34878D82A}">
                    <a16:rowId xmlns:a16="http://schemas.microsoft.com/office/drawing/2014/main" val="10003"/>
                  </a:ext>
                </a:extLst>
              </a:tr>
              <a:tr h="548640">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BR-04</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Giám sát trạng thái hệ thống</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Kỹ sư vận hành</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Truy cập Grafana → xem metrics pipeline, API, model, tài nguyên</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Mất Prometheus → cảnh báo khẩn PagerDuty/Slack</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extLst>
                  <a:ext uri="{0D108BD9-81ED-4DB2-BD59-A6C34878D82A}">
                    <a16:rowId xmlns:a16="http://schemas.microsoft.com/office/drawing/2014/main" val="10004"/>
                  </a:ext>
                </a:extLst>
              </a:tr>
              <a:tr h="548640">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BR-05</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Lập kế hoạch nhập hàng</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Bộ phận Kho hàng</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Xem dự báo tổng hợp → xuất báo cáo nhu cầu 7 ngày</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Thiếu dữ liệu → cảnh báo độ tin cậy thấp</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3" name="Text 1"/>
          <p:cNvSpPr txBox="1"/>
          <p:nvPr/>
        </p:nvSpPr>
        <p:spPr>
          <a:xfrm>
            <a:off x="548640" y="475488"/>
            <a:ext cx="8046720" cy="777240"/>
          </a:xfrm>
          <a:prstGeom prst="rect">
            <a:avLst/>
          </a:prstGeom>
          <a:noFill/>
          <a:ln/>
        </p:spPr>
        <p:txBody>
          <a:bodyPr wrap="square" lIns="0" tIns="0" rIns="0" bIns="0" rtlCol="0" anchor="t"/>
          <a:lstStyle/>
          <a:p>
            <a:pPr marL="0" indent="0">
              <a:buNone/>
            </a:pPr>
            <a:r>
              <a:rPr lang="en-US" sz="2500" b="1" dirty="0">
                <a:solidFill>
                  <a:srgbClr val="1E2761"/>
                </a:solidFill>
                <a:latin typeface="Cambria" pitchFamily="34" charset="0"/>
                <a:ea typeface="Cambria" pitchFamily="34" charset="-122"/>
                <a:cs typeface="Cambria" pitchFamily="34" charset="-120"/>
              </a:rPr>
              <a:t>13 yêu cầu chức năng theo 3 module</a:t>
            </a:r>
            <a:endParaRPr lang="en-US" sz="2500" dirty="0"/>
          </a:p>
        </p:txBody>
      </p:sp>
      <p:sp>
        <p:nvSpPr>
          <p:cNvPr id="5" name="Shape 3"/>
          <p:cNvSpPr/>
          <p:nvPr/>
        </p:nvSpPr>
        <p:spPr>
          <a:xfrm>
            <a:off x="548640" y="1325880"/>
            <a:ext cx="2286000" cy="3017520"/>
          </a:xfrm>
          <a:prstGeom prst="roundRect">
            <a:avLst>
              <a:gd name="adj" fmla="val 2400"/>
            </a:avLst>
          </a:prstGeom>
          <a:solidFill>
            <a:srgbClr val="E8F0FE"/>
          </a:solidFill>
          <a:ln w="6350">
            <a:solidFill>
              <a:srgbClr val="E8F0FE"/>
            </a:solidFill>
            <a:prstDash val="solid"/>
          </a:ln>
        </p:spPr>
        <p:txBody>
          <a:bodyPr/>
          <a:lstStyle/>
          <a:p>
            <a:endParaRPr lang="en-US"/>
          </a:p>
        </p:txBody>
      </p:sp>
      <p:sp>
        <p:nvSpPr>
          <p:cNvPr id="6" name="Text 4"/>
          <p:cNvSpPr txBox="1"/>
          <p:nvPr/>
        </p:nvSpPr>
        <p:spPr>
          <a:xfrm>
            <a:off x="731520" y="1364566"/>
            <a:ext cx="1920240" cy="457200"/>
          </a:xfrm>
          <a:prstGeom prst="rect">
            <a:avLst/>
          </a:prstGeom>
          <a:noFill/>
          <a:ln/>
        </p:spPr>
        <p:txBody>
          <a:bodyPr wrap="square" lIns="0" tIns="0" rIns="0" bIns="0" rtlCol="0" anchor="ctr"/>
          <a:lstStyle/>
          <a:p>
            <a:pPr marL="0" indent="0">
              <a:buNone/>
            </a:pPr>
            <a:r>
              <a:rPr lang="en-US" sz="1100" b="1" dirty="0">
                <a:solidFill>
                  <a:srgbClr val="1E2761"/>
                </a:solidFill>
                <a:latin typeface="Calibri" pitchFamily="34" charset="0"/>
                <a:ea typeface="Calibri" pitchFamily="34" charset="-122"/>
                <a:cs typeface="Calibri" pitchFamily="34" charset="-120"/>
              </a:rPr>
              <a:t>Module 1 — Data Pipeline</a:t>
            </a:r>
            <a:endParaRPr lang="en-US" sz="1100" dirty="0"/>
          </a:p>
        </p:txBody>
      </p:sp>
      <p:sp>
        <p:nvSpPr>
          <p:cNvPr id="7" name="Text 5"/>
          <p:cNvSpPr txBox="1"/>
          <p:nvPr/>
        </p:nvSpPr>
        <p:spPr>
          <a:xfrm>
            <a:off x="731520" y="1714500"/>
            <a:ext cx="1920240" cy="2240280"/>
          </a:xfrm>
          <a:prstGeom prst="rect">
            <a:avLst/>
          </a:prstGeom>
          <a:noFill/>
          <a:ln/>
        </p:spPr>
        <p:txBody>
          <a:bodyPr wrap="square" lIns="0" tIns="0" rIns="0" bIns="0" rtlCol="0" anchor="ctr"/>
          <a:lstStyle/>
          <a:p>
            <a:pPr marL="342900" indent="-342900">
              <a:spcAft>
                <a:spcPts val="700"/>
              </a:spcAft>
              <a:buSzPct val="100000"/>
              <a:buChar char="•"/>
            </a:pPr>
            <a:r>
              <a:rPr lang="en-US" sz="1100" dirty="0" err="1">
                <a:solidFill>
                  <a:srgbClr val="222833"/>
                </a:solidFill>
                <a:latin typeface="Calibri" pitchFamily="34" charset="0"/>
                <a:ea typeface="Calibri" pitchFamily="34" charset="-122"/>
                <a:cs typeface="Calibri" pitchFamily="34" charset="-120"/>
              </a:rPr>
              <a:t>Trích</a:t>
            </a:r>
            <a:r>
              <a:rPr lang="en-US" sz="1100" dirty="0">
                <a:solidFill>
                  <a:srgbClr val="222833"/>
                </a:solidFill>
                <a:latin typeface="Calibri" pitchFamily="34" charset="0"/>
                <a:ea typeface="Calibri" pitchFamily="34" charset="-122"/>
                <a:cs typeface="Calibri" pitchFamily="34" charset="-120"/>
              </a:rPr>
              <a:t> xuất POS tự động qua TLS, batch 01:00 AM</a:t>
            </a:r>
            <a:endParaRPr lang="en-US" sz="1100" dirty="0"/>
          </a:p>
          <a:p>
            <a:pPr marL="342900" indent="-342900">
              <a:spcAft>
                <a:spcPts val="700"/>
              </a:spcAft>
              <a:buSzPct val="100000"/>
              <a:buChar char="•"/>
            </a:pPr>
            <a:r>
              <a:rPr lang="en-US" sz="1100" dirty="0" err="1">
                <a:solidFill>
                  <a:srgbClr val="222833"/>
                </a:solidFill>
                <a:latin typeface="Calibri" pitchFamily="34" charset="0"/>
                <a:ea typeface="Calibri" pitchFamily="34" charset="-122"/>
                <a:cs typeface="Calibri" pitchFamily="34" charset="-120"/>
              </a:rPr>
              <a:t>Làm</a:t>
            </a:r>
            <a:r>
              <a:rPr lang="en-US" sz="1100" dirty="0">
                <a:solidFill>
                  <a:srgbClr val="222833"/>
                </a:solidFill>
                <a:latin typeface="Calibri" pitchFamily="34" charset="0"/>
                <a:ea typeface="Calibri" pitchFamily="34" charset="-122"/>
                <a:cs typeface="Calibri" pitchFamily="34" charset="-120"/>
              </a:rPr>
              <a:t> sạch, khử trùng lặp, chuẩn hóa schema</a:t>
            </a:r>
            <a:endParaRPr lang="en-US" sz="1100" dirty="0"/>
          </a:p>
          <a:p>
            <a:pPr marL="342900" indent="-342900">
              <a:spcAft>
                <a:spcPts val="700"/>
              </a:spcAft>
              <a:buSzPct val="100000"/>
              <a:buChar char="•"/>
            </a:pPr>
            <a:r>
              <a:rPr lang="en-US" sz="1100" dirty="0" err="1">
                <a:solidFill>
                  <a:srgbClr val="222833"/>
                </a:solidFill>
                <a:latin typeface="Calibri" pitchFamily="34" charset="0"/>
                <a:ea typeface="Calibri" pitchFamily="34" charset="-122"/>
                <a:cs typeface="Calibri" pitchFamily="34" charset="-120"/>
              </a:rPr>
              <a:t>Nạp</a:t>
            </a:r>
            <a:r>
              <a:rPr lang="en-US" sz="1100" dirty="0">
                <a:solidFill>
                  <a:srgbClr val="222833"/>
                </a:solidFill>
                <a:latin typeface="Calibri" pitchFamily="34" charset="0"/>
                <a:ea typeface="Calibri" pitchFamily="34" charset="-122"/>
                <a:cs typeface="Calibri" pitchFamily="34" charset="-120"/>
              </a:rPr>
              <a:t> Data Warehouse theo quy trình ELT</a:t>
            </a:r>
            <a:endParaRPr lang="en-US" sz="1100" dirty="0"/>
          </a:p>
          <a:p>
            <a:pPr marL="342900" indent="-342900">
              <a:spcAft>
                <a:spcPts val="700"/>
              </a:spcAft>
              <a:buSzPct val="100000"/>
              <a:buChar char="•"/>
            </a:pPr>
            <a:r>
              <a:rPr lang="en-US" sz="1100" dirty="0" err="1">
                <a:solidFill>
                  <a:srgbClr val="222833"/>
                </a:solidFill>
                <a:latin typeface="Calibri" pitchFamily="34" charset="0"/>
                <a:ea typeface="Calibri" pitchFamily="34" charset="-122"/>
                <a:cs typeface="Calibri" pitchFamily="34" charset="-120"/>
              </a:rPr>
              <a:t>Ghi</a:t>
            </a:r>
            <a:r>
              <a:rPr lang="en-US" sz="1100" dirty="0">
                <a:solidFill>
                  <a:srgbClr val="222833"/>
                </a:solidFill>
                <a:latin typeface="Calibri" pitchFamily="34" charset="0"/>
                <a:ea typeface="Calibri" pitchFamily="34" charset="-122"/>
                <a:cs typeface="Calibri" pitchFamily="34" charset="-120"/>
              </a:rPr>
              <a:t> log trạng thái mỗi lần chạy batch</a:t>
            </a:r>
            <a:endParaRPr lang="en-US" sz="1100" dirty="0"/>
          </a:p>
        </p:txBody>
      </p:sp>
      <p:sp>
        <p:nvSpPr>
          <p:cNvPr id="8" name="Shape 6"/>
          <p:cNvSpPr/>
          <p:nvPr/>
        </p:nvSpPr>
        <p:spPr>
          <a:xfrm>
            <a:off x="3429000" y="1325880"/>
            <a:ext cx="2286000" cy="3017520"/>
          </a:xfrm>
          <a:prstGeom prst="roundRect">
            <a:avLst>
              <a:gd name="adj" fmla="val 2400"/>
            </a:avLst>
          </a:prstGeom>
          <a:solidFill>
            <a:srgbClr val="E8F0FE"/>
          </a:solidFill>
          <a:ln w="6350">
            <a:solidFill>
              <a:srgbClr val="E8F0FE"/>
            </a:solidFill>
            <a:prstDash val="solid"/>
          </a:ln>
        </p:spPr>
        <p:txBody>
          <a:bodyPr/>
          <a:lstStyle/>
          <a:p>
            <a:endParaRPr lang="en-US"/>
          </a:p>
        </p:txBody>
      </p:sp>
      <p:sp>
        <p:nvSpPr>
          <p:cNvPr id="9" name="Text 7"/>
          <p:cNvSpPr txBox="1"/>
          <p:nvPr/>
        </p:nvSpPr>
        <p:spPr>
          <a:xfrm>
            <a:off x="3611880" y="1463040"/>
            <a:ext cx="1920240" cy="457200"/>
          </a:xfrm>
          <a:prstGeom prst="rect">
            <a:avLst/>
          </a:prstGeom>
          <a:noFill/>
          <a:ln/>
        </p:spPr>
        <p:txBody>
          <a:bodyPr wrap="square" lIns="0" tIns="0" rIns="0" bIns="0" rtlCol="0" anchor="ctr"/>
          <a:lstStyle/>
          <a:p>
            <a:pPr marL="0" indent="0">
              <a:buNone/>
            </a:pPr>
            <a:r>
              <a:rPr lang="en-US" sz="1100" b="1" dirty="0">
                <a:solidFill>
                  <a:srgbClr val="1E2761"/>
                </a:solidFill>
                <a:latin typeface="Calibri" pitchFamily="34" charset="0"/>
                <a:ea typeface="Calibri" pitchFamily="34" charset="-122"/>
                <a:cs typeface="Calibri" pitchFamily="34" charset="-120"/>
              </a:rPr>
              <a:t>Module 2 — AI Forecasting Engine</a:t>
            </a:r>
            <a:endParaRPr lang="en-US" sz="1100" dirty="0"/>
          </a:p>
        </p:txBody>
      </p:sp>
      <p:sp>
        <p:nvSpPr>
          <p:cNvPr id="10" name="Text 8"/>
          <p:cNvSpPr txBox="1"/>
          <p:nvPr/>
        </p:nvSpPr>
        <p:spPr>
          <a:xfrm>
            <a:off x="3611880" y="1965960"/>
            <a:ext cx="1920240" cy="2240280"/>
          </a:xfrm>
          <a:prstGeom prst="rect">
            <a:avLst/>
          </a:prstGeom>
          <a:noFill/>
          <a:ln/>
        </p:spPr>
        <p:txBody>
          <a:bodyPr wrap="square" lIns="0" tIns="0" rIns="0" bIns="0" rtlCol="0" anchor="ctr"/>
          <a:lstStyle/>
          <a:p>
            <a:pPr marL="342900" indent="-342900">
              <a:spcAft>
                <a:spcPts val="700"/>
              </a:spcAft>
              <a:buSzPct val="100000"/>
              <a:buChar char="•"/>
            </a:pPr>
            <a:r>
              <a:rPr lang="en-US" sz="1100" dirty="0" err="1">
                <a:solidFill>
                  <a:srgbClr val="222833"/>
                </a:solidFill>
                <a:latin typeface="Calibri" pitchFamily="34" charset="0"/>
                <a:ea typeface="Calibri" pitchFamily="34" charset="-122"/>
                <a:cs typeface="Calibri" pitchFamily="34" charset="-120"/>
              </a:rPr>
              <a:t>Huấn</a:t>
            </a:r>
            <a:r>
              <a:rPr lang="en-US" sz="1100" dirty="0">
                <a:solidFill>
                  <a:srgbClr val="222833"/>
                </a:solidFill>
                <a:latin typeface="Calibri" pitchFamily="34" charset="0"/>
                <a:ea typeface="Calibri" pitchFamily="34" charset="-122"/>
                <a:cs typeface="Calibri" pitchFamily="34" charset="-120"/>
              </a:rPr>
              <a:t> luyện trên ≥ 12 tháng dữ liệu, retrain hàng tháng</a:t>
            </a:r>
            <a:endParaRPr lang="en-US" sz="1100" dirty="0"/>
          </a:p>
          <a:p>
            <a:pPr marL="342900" indent="-342900">
              <a:spcAft>
                <a:spcPts val="700"/>
              </a:spcAft>
              <a:buSzPct val="100000"/>
              <a:buChar char="•"/>
            </a:pPr>
            <a:r>
              <a:rPr lang="en-US" sz="1100" dirty="0" err="1">
                <a:solidFill>
                  <a:srgbClr val="222833"/>
                </a:solidFill>
                <a:latin typeface="Calibri" pitchFamily="34" charset="0"/>
                <a:ea typeface="Calibri" pitchFamily="34" charset="-122"/>
                <a:cs typeface="Calibri" pitchFamily="34" charset="-120"/>
              </a:rPr>
              <a:t>Dự</a:t>
            </a:r>
            <a:r>
              <a:rPr lang="en-US" sz="1100" dirty="0">
                <a:solidFill>
                  <a:srgbClr val="222833"/>
                </a:solidFill>
                <a:latin typeface="Calibri" pitchFamily="34" charset="0"/>
                <a:ea typeface="Calibri" pitchFamily="34" charset="-122"/>
                <a:cs typeface="Calibri" pitchFamily="34" charset="-120"/>
              </a:rPr>
              <a:t> báo theo khung giờ, 7 ngày tới, từng chi nhánh</a:t>
            </a:r>
            <a:endParaRPr lang="en-US" sz="1100" dirty="0"/>
          </a:p>
          <a:p>
            <a:pPr marL="342900" indent="-342900">
              <a:spcAft>
                <a:spcPts val="700"/>
              </a:spcAft>
              <a:buSzPct val="100000"/>
              <a:buChar char="•"/>
            </a:pPr>
            <a:r>
              <a:rPr lang="en-US" sz="1100" dirty="0" err="1">
                <a:solidFill>
                  <a:srgbClr val="222833"/>
                </a:solidFill>
                <a:latin typeface="Calibri" pitchFamily="34" charset="0"/>
                <a:ea typeface="Calibri" pitchFamily="34" charset="-122"/>
                <a:cs typeface="Calibri" pitchFamily="34" charset="-120"/>
              </a:rPr>
              <a:t>Gán</a:t>
            </a:r>
            <a:r>
              <a:rPr lang="en-US" sz="1100" dirty="0">
                <a:solidFill>
                  <a:srgbClr val="222833"/>
                </a:solidFill>
                <a:latin typeface="Calibri" pitchFamily="34" charset="0"/>
                <a:ea typeface="Calibri" pitchFamily="34" charset="-122"/>
                <a:cs typeface="Calibri" pitchFamily="34" charset="-120"/>
              </a:rPr>
              <a:t> nhãn peak khi vượt 1,5× trung bình</a:t>
            </a:r>
            <a:endParaRPr lang="en-US" sz="1100" dirty="0"/>
          </a:p>
          <a:p>
            <a:pPr marL="342900" indent="-342900">
              <a:spcAft>
                <a:spcPts val="700"/>
              </a:spcAft>
              <a:buSzPct val="100000"/>
              <a:buChar char="•"/>
            </a:pPr>
            <a:r>
              <a:rPr lang="en-US" sz="1100" dirty="0">
                <a:solidFill>
                  <a:srgbClr val="222833"/>
                </a:solidFill>
                <a:latin typeface="Calibri" pitchFamily="34" charset="0"/>
                <a:ea typeface="Calibri" pitchFamily="34" charset="-122"/>
                <a:cs typeface="Calibri" pitchFamily="34" charset="-120"/>
              </a:rPr>
              <a:t>Quản lý phiên bản mô hình, hỗ trợ rollback</a:t>
            </a:r>
            <a:endParaRPr lang="en-US" sz="1100" dirty="0"/>
          </a:p>
          <a:p>
            <a:pPr marL="342900" indent="-342900">
              <a:spcAft>
                <a:spcPts val="700"/>
              </a:spcAft>
              <a:buSzPct val="100000"/>
              <a:buChar char="•"/>
            </a:pPr>
            <a:r>
              <a:rPr lang="en-US" sz="1100" dirty="0">
                <a:solidFill>
                  <a:srgbClr val="222833"/>
                </a:solidFill>
                <a:latin typeface="Calibri" pitchFamily="34" charset="0"/>
                <a:ea typeface="Calibri" pitchFamily="34" charset="-122"/>
                <a:cs typeface="Calibri" pitchFamily="34" charset="-120"/>
              </a:rPr>
              <a:t>Benchmark song song ≥ 4 phương pháp</a:t>
            </a:r>
            <a:endParaRPr lang="en-US" sz="1100" dirty="0"/>
          </a:p>
        </p:txBody>
      </p:sp>
      <p:sp>
        <p:nvSpPr>
          <p:cNvPr id="11" name="Shape 9"/>
          <p:cNvSpPr/>
          <p:nvPr/>
        </p:nvSpPr>
        <p:spPr>
          <a:xfrm>
            <a:off x="6309360" y="1325880"/>
            <a:ext cx="2286000" cy="3017520"/>
          </a:xfrm>
          <a:prstGeom prst="roundRect">
            <a:avLst>
              <a:gd name="adj" fmla="val 2400"/>
            </a:avLst>
          </a:prstGeom>
          <a:solidFill>
            <a:srgbClr val="E8F0FE"/>
          </a:solidFill>
          <a:ln w="6350">
            <a:solidFill>
              <a:srgbClr val="E8F0FE"/>
            </a:solidFill>
            <a:prstDash val="solid"/>
          </a:ln>
        </p:spPr>
        <p:txBody>
          <a:bodyPr/>
          <a:lstStyle/>
          <a:p>
            <a:endParaRPr lang="en-US"/>
          </a:p>
        </p:txBody>
      </p:sp>
      <p:sp>
        <p:nvSpPr>
          <p:cNvPr id="12" name="Text 10"/>
          <p:cNvSpPr txBox="1"/>
          <p:nvPr/>
        </p:nvSpPr>
        <p:spPr>
          <a:xfrm>
            <a:off x="6492240" y="1463040"/>
            <a:ext cx="1920240" cy="457200"/>
          </a:xfrm>
          <a:prstGeom prst="rect">
            <a:avLst/>
          </a:prstGeom>
          <a:noFill/>
          <a:ln/>
        </p:spPr>
        <p:txBody>
          <a:bodyPr wrap="square" lIns="0" tIns="0" rIns="0" bIns="0" rtlCol="0" anchor="ctr"/>
          <a:lstStyle/>
          <a:p>
            <a:pPr marL="0" indent="0">
              <a:buNone/>
            </a:pPr>
            <a:r>
              <a:rPr lang="en-US" sz="1100" b="1" dirty="0">
                <a:solidFill>
                  <a:srgbClr val="1E2761"/>
                </a:solidFill>
                <a:latin typeface="Calibri" pitchFamily="34" charset="0"/>
                <a:ea typeface="Calibri" pitchFamily="34" charset="-122"/>
                <a:cs typeface="Calibri" pitchFamily="34" charset="-120"/>
              </a:rPr>
              <a:t>Module 3 — API &amp; Dashboard</a:t>
            </a:r>
            <a:endParaRPr lang="en-US" sz="1100" dirty="0"/>
          </a:p>
        </p:txBody>
      </p:sp>
      <p:sp>
        <p:nvSpPr>
          <p:cNvPr id="13" name="Text 11"/>
          <p:cNvSpPr txBox="1"/>
          <p:nvPr/>
        </p:nvSpPr>
        <p:spPr>
          <a:xfrm>
            <a:off x="6492240" y="1252728"/>
            <a:ext cx="1920240" cy="2240280"/>
          </a:xfrm>
          <a:prstGeom prst="rect">
            <a:avLst/>
          </a:prstGeom>
          <a:noFill/>
          <a:ln/>
        </p:spPr>
        <p:txBody>
          <a:bodyPr wrap="square" lIns="0" tIns="0" rIns="0" bIns="0" rtlCol="0" anchor="ctr"/>
          <a:lstStyle/>
          <a:p>
            <a:pPr marL="342900" indent="-342900">
              <a:spcAft>
                <a:spcPts val="700"/>
              </a:spcAft>
              <a:buSzPct val="100000"/>
              <a:buChar char="•"/>
            </a:pPr>
            <a:r>
              <a:rPr lang="en-US" sz="1100" dirty="0">
                <a:solidFill>
                  <a:srgbClr val="222833"/>
                </a:solidFill>
                <a:latin typeface="Calibri" pitchFamily="34" charset="0"/>
                <a:ea typeface="Calibri" pitchFamily="34" charset="-122"/>
                <a:cs typeface="Calibri" pitchFamily="34" charset="-120"/>
              </a:rPr>
              <a:t>Dashboard metrics pipeline, API và mô hình</a:t>
            </a:r>
            <a:endParaRPr lang="en-US" sz="1100" dirty="0"/>
          </a:p>
          <a:p>
            <a:pPr marL="342900" indent="-342900">
              <a:spcAft>
                <a:spcPts val="700"/>
              </a:spcAft>
              <a:buSzPct val="100000"/>
              <a:buChar char="•"/>
            </a:pPr>
            <a:r>
              <a:rPr lang="en-US" sz="1100" dirty="0" err="1">
                <a:solidFill>
                  <a:srgbClr val="222833"/>
                </a:solidFill>
                <a:latin typeface="Calibri" pitchFamily="34" charset="0"/>
                <a:ea typeface="Calibri" pitchFamily="34" charset="-122"/>
                <a:cs typeface="Calibri" pitchFamily="34" charset="-120"/>
              </a:rPr>
              <a:t>Xác</a:t>
            </a:r>
            <a:r>
              <a:rPr lang="en-US" sz="1100" dirty="0">
                <a:solidFill>
                  <a:srgbClr val="222833"/>
                </a:solidFill>
                <a:latin typeface="Calibri" pitchFamily="34" charset="0"/>
                <a:ea typeface="Calibri" pitchFamily="34" charset="-122"/>
                <a:cs typeface="Calibri" pitchFamily="34" charset="-120"/>
              </a:rPr>
              <a:t> thực API Key/JWT, phân quyền RBAC</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3" name="Text 1"/>
          <p:cNvSpPr txBox="1"/>
          <p:nvPr/>
        </p:nvSpPr>
        <p:spPr>
          <a:xfrm>
            <a:off x="548640" y="475488"/>
            <a:ext cx="8046720" cy="777240"/>
          </a:xfrm>
          <a:prstGeom prst="rect">
            <a:avLst/>
          </a:prstGeom>
          <a:noFill/>
          <a:ln/>
        </p:spPr>
        <p:txBody>
          <a:bodyPr wrap="square" lIns="0" tIns="0" rIns="0" bIns="0" rtlCol="0" anchor="t"/>
          <a:lstStyle/>
          <a:p>
            <a:pPr marL="0" indent="0">
              <a:buNone/>
            </a:pPr>
            <a:r>
              <a:rPr lang="en-US" sz="2500" b="1" dirty="0" err="1">
                <a:solidFill>
                  <a:srgbClr val="1E2761"/>
                </a:solidFill>
                <a:latin typeface="Cambria" pitchFamily="34" charset="0"/>
                <a:ea typeface="Cambria" pitchFamily="34" charset="-122"/>
                <a:cs typeface="Cambria" pitchFamily="34" charset="-120"/>
              </a:rPr>
              <a:t>Yêu</a:t>
            </a:r>
            <a:r>
              <a:rPr lang="en-US" sz="2500" b="1" dirty="0">
                <a:solidFill>
                  <a:srgbClr val="1E2761"/>
                </a:solidFill>
                <a:latin typeface="Cambria" pitchFamily="34" charset="0"/>
                <a:ea typeface="Cambria" pitchFamily="34" charset="-122"/>
                <a:cs typeface="Cambria" pitchFamily="34" charset="-120"/>
              </a:rPr>
              <a:t> </a:t>
            </a:r>
            <a:r>
              <a:rPr lang="en-US" sz="2500" b="1" dirty="0" err="1">
                <a:solidFill>
                  <a:srgbClr val="1E2761"/>
                </a:solidFill>
                <a:latin typeface="Cambria" pitchFamily="34" charset="0"/>
                <a:ea typeface="Cambria" pitchFamily="34" charset="-122"/>
                <a:cs typeface="Cambria" pitchFamily="34" charset="-120"/>
              </a:rPr>
              <a:t>cầu</a:t>
            </a:r>
            <a:r>
              <a:rPr lang="en-US" sz="2500" b="1" dirty="0">
                <a:solidFill>
                  <a:srgbClr val="1E2761"/>
                </a:solidFill>
                <a:latin typeface="Cambria" pitchFamily="34" charset="0"/>
                <a:ea typeface="Cambria" pitchFamily="34" charset="-122"/>
                <a:cs typeface="Cambria" pitchFamily="34" charset="-120"/>
              </a:rPr>
              <a:t> phi </a:t>
            </a:r>
            <a:r>
              <a:rPr lang="en-US" sz="2500" b="1" dirty="0" err="1">
                <a:solidFill>
                  <a:srgbClr val="1E2761"/>
                </a:solidFill>
                <a:latin typeface="Cambria" pitchFamily="34" charset="0"/>
                <a:ea typeface="Cambria" pitchFamily="34" charset="-122"/>
                <a:cs typeface="Cambria" pitchFamily="34" charset="-120"/>
              </a:rPr>
              <a:t>chức</a:t>
            </a:r>
            <a:r>
              <a:rPr lang="en-US" sz="2500" b="1" dirty="0">
                <a:solidFill>
                  <a:srgbClr val="1E2761"/>
                </a:solidFill>
                <a:latin typeface="Cambria" pitchFamily="34" charset="0"/>
                <a:ea typeface="Cambria" pitchFamily="34" charset="-122"/>
                <a:cs typeface="Cambria" pitchFamily="34" charset="-120"/>
              </a:rPr>
              <a:t> </a:t>
            </a:r>
            <a:r>
              <a:rPr lang="en-US" sz="2500" b="1" dirty="0" err="1">
                <a:solidFill>
                  <a:srgbClr val="1E2761"/>
                </a:solidFill>
                <a:latin typeface="Cambria" pitchFamily="34" charset="0"/>
                <a:ea typeface="Cambria" pitchFamily="34" charset="-122"/>
                <a:cs typeface="Cambria" pitchFamily="34" charset="-120"/>
              </a:rPr>
              <a:t>năng</a:t>
            </a:r>
            <a:r>
              <a:rPr lang="en-US" sz="2500" b="1" dirty="0">
                <a:solidFill>
                  <a:srgbClr val="1E2761"/>
                </a:solidFill>
                <a:latin typeface="Cambria" pitchFamily="34" charset="0"/>
                <a:ea typeface="Cambria" pitchFamily="34" charset="-122"/>
                <a:cs typeface="Cambria" pitchFamily="34" charset="-120"/>
              </a:rPr>
              <a:t> (NFR) </a:t>
            </a:r>
            <a:r>
              <a:rPr lang="en-US" sz="2500" b="1" dirty="0" err="1">
                <a:solidFill>
                  <a:srgbClr val="1E2761"/>
                </a:solidFill>
                <a:latin typeface="Cambria" pitchFamily="34" charset="0"/>
                <a:ea typeface="Cambria" pitchFamily="34" charset="-122"/>
                <a:cs typeface="Cambria" pitchFamily="34" charset="-120"/>
              </a:rPr>
              <a:t>với</a:t>
            </a:r>
            <a:r>
              <a:rPr lang="en-US" sz="2500" b="1" dirty="0">
                <a:solidFill>
                  <a:srgbClr val="1E2761"/>
                </a:solidFill>
                <a:latin typeface="Cambria" pitchFamily="34" charset="0"/>
                <a:ea typeface="Cambria" pitchFamily="34" charset="-122"/>
                <a:cs typeface="Cambria" pitchFamily="34" charset="-120"/>
              </a:rPr>
              <a:t> bộ KPI đã cam kết</a:t>
            </a:r>
            <a:endParaRPr lang="en-US" sz="25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8046720" cy="3127248"/>
        </p:xfrm>
        <a:graphic>
          <a:graphicData uri="http://schemas.openxmlformats.org/drawingml/2006/table">
            <a:tbl>
              <a:tblPr/>
              <a:tblGrid>
                <a:gridCol w="123444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tblGrid>
              <a:tr h="347472">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Nhóm NFR</a:t>
                      </a:r>
                      <a:endParaRPr lang="en-US" sz="10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Yêu cầu</a:t>
                      </a:r>
                      <a:endParaRPr lang="en-US" sz="10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Ngưỡng đo lường (tiêu chí test)</a:t>
                      </a:r>
                      <a:endParaRPr lang="en-US" sz="10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KPI liên kết</a:t>
                      </a:r>
                      <a:endParaRPr lang="en-US" sz="10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47472">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Hiệu năng</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Thời gian phản hồi API dự báo (P95)</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 500 ms / request</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B.1</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extLst>
                  <a:ext uri="{0D108BD9-81ED-4DB2-BD59-A6C34878D82A}">
                    <a16:rowId xmlns:a16="http://schemas.microsoft.com/office/drawing/2014/main" val="10001"/>
                  </a:ext>
                </a:extLst>
              </a:tr>
              <a:tr h="347472">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Hiệu năng</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Thời gian suy luận mô hình AI</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 200 ms / chi nhánh</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A.4</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extLst>
                  <a:ext uri="{0D108BD9-81ED-4DB2-BD59-A6C34878D82A}">
                    <a16:rowId xmlns:a16="http://schemas.microsoft.com/office/drawing/2014/main" val="10002"/>
                  </a:ext>
                </a:extLst>
              </a:tr>
              <a:tr h="347472">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Sẵn sàng</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Uptime dịch vụ API</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 99,9% (downtime ≤ 43,2 phút/tháng)</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B.3</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extLst>
                  <a:ext uri="{0D108BD9-81ED-4DB2-BD59-A6C34878D82A}">
                    <a16:rowId xmlns:a16="http://schemas.microsoft.com/office/drawing/2014/main" val="10003"/>
                  </a:ext>
                </a:extLst>
              </a:tr>
              <a:tr h="347472">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Sẵn sàng</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Thời gian phát hiện sự cố (MTTD)</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 15 phút</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B.7</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extLst>
                  <a:ext uri="{0D108BD9-81ED-4DB2-BD59-A6C34878D82A}">
                    <a16:rowId xmlns:a16="http://schemas.microsoft.com/office/drawing/2014/main" val="10004"/>
                  </a:ext>
                </a:extLst>
              </a:tr>
              <a:tr h="347472">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Dữ liệu</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Tính đầy đủ và độ trễ đồng bộ</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 99,5% · ≤ 24 giờ</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B.4, B.5</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extLst>
                  <a:ext uri="{0D108BD9-81ED-4DB2-BD59-A6C34878D82A}">
                    <a16:rowId xmlns:a16="http://schemas.microsoft.com/office/drawing/2014/main" val="10005"/>
                  </a:ext>
                </a:extLst>
              </a:tr>
              <a:tr h="347472">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Bảo mật</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Mã hóa kết nối và xác thực API</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TLS 1.2+ · bắt buộc API Key / JWT</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FR-12</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extLst>
                  <a:ext uri="{0D108BD9-81ED-4DB2-BD59-A6C34878D82A}">
                    <a16:rowId xmlns:a16="http://schemas.microsoft.com/office/drawing/2014/main" val="10006"/>
                  </a:ext>
                </a:extLst>
              </a:tr>
              <a:tr h="347472">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Mở rộng</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Scale số lượng chi nhánh</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Thêm lên 50 CN không cần đổi kiến trúc</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Giả định mục 4</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extLst>
                  <a:ext uri="{0D108BD9-81ED-4DB2-BD59-A6C34878D82A}">
                    <a16:rowId xmlns:a16="http://schemas.microsoft.com/office/drawing/2014/main" val="10007"/>
                  </a:ext>
                </a:extLst>
              </a:tr>
              <a:tr h="347472">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Tuân thủ</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Bảo mật thông tin cá nhân (PII)</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Dữ liệu giao dịch được ẩn danh 100%</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950" dirty="0">
                          <a:solidFill>
                            <a:srgbClr val="222833"/>
                          </a:solidFill>
                          <a:latin typeface="Calibri" pitchFamily="34" charset="0"/>
                          <a:ea typeface="Calibri" pitchFamily="34" charset="-122"/>
                          <a:cs typeface="Calibri" pitchFamily="34" charset="-120"/>
                        </a:rPr>
                        <a:t>Ràng buộc NĐ13</a:t>
                      </a:r>
                      <a:endParaRPr lang="en-US" sz="9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3" name="Text 1"/>
          <p:cNvSpPr txBox="1"/>
          <p:nvPr/>
        </p:nvSpPr>
        <p:spPr>
          <a:xfrm>
            <a:off x="548640" y="475488"/>
            <a:ext cx="8046720" cy="777240"/>
          </a:xfrm>
          <a:prstGeom prst="rect">
            <a:avLst/>
          </a:prstGeom>
          <a:noFill/>
          <a:ln/>
        </p:spPr>
        <p:txBody>
          <a:bodyPr wrap="square" lIns="0" tIns="0" rIns="0" bIns="0" rtlCol="0" anchor="t"/>
          <a:lstStyle/>
          <a:p>
            <a:pPr marL="0" indent="0">
              <a:buNone/>
            </a:pPr>
            <a:r>
              <a:rPr lang="en-US" sz="2500" b="1" dirty="0">
                <a:solidFill>
                  <a:srgbClr val="1E2761"/>
                </a:solidFill>
                <a:latin typeface="Cambria" pitchFamily="34" charset="0"/>
                <a:ea typeface="Cambria" pitchFamily="34" charset="-122"/>
                <a:cs typeface="Cambria" pitchFamily="34" charset="-120"/>
              </a:rPr>
              <a:t>Quy trình nghiệp vụ và luồng dữ liệu tự động</a:t>
            </a:r>
            <a:endParaRPr lang="en-US" sz="2500" dirty="0"/>
          </a:p>
        </p:txBody>
      </p:sp>
      <p:sp>
        <p:nvSpPr>
          <p:cNvPr id="5" name="Shape 3"/>
          <p:cNvSpPr/>
          <p:nvPr/>
        </p:nvSpPr>
        <p:spPr>
          <a:xfrm>
            <a:off x="548640" y="1325880"/>
            <a:ext cx="8046720" cy="512064"/>
          </a:xfrm>
          <a:prstGeom prst="roundRect">
            <a:avLst>
              <a:gd name="adj" fmla="val 10714"/>
            </a:avLst>
          </a:prstGeom>
          <a:solidFill>
            <a:srgbClr val="E8F0FE"/>
          </a:solidFill>
          <a:ln w="6350">
            <a:solidFill>
              <a:srgbClr val="E8F0FE"/>
            </a:solidFill>
            <a:prstDash val="solid"/>
          </a:ln>
        </p:spPr>
        <p:txBody>
          <a:bodyPr/>
          <a:lstStyle/>
          <a:p>
            <a:endParaRPr lang="en-US"/>
          </a:p>
        </p:txBody>
      </p:sp>
      <p:sp>
        <p:nvSpPr>
          <p:cNvPr id="6" name="Text 4"/>
          <p:cNvSpPr txBox="1"/>
          <p:nvPr/>
        </p:nvSpPr>
        <p:spPr>
          <a:xfrm>
            <a:off x="777240" y="1463040"/>
            <a:ext cx="777240" cy="237744"/>
          </a:xfrm>
          <a:prstGeom prst="rect">
            <a:avLst/>
          </a:prstGeom>
          <a:noFill/>
          <a:ln/>
        </p:spPr>
        <p:txBody>
          <a:bodyPr wrap="square" lIns="0" tIns="0" rIns="0" bIns="0" rtlCol="0" anchor="ctr"/>
          <a:lstStyle/>
          <a:p>
            <a:pPr marL="0" indent="0">
              <a:buNone/>
            </a:pPr>
            <a:r>
              <a:rPr lang="en-US" sz="1050" b="1" dirty="0">
                <a:solidFill>
                  <a:srgbClr val="1E2761"/>
                </a:solidFill>
                <a:latin typeface="Calibri" pitchFamily="34" charset="0"/>
                <a:ea typeface="Calibri" pitchFamily="34" charset="-122"/>
                <a:cs typeface="Calibri" pitchFamily="34" charset="-120"/>
              </a:rPr>
              <a:t>24/7</a:t>
            </a:r>
            <a:endParaRPr lang="en-US" sz="1050" dirty="0"/>
          </a:p>
        </p:txBody>
      </p:sp>
      <p:sp>
        <p:nvSpPr>
          <p:cNvPr id="7" name="Text 5"/>
          <p:cNvSpPr txBox="1"/>
          <p:nvPr/>
        </p:nvSpPr>
        <p:spPr>
          <a:xfrm>
            <a:off x="1645920" y="1463040"/>
            <a:ext cx="1371600" cy="237744"/>
          </a:xfrm>
          <a:prstGeom prst="rect">
            <a:avLst/>
          </a:prstGeom>
          <a:noFill/>
          <a:ln/>
        </p:spPr>
        <p:txBody>
          <a:bodyPr wrap="square" lIns="0" tIns="0" rIns="0" bIns="0" rtlCol="0" anchor="ctr"/>
          <a:lstStyle/>
          <a:p>
            <a:pPr marL="0" indent="0">
              <a:buNone/>
            </a:pPr>
            <a:r>
              <a:rPr lang="en-US" sz="1050" b="1" dirty="0">
                <a:solidFill>
                  <a:srgbClr val="1E2761"/>
                </a:solidFill>
                <a:latin typeface="Calibri" pitchFamily="34" charset="0"/>
                <a:ea typeface="Calibri" pitchFamily="34" charset="-122"/>
                <a:cs typeface="Calibri" pitchFamily="34" charset="-120"/>
              </a:rPr>
              <a:t>Thu thập</a:t>
            </a:r>
            <a:endParaRPr lang="en-US" sz="1050" dirty="0"/>
          </a:p>
        </p:txBody>
      </p:sp>
      <p:sp>
        <p:nvSpPr>
          <p:cNvPr id="8" name="Text 6"/>
          <p:cNvSpPr txBox="1"/>
          <p:nvPr/>
        </p:nvSpPr>
        <p:spPr>
          <a:xfrm>
            <a:off x="3108960" y="1463040"/>
            <a:ext cx="5303520" cy="274320"/>
          </a:xfrm>
          <a:prstGeom prst="rect">
            <a:avLst/>
          </a:prstGeom>
          <a:noFill/>
          <a:ln/>
        </p:spPr>
        <p:txBody>
          <a:bodyPr wrap="square" lIns="0" tIns="0" rIns="0" bIns="0" rtlCol="0" anchor="ctr"/>
          <a:lstStyle/>
          <a:p>
            <a:pPr marL="0" indent="0">
              <a:buNone/>
            </a:pPr>
            <a:r>
              <a:rPr lang="en-US" sz="1000" dirty="0">
                <a:solidFill>
                  <a:srgbClr val="222833"/>
                </a:solidFill>
                <a:latin typeface="Calibri" pitchFamily="34" charset="0"/>
                <a:ea typeface="Calibri" pitchFamily="34" charset="-122"/>
                <a:cs typeface="Calibri" pitchFamily="34" charset="-120"/>
              </a:rPr>
              <a:t>Khách hàng giao dịch tại hệ thống POS của chi nhánh</a:t>
            </a:r>
            <a:endParaRPr lang="en-US" sz="1000" dirty="0"/>
          </a:p>
        </p:txBody>
      </p:sp>
      <p:sp>
        <p:nvSpPr>
          <p:cNvPr id="9" name="Shape 7"/>
          <p:cNvSpPr/>
          <p:nvPr/>
        </p:nvSpPr>
        <p:spPr>
          <a:xfrm>
            <a:off x="548640" y="1911096"/>
            <a:ext cx="8046720" cy="512064"/>
          </a:xfrm>
          <a:prstGeom prst="roundRect">
            <a:avLst>
              <a:gd name="adj" fmla="val 10714"/>
            </a:avLst>
          </a:prstGeom>
          <a:solidFill>
            <a:srgbClr val="E8F0FE"/>
          </a:solidFill>
          <a:ln w="6350">
            <a:solidFill>
              <a:srgbClr val="E8F0FE"/>
            </a:solidFill>
            <a:prstDash val="solid"/>
          </a:ln>
        </p:spPr>
        <p:txBody>
          <a:bodyPr/>
          <a:lstStyle/>
          <a:p>
            <a:endParaRPr lang="en-US"/>
          </a:p>
        </p:txBody>
      </p:sp>
      <p:sp>
        <p:nvSpPr>
          <p:cNvPr id="10" name="Text 8"/>
          <p:cNvSpPr txBox="1"/>
          <p:nvPr/>
        </p:nvSpPr>
        <p:spPr>
          <a:xfrm>
            <a:off x="777240" y="2048256"/>
            <a:ext cx="777240" cy="237744"/>
          </a:xfrm>
          <a:prstGeom prst="rect">
            <a:avLst/>
          </a:prstGeom>
          <a:noFill/>
          <a:ln/>
        </p:spPr>
        <p:txBody>
          <a:bodyPr wrap="square" lIns="0" tIns="0" rIns="0" bIns="0" rtlCol="0" anchor="ctr"/>
          <a:lstStyle/>
          <a:p>
            <a:pPr marL="0" indent="0">
              <a:buNone/>
            </a:pPr>
            <a:r>
              <a:rPr lang="en-US" sz="1050" b="1" dirty="0">
                <a:solidFill>
                  <a:srgbClr val="1E2761"/>
                </a:solidFill>
                <a:latin typeface="Calibri" pitchFamily="34" charset="0"/>
                <a:ea typeface="Calibri" pitchFamily="34" charset="-122"/>
                <a:cs typeface="Calibri" pitchFamily="34" charset="-120"/>
              </a:rPr>
              <a:t>01:00</a:t>
            </a:r>
            <a:endParaRPr lang="en-US" sz="1050" dirty="0"/>
          </a:p>
        </p:txBody>
      </p:sp>
      <p:sp>
        <p:nvSpPr>
          <p:cNvPr id="11" name="Text 9"/>
          <p:cNvSpPr txBox="1"/>
          <p:nvPr/>
        </p:nvSpPr>
        <p:spPr>
          <a:xfrm>
            <a:off x="1645920" y="2048256"/>
            <a:ext cx="1371600" cy="237744"/>
          </a:xfrm>
          <a:prstGeom prst="rect">
            <a:avLst/>
          </a:prstGeom>
          <a:noFill/>
          <a:ln/>
        </p:spPr>
        <p:txBody>
          <a:bodyPr wrap="square" lIns="0" tIns="0" rIns="0" bIns="0" rtlCol="0" anchor="ctr"/>
          <a:lstStyle/>
          <a:p>
            <a:pPr marL="0" indent="0">
              <a:buNone/>
            </a:pPr>
            <a:r>
              <a:rPr lang="en-US" sz="1050" b="1" dirty="0">
                <a:solidFill>
                  <a:srgbClr val="1E2761"/>
                </a:solidFill>
                <a:latin typeface="Calibri" pitchFamily="34" charset="0"/>
                <a:ea typeface="Calibri" pitchFamily="34" charset="-122"/>
                <a:cs typeface="Calibri" pitchFamily="34" charset="-120"/>
              </a:rPr>
              <a:t>Extract</a:t>
            </a:r>
            <a:endParaRPr lang="en-US" sz="1050" dirty="0"/>
          </a:p>
        </p:txBody>
      </p:sp>
      <p:sp>
        <p:nvSpPr>
          <p:cNvPr id="12" name="Text 10"/>
          <p:cNvSpPr txBox="1"/>
          <p:nvPr/>
        </p:nvSpPr>
        <p:spPr>
          <a:xfrm>
            <a:off x="3108960" y="2048256"/>
            <a:ext cx="5303520" cy="274320"/>
          </a:xfrm>
          <a:prstGeom prst="rect">
            <a:avLst/>
          </a:prstGeom>
          <a:noFill/>
          <a:ln/>
        </p:spPr>
        <p:txBody>
          <a:bodyPr wrap="square" lIns="0" tIns="0" rIns="0" bIns="0" rtlCol="0" anchor="ctr"/>
          <a:lstStyle/>
          <a:p>
            <a:pPr marL="0" indent="0">
              <a:buNone/>
            </a:pPr>
            <a:r>
              <a:rPr lang="en-US" sz="1000" dirty="0">
                <a:solidFill>
                  <a:srgbClr val="222833"/>
                </a:solidFill>
                <a:latin typeface="Calibri" pitchFamily="34" charset="0"/>
                <a:ea typeface="Calibri" pitchFamily="34" charset="-122"/>
                <a:cs typeface="Calibri" pitchFamily="34" charset="-120"/>
              </a:rPr>
              <a:t>Airflow rút dữ liệu POS 34 chi nhánh qua TLS → S3 Raw Zone</a:t>
            </a:r>
            <a:endParaRPr lang="en-US" sz="1000" dirty="0"/>
          </a:p>
        </p:txBody>
      </p:sp>
      <p:sp>
        <p:nvSpPr>
          <p:cNvPr id="13" name="Shape 11"/>
          <p:cNvSpPr/>
          <p:nvPr/>
        </p:nvSpPr>
        <p:spPr>
          <a:xfrm>
            <a:off x="548640" y="2496312"/>
            <a:ext cx="8046720" cy="512064"/>
          </a:xfrm>
          <a:prstGeom prst="roundRect">
            <a:avLst>
              <a:gd name="adj" fmla="val 10714"/>
            </a:avLst>
          </a:prstGeom>
          <a:solidFill>
            <a:srgbClr val="E8F0FE"/>
          </a:solidFill>
          <a:ln w="6350">
            <a:solidFill>
              <a:srgbClr val="E8F0FE"/>
            </a:solidFill>
            <a:prstDash val="solid"/>
          </a:ln>
        </p:spPr>
        <p:txBody>
          <a:bodyPr/>
          <a:lstStyle/>
          <a:p>
            <a:endParaRPr lang="en-US"/>
          </a:p>
        </p:txBody>
      </p:sp>
      <p:sp>
        <p:nvSpPr>
          <p:cNvPr id="14" name="Text 12"/>
          <p:cNvSpPr txBox="1"/>
          <p:nvPr/>
        </p:nvSpPr>
        <p:spPr>
          <a:xfrm>
            <a:off x="777240" y="2633472"/>
            <a:ext cx="777240" cy="237744"/>
          </a:xfrm>
          <a:prstGeom prst="rect">
            <a:avLst/>
          </a:prstGeom>
          <a:noFill/>
          <a:ln/>
        </p:spPr>
        <p:txBody>
          <a:bodyPr wrap="square" lIns="0" tIns="0" rIns="0" bIns="0" rtlCol="0" anchor="ctr"/>
          <a:lstStyle/>
          <a:p>
            <a:pPr marL="0" indent="0">
              <a:buNone/>
            </a:pPr>
            <a:r>
              <a:rPr lang="en-US" sz="1050" b="1" dirty="0">
                <a:solidFill>
                  <a:srgbClr val="1E2761"/>
                </a:solidFill>
                <a:latin typeface="Calibri" pitchFamily="34" charset="0"/>
                <a:ea typeface="Calibri" pitchFamily="34" charset="-122"/>
                <a:cs typeface="Calibri" pitchFamily="34" charset="-120"/>
              </a:rPr>
              <a:t>01:15</a:t>
            </a:r>
            <a:endParaRPr lang="en-US" sz="1050" dirty="0"/>
          </a:p>
        </p:txBody>
      </p:sp>
      <p:sp>
        <p:nvSpPr>
          <p:cNvPr id="15" name="Text 13"/>
          <p:cNvSpPr txBox="1"/>
          <p:nvPr/>
        </p:nvSpPr>
        <p:spPr>
          <a:xfrm>
            <a:off x="1645920" y="2633472"/>
            <a:ext cx="1371600" cy="237744"/>
          </a:xfrm>
          <a:prstGeom prst="rect">
            <a:avLst/>
          </a:prstGeom>
          <a:noFill/>
          <a:ln/>
        </p:spPr>
        <p:txBody>
          <a:bodyPr wrap="square" lIns="0" tIns="0" rIns="0" bIns="0" rtlCol="0" anchor="ctr"/>
          <a:lstStyle/>
          <a:p>
            <a:pPr marL="0" indent="0">
              <a:buNone/>
            </a:pPr>
            <a:r>
              <a:rPr lang="en-US" sz="1050" b="1" dirty="0">
                <a:solidFill>
                  <a:srgbClr val="1E2761"/>
                </a:solidFill>
                <a:latin typeface="Calibri" pitchFamily="34" charset="0"/>
                <a:ea typeface="Calibri" pitchFamily="34" charset="-122"/>
                <a:cs typeface="Calibri" pitchFamily="34" charset="-120"/>
              </a:rPr>
              <a:t>Transform</a:t>
            </a:r>
            <a:endParaRPr lang="en-US" sz="1050" dirty="0"/>
          </a:p>
        </p:txBody>
      </p:sp>
      <p:sp>
        <p:nvSpPr>
          <p:cNvPr id="16" name="Text 14"/>
          <p:cNvSpPr txBox="1"/>
          <p:nvPr/>
        </p:nvSpPr>
        <p:spPr>
          <a:xfrm>
            <a:off x="3108960" y="2633472"/>
            <a:ext cx="5303520" cy="274320"/>
          </a:xfrm>
          <a:prstGeom prst="rect">
            <a:avLst/>
          </a:prstGeom>
          <a:noFill/>
          <a:ln/>
        </p:spPr>
        <p:txBody>
          <a:bodyPr wrap="square" lIns="0" tIns="0" rIns="0" bIns="0" rtlCol="0" anchor="ctr"/>
          <a:lstStyle/>
          <a:p>
            <a:pPr marL="0" indent="0">
              <a:buNone/>
            </a:pPr>
            <a:r>
              <a:rPr lang="en-US" sz="1000" dirty="0">
                <a:solidFill>
                  <a:srgbClr val="222833"/>
                </a:solidFill>
                <a:latin typeface="Calibri" pitchFamily="34" charset="0"/>
                <a:ea typeface="Calibri" pitchFamily="34" charset="-122"/>
                <a:cs typeface="Calibri" pitchFamily="34" charset="-120"/>
              </a:rPr>
              <a:t>Làm sạch, khử trùng lặp, ẩn danh PII → PostgreSQL Clean Zone</a:t>
            </a:r>
            <a:endParaRPr lang="en-US" sz="1000" dirty="0"/>
          </a:p>
        </p:txBody>
      </p:sp>
      <p:sp>
        <p:nvSpPr>
          <p:cNvPr id="17" name="Shape 15"/>
          <p:cNvSpPr/>
          <p:nvPr/>
        </p:nvSpPr>
        <p:spPr>
          <a:xfrm>
            <a:off x="548640" y="3081528"/>
            <a:ext cx="8046720" cy="512064"/>
          </a:xfrm>
          <a:prstGeom prst="roundRect">
            <a:avLst>
              <a:gd name="adj" fmla="val 10714"/>
            </a:avLst>
          </a:prstGeom>
          <a:solidFill>
            <a:srgbClr val="E8F0FE"/>
          </a:solidFill>
          <a:ln w="6350">
            <a:solidFill>
              <a:srgbClr val="E8F0FE"/>
            </a:solidFill>
            <a:prstDash val="solid"/>
          </a:ln>
        </p:spPr>
        <p:txBody>
          <a:bodyPr/>
          <a:lstStyle/>
          <a:p>
            <a:endParaRPr lang="en-US"/>
          </a:p>
        </p:txBody>
      </p:sp>
      <p:sp>
        <p:nvSpPr>
          <p:cNvPr id="18" name="Text 16"/>
          <p:cNvSpPr txBox="1"/>
          <p:nvPr/>
        </p:nvSpPr>
        <p:spPr>
          <a:xfrm>
            <a:off x="777240" y="3218688"/>
            <a:ext cx="777240" cy="237744"/>
          </a:xfrm>
          <a:prstGeom prst="rect">
            <a:avLst/>
          </a:prstGeom>
          <a:noFill/>
          <a:ln/>
        </p:spPr>
        <p:txBody>
          <a:bodyPr wrap="square" lIns="0" tIns="0" rIns="0" bIns="0" rtlCol="0" anchor="ctr"/>
          <a:lstStyle/>
          <a:p>
            <a:pPr marL="0" indent="0">
              <a:buNone/>
            </a:pPr>
            <a:r>
              <a:rPr lang="en-US" sz="1050" b="1" dirty="0">
                <a:solidFill>
                  <a:srgbClr val="1E2761"/>
                </a:solidFill>
                <a:latin typeface="Calibri" pitchFamily="34" charset="0"/>
                <a:ea typeface="Calibri" pitchFamily="34" charset="-122"/>
                <a:cs typeface="Calibri" pitchFamily="34" charset="-120"/>
              </a:rPr>
              <a:t>02:00</a:t>
            </a:r>
            <a:endParaRPr lang="en-US" sz="1050" dirty="0"/>
          </a:p>
        </p:txBody>
      </p:sp>
      <p:sp>
        <p:nvSpPr>
          <p:cNvPr id="19" name="Text 17"/>
          <p:cNvSpPr txBox="1"/>
          <p:nvPr/>
        </p:nvSpPr>
        <p:spPr>
          <a:xfrm>
            <a:off x="1645920" y="3218688"/>
            <a:ext cx="1371600" cy="237744"/>
          </a:xfrm>
          <a:prstGeom prst="rect">
            <a:avLst/>
          </a:prstGeom>
          <a:noFill/>
          <a:ln/>
        </p:spPr>
        <p:txBody>
          <a:bodyPr wrap="square" lIns="0" tIns="0" rIns="0" bIns="0" rtlCol="0" anchor="ctr"/>
          <a:lstStyle/>
          <a:p>
            <a:pPr marL="0" indent="0">
              <a:buNone/>
            </a:pPr>
            <a:r>
              <a:rPr lang="en-US" sz="1050" b="1" dirty="0">
                <a:solidFill>
                  <a:srgbClr val="1E2761"/>
                </a:solidFill>
                <a:latin typeface="Calibri" pitchFamily="34" charset="0"/>
                <a:ea typeface="Calibri" pitchFamily="34" charset="-122"/>
                <a:cs typeface="Calibri" pitchFamily="34" charset="-120"/>
              </a:rPr>
              <a:t>Predict</a:t>
            </a:r>
            <a:endParaRPr lang="en-US" sz="1050" dirty="0"/>
          </a:p>
        </p:txBody>
      </p:sp>
      <p:sp>
        <p:nvSpPr>
          <p:cNvPr id="20" name="Text 18"/>
          <p:cNvSpPr txBox="1"/>
          <p:nvPr/>
        </p:nvSpPr>
        <p:spPr>
          <a:xfrm>
            <a:off x="3108960" y="3218688"/>
            <a:ext cx="5303520" cy="274320"/>
          </a:xfrm>
          <a:prstGeom prst="rect">
            <a:avLst/>
          </a:prstGeom>
          <a:noFill/>
          <a:ln/>
        </p:spPr>
        <p:txBody>
          <a:bodyPr wrap="square" lIns="0" tIns="0" rIns="0" bIns="0" rtlCol="0" anchor="ctr"/>
          <a:lstStyle/>
          <a:p>
            <a:pPr marL="0" indent="0">
              <a:buNone/>
            </a:pPr>
            <a:r>
              <a:rPr lang="en-US" sz="1000" dirty="0">
                <a:solidFill>
                  <a:srgbClr val="222833"/>
                </a:solidFill>
                <a:latin typeface="Calibri" pitchFamily="34" charset="0"/>
                <a:ea typeface="Calibri" pitchFamily="34" charset="-122"/>
                <a:cs typeface="Calibri" pitchFamily="34" charset="-120"/>
              </a:rPr>
              <a:t>Batch inference 34 chi nhánh × 7 ngày → bảng Forecast_Result</a:t>
            </a:r>
            <a:endParaRPr lang="en-US" sz="1000" dirty="0"/>
          </a:p>
        </p:txBody>
      </p:sp>
      <p:sp>
        <p:nvSpPr>
          <p:cNvPr id="21" name="Shape 19"/>
          <p:cNvSpPr/>
          <p:nvPr/>
        </p:nvSpPr>
        <p:spPr>
          <a:xfrm>
            <a:off x="548640" y="3666744"/>
            <a:ext cx="8046720" cy="512064"/>
          </a:xfrm>
          <a:prstGeom prst="roundRect">
            <a:avLst>
              <a:gd name="adj" fmla="val 10714"/>
            </a:avLst>
          </a:prstGeom>
          <a:solidFill>
            <a:srgbClr val="E8F0FE"/>
          </a:solidFill>
          <a:ln w="6350">
            <a:solidFill>
              <a:srgbClr val="E8F0FE"/>
            </a:solidFill>
            <a:prstDash val="solid"/>
          </a:ln>
        </p:spPr>
        <p:txBody>
          <a:bodyPr/>
          <a:lstStyle/>
          <a:p>
            <a:endParaRPr lang="en-US"/>
          </a:p>
        </p:txBody>
      </p:sp>
      <p:sp>
        <p:nvSpPr>
          <p:cNvPr id="22" name="Text 20"/>
          <p:cNvSpPr txBox="1"/>
          <p:nvPr/>
        </p:nvSpPr>
        <p:spPr>
          <a:xfrm>
            <a:off x="777240" y="3803904"/>
            <a:ext cx="777240" cy="237744"/>
          </a:xfrm>
          <a:prstGeom prst="rect">
            <a:avLst/>
          </a:prstGeom>
          <a:noFill/>
          <a:ln/>
        </p:spPr>
        <p:txBody>
          <a:bodyPr wrap="square" lIns="0" tIns="0" rIns="0" bIns="0" rtlCol="0" anchor="ctr"/>
          <a:lstStyle/>
          <a:p>
            <a:pPr marL="0" indent="0">
              <a:buNone/>
            </a:pPr>
            <a:r>
              <a:rPr lang="en-US" sz="1050" b="1" dirty="0">
                <a:solidFill>
                  <a:srgbClr val="1E2761"/>
                </a:solidFill>
                <a:latin typeface="Calibri" pitchFamily="34" charset="0"/>
                <a:ea typeface="Calibri" pitchFamily="34" charset="-122"/>
                <a:cs typeface="Calibri" pitchFamily="34" charset="-120"/>
              </a:rPr>
              <a:t>Tự động</a:t>
            </a:r>
            <a:endParaRPr lang="en-US" sz="1050" dirty="0"/>
          </a:p>
        </p:txBody>
      </p:sp>
      <p:sp>
        <p:nvSpPr>
          <p:cNvPr id="23" name="Text 21"/>
          <p:cNvSpPr txBox="1"/>
          <p:nvPr/>
        </p:nvSpPr>
        <p:spPr>
          <a:xfrm>
            <a:off x="1645920" y="3803904"/>
            <a:ext cx="1371600" cy="237744"/>
          </a:xfrm>
          <a:prstGeom prst="rect">
            <a:avLst/>
          </a:prstGeom>
          <a:noFill/>
          <a:ln/>
        </p:spPr>
        <p:txBody>
          <a:bodyPr wrap="square" lIns="0" tIns="0" rIns="0" bIns="0" rtlCol="0" anchor="ctr"/>
          <a:lstStyle/>
          <a:p>
            <a:pPr marL="0" indent="0">
              <a:buNone/>
            </a:pPr>
            <a:r>
              <a:rPr lang="en-US" sz="1050" b="1" dirty="0">
                <a:solidFill>
                  <a:srgbClr val="1E2761"/>
                </a:solidFill>
                <a:latin typeface="Calibri" pitchFamily="34" charset="0"/>
                <a:ea typeface="Calibri" pitchFamily="34" charset="-122"/>
                <a:cs typeface="Calibri" pitchFamily="34" charset="-120"/>
              </a:rPr>
              <a:t>Alert</a:t>
            </a:r>
            <a:endParaRPr lang="en-US" sz="1050" dirty="0"/>
          </a:p>
        </p:txBody>
      </p:sp>
      <p:sp>
        <p:nvSpPr>
          <p:cNvPr id="24" name="Text 22"/>
          <p:cNvSpPr txBox="1"/>
          <p:nvPr/>
        </p:nvSpPr>
        <p:spPr>
          <a:xfrm>
            <a:off x="3108960" y="3803904"/>
            <a:ext cx="5303520" cy="274320"/>
          </a:xfrm>
          <a:prstGeom prst="rect">
            <a:avLst/>
          </a:prstGeom>
          <a:noFill/>
          <a:ln/>
        </p:spPr>
        <p:txBody>
          <a:bodyPr wrap="square" lIns="0" tIns="0" rIns="0" bIns="0" rtlCol="0" anchor="ctr"/>
          <a:lstStyle/>
          <a:p>
            <a:pPr marL="0" indent="0">
              <a:buNone/>
            </a:pPr>
            <a:r>
              <a:rPr lang="en-US" sz="1000" dirty="0">
                <a:solidFill>
                  <a:srgbClr val="222833"/>
                </a:solidFill>
                <a:latin typeface="Calibri" pitchFamily="34" charset="0"/>
                <a:ea typeface="Calibri" pitchFamily="34" charset="-122"/>
                <a:cs typeface="Calibri" pitchFamily="34" charset="-120"/>
              </a:rPr>
              <a:t>Quét kết quả, đẩy webhook/email nếu vượt 1,5× lưu lượng trung bình</a:t>
            </a:r>
            <a:endParaRPr lang="en-US" sz="1000" dirty="0"/>
          </a:p>
        </p:txBody>
      </p:sp>
      <p:sp>
        <p:nvSpPr>
          <p:cNvPr id="25" name="Shape 23"/>
          <p:cNvSpPr/>
          <p:nvPr/>
        </p:nvSpPr>
        <p:spPr>
          <a:xfrm>
            <a:off x="548640" y="4251960"/>
            <a:ext cx="8046720" cy="512064"/>
          </a:xfrm>
          <a:prstGeom prst="roundRect">
            <a:avLst>
              <a:gd name="adj" fmla="val 10714"/>
            </a:avLst>
          </a:prstGeom>
          <a:solidFill>
            <a:srgbClr val="E8F0FE"/>
          </a:solidFill>
          <a:ln w="6350">
            <a:solidFill>
              <a:srgbClr val="FDF0DC"/>
            </a:solidFill>
            <a:prstDash val="solid"/>
          </a:ln>
        </p:spPr>
        <p:txBody>
          <a:bodyPr/>
          <a:lstStyle/>
          <a:p>
            <a:endParaRPr lang="en-US"/>
          </a:p>
        </p:txBody>
      </p:sp>
      <p:sp>
        <p:nvSpPr>
          <p:cNvPr id="26" name="Text 24"/>
          <p:cNvSpPr txBox="1"/>
          <p:nvPr/>
        </p:nvSpPr>
        <p:spPr>
          <a:xfrm>
            <a:off x="777240" y="4389120"/>
            <a:ext cx="777240" cy="237744"/>
          </a:xfrm>
          <a:prstGeom prst="rect">
            <a:avLst/>
          </a:prstGeom>
          <a:noFill/>
          <a:ln/>
        </p:spPr>
        <p:txBody>
          <a:bodyPr wrap="square" lIns="0" tIns="0" rIns="0" bIns="0" rtlCol="0" anchor="ctr"/>
          <a:lstStyle/>
          <a:p>
            <a:pPr marL="0" indent="0">
              <a:buNone/>
            </a:pPr>
            <a:r>
              <a:rPr lang="en-US" sz="1050" b="1" dirty="0">
                <a:solidFill>
                  <a:srgbClr val="424A7D"/>
                </a:solidFill>
                <a:latin typeface="Calibri" pitchFamily="34" charset="0"/>
                <a:ea typeface="Calibri" pitchFamily="34" charset="-122"/>
                <a:cs typeface="Calibri" pitchFamily="34" charset="-120"/>
              </a:rPr>
              <a:t>08:00</a:t>
            </a:r>
            <a:endParaRPr lang="en-US" sz="1050" dirty="0">
              <a:solidFill>
                <a:srgbClr val="424A7D"/>
              </a:solidFill>
            </a:endParaRPr>
          </a:p>
        </p:txBody>
      </p:sp>
      <p:sp>
        <p:nvSpPr>
          <p:cNvPr id="27" name="Text 25"/>
          <p:cNvSpPr txBox="1"/>
          <p:nvPr/>
        </p:nvSpPr>
        <p:spPr>
          <a:xfrm>
            <a:off x="1645920" y="4389120"/>
            <a:ext cx="1371600" cy="237744"/>
          </a:xfrm>
          <a:prstGeom prst="rect">
            <a:avLst/>
          </a:prstGeom>
          <a:noFill/>
          <a:ln/>
        </p:spPr>
        <p:txBody>
          <a:bodyPr wrap="square" lIns="0" tIns="0" rIns="0" bIns="0" rtlCol="0" anchor="ctr"/>
          <a:lstStyle/>
          <a:p>
            <a:pPr marL="0" indent="0">
              <a:buNone/>
            </a:pPr>
            <a:r>
              <a:rPr lang="en-US" sz="1050" b="1" dirty="0">
                <a:solidFill>
                  <a:srgbClr val="1E2761"/>
                </a:solidFill>
                <a:latin typeface="Calibri" pitchFamily="34" charset="0"/>
                <a:ea typeface="Calibri" pitchFamily="34" charset="-122"/>
                <a:cs typeface="Calibri" pitchFamily="34" charset="-120"/>
              </a:rPr>
              <a:t>Ra quyết định</a:t>
            </a:r>
            <a:endParaRPr lang="en-US" sz="1050" dirty="0"/>
          </a:p>
        </p:txBody>
      </p:sp>
      <p:sp>
        <p:nvSpPr>
          <p:cNvPr id="28" name="Text 26"/>
          <p:cNvSpPr txBox="1"/>
          <p:nvPr/>
        </p:nvSpPr>
        <p:spPr>
          <a:xfrm>
            <a:off x="3108960" y="4389120"/>
            <a:ext cx="5303520" cy="274320"/>
          </a:xfrm>
          <a:prstGeom prst="rect">
            <a:avLst/>
          </a:prstGeom>
          <a:noFill/>
          <a:ln/>
        </p:spPr>
        <p:txBody>
          <a:bodyPr wrap="square" lIns="0" tIns="0" rIns="0" bIns="0" rtlCol="0" anchor="ctr"/>
          <a:lstStyle/>
          <a:p>
            <a:pPr marL="0" indent="0">
              <a:buNone/>
            </a:pPr>
            <a:r>
              <a:rPr lang="en-US" sz="1000" dirty="0">
                <a:solidFill>
                  <a:srgbClr val="222833"/>
                </a:solidFill>
                <a:latin typeface="Calibri" pitchFamily="34" charset="0"/>
                <a:ea typeface="Calibri" pitchFamily="34" charset="-122"/>
                <a:cs typeface="Calibri" pitchFamily="34" charset="-120"/>
              </a:rPr>
              <a:t>Quản lý chi nhánh xem dự báo và DUYỆT lịch phân ca — con người chốt</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3" name="Text 1"/>
          <p:cNvSpPr txBox="1"/>
          <p:nvPr/>
        </p:nvSpPr>
        <p:spPr>
          <a:xfrm>
            <a:off x="548640" y="475488"/>
            <a:ext cx="8046720" cy="777240"/>
          </a:xfrm>
          <a:prstGeom prst="rect">
            <a:avLst/>
          </a:prstGeom>
          <a:noFill/>
          <a:ln/>
        </p:spPr>
        <p:txBody>
          <a:bodyPr wrap="square" lIns="0" tIns="0" rIns="0" bIns="0" rtlCol="0" anchor="t"/>
          <a:lstStyle/>
          <a:p>
            <a:pPr marL="0" indent="0">
              <a:buNone/>
            </a:pPr>
            <a:r>
              <a:rPr lang="en-US" sz="2500" b="1" dirty="0">
                <a:solidFill>
                  <a:srgbClr val="1E2761"/>
                </a:solidFill>
                <a:latin typeface="Cambria" pitchFamily="34" charset="0"/>
                <a:ea typeface="Cambria" pitchFamily="34" charset="-122"/>
                <a:cs typeface="Cambria" pitchFamily="34" charset="-120"/>
              </a:rPr>
              <a:t>Kiến trúc ba tầng, </a:t>
            </a:r>
            <a:r>
              <a:rPr lang="en-US" sz="2500" b="1" dirty="0" err="1">
                <a:solidFill>
                  <a:srgbClr val="1E2761"/>
                </a:solidFill>
                <a:latin typeface="Cambria" pitchFamily="34" charset="0"/>
                <a:ea typeface="Cambria" pitchFamily="34" charset="-122"/>
                <a:cs typeface="Cambria" pitchFamily="34" charset="-120"/>
              </a:rPr>
              <a:t>tích</a:t>
            </a:r>
            <a:r>
              <a:rPr lang="en-US" sz="2500" b="1" dirty="0">
                <a:solidFill>
                  <a:srgbClr val="1E2761"/>
                </a:solidFill>
                <a:latin typeface="Cambria" pitchFamily="34" charset="0"/>
                <a:ea typeface="Cambria" pitchFamily="34" charset="-122"/>
                <a:cs typeface="Cambria" pitchFamily="34" charset="-120"/>
              </a:rPr>
              <a:t> </a:t>
            </a:r>
            <a:r>
              <a:rPr lang="en-US" sz="2500" b="1" dirty="0" err="1">
                <a:solidFill>
                  <a:srgbClr val="1E2761"/>
                </a:solidFill>
                <a:latin typeface="Cambria" pitchFamily="34" charset="0"/>
                <a:ea typeface="Cambria" pitchFamily="34" charset="-122"/>
                <a:cs typeface="Cambria" pitchFamily="34" charset="-120"/>
              </a:rPr>
              <a:t>hợp</a:t>
            </a:r>
            <a:endParaRPr lang="en-US" sz="2500" dirty="0"/>
          </a:p>
        </p:txBody>
      </p:sp>
      <p:sp>
        <p:nvSpPr>
          <p:cNvPr id="5" name="Shape 3"/>
          <p:cNvSpPr/>
          <p:nvPr/>
        </p:nvSpPr>
        <p:spPr>
          <a:xfrm>
            <a:off x="1364566" y="1645920"/>
            <a:ext cx="6112412" cy="685800"/>
          </a:xfrm>
          <a:prstGeom prst="roundRect">
            <a:avLst>
              <a:gd name="adj" fmla="val 8000"/>
            </a:avLst>
          </a:prstGeom>
          <a:solidFill>
            <a:srgbClr val="E8F0FE"/>
          </a:solidFill>
          <a:ln w="6350">
            <a:solidFill>
              <a:srgbClr val="E8F0FE"/>
            </a:solidFill>
            <a:prstDash val="solid"/>
          </a:ln>
        </p:spPr>
        <p:txBody>
          <a:bodyPr/>
          <a:lstStyle/>
          <a:p>
            <a:endParaRPr lang="en-US"/>
          </a:p>
        </p:txBody>
      </p:sp>
      <p:sp>
        <p:nvSpPr>
          <p:cNvPr id="6" name="Text 4"/>
          <p:cNvSpPr txBox="1"/>
          <p:nvPr/>
        </p:nvSpPr>
        <p:spPr>
          <a:xfrm>
            <a:off x="1565733" y="1728216"/>
            <a:ext cx="5623419" cy="219456"/>
          </a:xfrm>
          <a:prstGeom prst="rect">
            <a:avLst/>
          </a:prstGeom>
          <a:noFill/>
          <a:ln/>
        </p:spPr>
        <p:txBody>
          <a:bodyPr wrap="square" lIns="0" tIns="0" rIns="0" bIns="0" rtlCol="0" anchor="ctr"/>
          <a:lstStyle/>
          <a:p>
            <a:pPr marL="0" indent="0">
              <a:buNone/>
            </a:pPr>
            <a:r>
              <a:rPr lang="en-US" sz="1100" b="1" dirty="0">
                <a:solidFill>
                  <a:srgbClr val="1E2761"/>
                </a:solidFill>
                <a:latin typeface="Calibri" pitchFamily="34" charset="0"/>
                <a:ea typeface="Calibri" pitchFamily="34" charset="-122"/>
                <a:cs typeface="Calibri" pitchFamily="34" charset="-120"/>
              </a:rPr>
              <a:t>Trình bày</a:t>
            </a:r>
            <a:endParaRPr lang="en-US" sz="1100" dirty="0"/>
          </a:p>
        </p:txBody>
      </p:sp>
      <p:sp>
        <p:nvSpPr>
          <p:cNvPr id="7" name="Text 5"/>
          <p:cNvSpPr txBox="1"/>
          <p:nvPr/>
        </p:nvSpPr>
        <p:spPr>
          <a:xfrm>
            <a:off x="1565733" y="1956816"/>
            <a:ext cx="5623419" cy="310896"/>
          </a:xfrm>
          <a:prstGeom prst="rect">
            <a:avLst/>
          </a:prstGeom>
          <a:noFill/>
          <a:ln/>
        </p:spPr>
        <p:txBody>
          <a:bodyPr wrap="square" lIns="0" tIns="0" rIns="0" bIns="0" rtlCol="0" anchor="ctr"/>
          <a:lstStyle/>
          <a:p>
            <a:pPr marL="0" indent="0">
              <a:buNone/>
            </a:pPr>
            <a:r>
              <a:rPr lang="en-US" sz="1050" dirty="0">
                <a:solidFill>
                  <a:srgbClr val="5A6478"/>
                </a:solidFill>
                <a:latin typeface="Calibri" pitchFamily="34" charset="0"/>
                <a:ea typeface="Calibri" pitchFamily="34" charset="-122"/>
                <a:cs typeface="Calibri" pitchFamily="34" charset="-120"/>
              </a:rPr>
              <a:t>Web Dashboard (DSS) · Grafana · Webhook / Email Alert</a:t>
            </a:r>
            <a:endParaRPr lang="en-US" sz="1050" dirty="0"/>
          </a:p>
        </p:txBody>
      </p:sp>
      <p:sp>
        <p:nvSpPr>
          <p:cNvPr id="8" name="Shape 6"/>
          <p:cNvSpPr/>
          <p:nvPr/>
        </p:nvSpPr>
        <p:spPr>
          <a:xfrm>
            <a:off x="1364566" y="2404872"/>
            <a:ext cx="6112412" cy="685800"/>
          </a:xfrm>
          <a:prstGeom prst="roundRect">
            <a:avLst>
              <a:gd name="adj" fmla="val 8000"/>
            </a:avLst>
          </a:prstGeom>
          <a:solidFill>
            <a:srgbClr val="E8F0FE"/>
          </a:solidFill>
          <a:ln w="6350">
            <a:noFill/>
            <a:prstDash val="solid"/>
          </a:ln>
        </p:spPr>
        <p:txBody>
          <a:bodyPr/>
          <a:lstStyle/>
          <a:p>
            <a:endParaRPr lang="en-US"/>
          </a:p>
        </p:txBody>
      </p:sp>
      <p:sp>
        <p:nvSpPr>
          <p:cNvPr id="9" name="Text 7"/>
          <p:cNvSpPr txBox="1"/>
          <p:nvPr/>
        </p:nvSpPr>
        <p:spPr>
          <a:xfrm>
            <a:off x="1565733" y="2487168"/>
            <a:ext cx="5623419" cy="219456"/>
          </a:xfrm>
          <a:prstGeom prst="rect">
            <a:avLst/>
          </a:prstGeom>
          <a:noFill/>
          <a:ln/>
        </p:spPr>
        <p:txBody>
          <a:bodyPr wrap="square" lIns="0" tIns="0" rIns="0" bIns="0" rtlCol="0" anchor="ctr"/>
          <a:lstStyle/>
          <a:p>
            <a:pPr marL="0" indent="0">
              <a:buNone/>
            </a:pPr>
            <a:r>
              <a:rPr lang="en-US" sz="1100" b="1" dirty="0">
                <a:solidFill>
                  <a:srgbClr val="1E2761"/>
                </a:solidFill>
                <a:latin typeface="Calibri" pitchFamily="34" charset="0"/>
                <a:ea typeface="Calibri" pitchFamily="34" charset="-122"/>
                <a:cs typeface="Calibri" pitchFamily="34" charset="-120"/>
              </a:rPr>
              <a:t>Ứng dụng</a:t>
            </a:r>
            <a:endParaRPr lang="en-US" sz="1100" dirty="0">
              <a:solidFill>
                <a:srgbClr val="1E2761"/>
              </a:solidFill>
            </a:endParaRPr>
          </a:p>
        </p:txBody>
      </p:sp>
      <p:sp>
        <p:nvSpPr>
          <p:cNvPr id="10" name="Text 8"/>
          <p:cNvSpPr txBox="1"/>
          <p:nvPr/>
        </p:nvSpPr>
        <p:spPr>
          <a:xfrm>
            <a:off x="1565733" y="2715768"/>
            <a:ext cx="5623419" cy="310896"/>
          </a:xfrm>
          <a:prstGeom prst="rect">
            <a:avLst/>
          </a:prstGeom>
          <a:noFill/>
          <a:ln/>
        </p:spPr>
        <p:txBody>
          <a:bodyPr wrap="square" lIns="0" tIns="0" rIns="0" bIns="0" rtlCol="0" anchor="ctr"/>
          <a:lstStyle/>
          <a:p>
            <a:pPr marL="0" indent="0">
              <a:buNone/>
            </a:pPr>
            <a:r>
              <a:rPr lang="en-US" sz="1050" dirty="0">
                <a:solidFill>
                  <a:srgbClr val="768093"/>
                </a:solidFill>
                <a:latin typeface="Calibri" pitchFamily="34" charset="0"/>
                <a:ea typeface="Calibri" pitchFamily="34" charset="-122"/>
                <a:cs typeface="Calibri" pitchFamily="34" charset="-120"/>
              </a:rPr>
              <a:t>API Gateway (JWT, rate limit) · Forecast Service · Alert Service · Apache Airflow</a:t>
            </a:r>
            <a:endParaRPr lang="en-US" sz="1050" dirty="0">
              <a:solidFill>
                <a:srgbClr val="768093"/>
              </a:solidFill>
            </a:endParaRPr>
          </a:p>
        </p:txBody>
      </p:sp>
      <p:sp>
        <p:nvSpPr>
          <p:cNvPr id="11" name="Shape 9"/>
          <p:cNvSpPr/>
          <p:nvPr/>
        </p:nvSpPr>
        <p:spPr>
          <a:xfrm>
            <a:off x="1364566" y="3163824"/>
            <a:ext cx="6112412" cy="685800"/>
          </a:xfrm>
          <a:prstGeom prst="roundRect">
            <a:avLst>
              <a:gd name="adj" fmla="val 8000"/>
            </a:avLst>
          </a:prstGeom>
          <a:solidFill>
            <a:srgbClr val="E8F0FE"/>
          </a:solidFill>
          <a:ln w="6350">
            <a:solidFill>
              <a:srgbClr val="E8F0FE"/>
            </a:solidFill>
            <a:prstDash val="solid"/>
          </a:ln>
        </p:spPr>
        <p:txBody>
          <a:bodyPr/>
          <a:lstStyle/>
          <a:p>
            <a:endParaRPr lang="en-US"/>
          </a:p>
        </p:txBody>
      </p:sp>
      <p:sp>
        <p:nvSpPr>
          <p:cNvPr id="12" name="Text 10"/>
          <p:cNvSpPr txBox="1"/>
          <p:nvPr/>
        </p:nvSpPr>
        <p:spPr>
          <a:xfrm>
            <a:off x="1565733" y="3246120"/>
            <a:ext cx="5623419" cy="219456"/>
          </a:xfrm>
          <a:prstGeom prst="rect">
            <a:avLst/>
          </a:prstGeom>
          <a:noFill/>
          <a:ln/>
        </p:spPr>
        <p:txBody>
          <a:bodyPr wrap="square" lIns="0" tIns="0" rIns="0" bIns="0" rtlCol="0" anchor="ctr"/>
          <a:lstStyle/>
          <a:p>
            <a:pPr marL="0" indent="0">
              <a:buNone/>
            </a:pPr>
            <a:r>
              <a:rPr lang="en-US" sz="1100" b="1" dirty="0">
                <a:solidFill>
                  <a:srgbClr val="1E2761"/>
                </a:solidFill>
                <a:latin typeface="Calibri" pitchFamily="34" charset="0"/>
                <a:ea typeface="Calibri" pitchFamily="34" charset="-122"/>
                <a:cs typeface="Calibri" pitchFamily="34" charset="-120"/>
              </a:rPr>
              <a:t>Dữ liệu</a:t>
            </a:r>
            <a:endParaRPr lang="en-US" sz="1100" dirty="0"/>
          </a:p>
        </p:txBody>
      </p:sp>
      <p:sp>
        <p:nvSpPr>
          <p:cNvPr id="13" name="Text 11"/>
          <p:cNvSpPr txBox="1"/>
          <p:nvPr/>
        </p:nvSpPr>
        <p:spPr>
          <a:xfrm>
            <a:off x="1565733" y="3474720"/>
            <a:ext cx="5623419" cy="310896"/>
          </a:xfrm>
          <a:prstGeom prst="rect">
            <a:avLst/>
          </a:prstGeom>
          <a:noFill/>
          <a:ln/>
        </p:spPr>
        <p:txBody>
          <a:bodyPr wrap="square" lIns="0" tIns="0" rIns="0" bIns="0" rtlCol="0" anchor="ctr"/>
          <a:lstStyle/>
          <a:p>
            <a:pPr marL="0" indent="0">
              <a:buNone/>
            </a:pPr>
            <a:r>
              <a:rPr lang="en-US" sz="1050" dirty="0">
                <a:solidFill>
                  <a:srgbClr val="5A6478"/>
                </a:solidFill>
                <a:latin typeface="Calibri" pitchFamily="34" charset="0"/>
                <a:ea typeface="Calibri" pitchFamily="34" charset="-122"/>
                <a:cs typeface="Calibri" pitchFamily="34" charset="-120"/>
              </a:rPr>
              <a:t>PostgreSQL DWH · MLflow Registry · Object Storage S3 · Prometheus + Loki</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3" name="Text 1"/>
          <p:cNvSpPr txBox="1"/>
          <p:nvPr/>
        </p:nvSpPr>
        <p:spPr>
          <a:xfrm>
            <a:off x="548640" y="475488"/>
            <a:ext cx="8046720" cy="777240"/>
          </a:xfrm>
          <a:prstGeom prst="rect">
            <a:avLst/>
          </a:prstGeom>
          <a:noFill/>
          <a:ln/>
        </p:spPr>
        <p:txBody>
          <a:bodyPr wrap="square" lIns="0" tIns="0" rIns="0" bIns="0" rtlCol="0" anchor="t"/>
          <a:lstStyle/>
          <a:p>
            <a:pPr marL="0" indent="0">
              <a:buNone/>
            </a:pPr>
            <a:r>
              <a:rPr lang="en-US" sz="2500" b="1" dirty="0">
                <a:solidFill>
                  <a:srgbClr val="1E2761"/>
                </a:solidFill>
                <a:latin typeface="Cambria" pitchFamily="34" charset="0"/>
                <a:ea typeface="Cambria" pitchFamily="34" charset="-122"/>
                <a:cs typeface="Cambria" pitchFamily="34" charset="-120"/>
              </a:rPr>
              <a:t>Kế hoạch triển khai và tổ chức nhân sự</a:t>
            </a:r>
            <a:endParaRPr lang="en-US" sz="2500" dirty="0"/>
          </a:p>
        </p:txBody>
      </p:sp>
      <p:graphicFrame>
        <p:nvGraphicFramePr>
          <p:cNvPr id="16" name="Table 0"/>
          <p:cNvGraphicFramePr>
            <a:graphicFrameLocks noGrp="1"/>
          </p:cNvGraphicFramePr>
          <p:nvPr>
            <p:extLst>
              <p:ext uri="{D42A27DB-BD31-4B8C-83A1-F6EECF244321}">
                <p14:modId xmlns:p14="http://schemas.microsoft.com/office/powerpoint/2010/main" val="3207676480"/>
              </p:ext>
            </p:extLst>
          </p:nvPr>
        </p:nvGraphicFramePr>
        <p:xfrm>
          <a:off x="422031" y="1307592"/>
          <a:ext cx="6080760" cy="2816352"/>
        </p:xfrm>
        <a:graphic>
          <a:graphicData uri="http://schemas.openxmlformats.org/drawingml/2006/table">
            <a:tbl>
              <a:tblPr/>
              <a:tblGrid>
                <a:gridCol w="1554480">
                  <a:extLst>
                    <a:ext uri="{9D8B030D-6E8A-4147-A177-3AD203B41FA5}">
                      <a16:colId xmlns:a16="http://schemas.microsoft.com/office/drawing/2014/main" val="20000"/>
                    </a:ext>
                  </a:extLst>
                </a:gridCol>
                <a:gridCol w="68580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gridCol w="1325880">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tblGrid>
              <a:tr h="402336">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Pha</a:t>
                      </a:r>
                      <a:endParaRPr lang="en-US" sz="10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Tuần</a:t>
                      </a:r>
                      <a:endParaRPr lang="en-US" sz="10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Sản phẩm bàn giao</a:t>
                      </a:r>
                      <a:endParaRPr lang="en-US" sz="10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Nghiệm thu</a:t>
                      </a:r>
                      <a:endParaRPr lang="en-US" sz="10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Owner</a:t>
                      </a:r>
                      <a:endParaRPr lang="en-US" sz="10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402336">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1. Khảo sát &amp; phân tích</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T1–T3</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Data Dictionary, dataset sạch</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B.4 ≥ 99,5%</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Data Eng</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extLst>
                  <a:ext uri="{0D108BD9-81ED-4DB2-BD59-A6C34878D82A}">
                    <a16:rowId xmlns:a16="http://schemas.microsoft.com/office/drawing/2014/main" val="10001"/>
                  </a:ext>
                </a:extLst>
              </a:tr>
              <a:tr h="402336">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2. Thiết kế HLD/LLD</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T4–T5</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API Contract, ERD, Terraform</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Sponsor duyệt 100%</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Architect</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extLst>
                  <a:ext uri="{0D108BD9-81ED-4DB2-BD59-A6C34878D82A}">
                    <a16:rowId xmlns:a16="http://schemas.microsoft.com/office/drawing/2014/main" val="10002"/>
                  </a:ext>
                </a:extLst>
              </a:tr>
              <a:tr h="402336">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3. Phát triển</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T6–T10</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Pipeline, model artifact, benchmark</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A.1 &lt; 15%; A.3 ≥ 85%</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ML Eng</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extLst>
                  <a:ext uri="{0D108BD9-81ED-4DB2-BD59-A6C34878D82A}">
                    <a16:rowId xmlns:a16="http://schemas.microsoft.com/office/drawing/2014/main" val="10003"/>
                  </a:ext>
                </a:extLst>
              </a:tr>
              <a:tr h="402336">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4. Kiểm thử SIT/UAT</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T11–T13</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Docker image, báo cáo SIT, UAT</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B.1 ≤ 500ms; B.6 &lt; 0,1%</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QA</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extLst>
                  <a:ext uri="{0D108BD9-81ED-4DB2-BD59-A6C34878D82A}">
                    <a16:rowId xmlns:a16="http://schemas.microsoft.com/office/drawing/2014/main" val="10004"/>
                  </a:ext>
                </a:extLst>
              </a:tr>
              <a:tr h="402336">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5. Triển khai</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T14–T15</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Hệ thống live, dashboard</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B.3 ≥ 99,9%; B.5 ≤ 24h</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DevOps/SRE</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extLst>
                  <a:ext uri="{0D108BD9-81ED-4DB2-BD59-A6C34878D82A}">
                    <a16:rowId xmlns:a16="http://schemas.microsoft.com/office/drawing/2014/main" val="10005"/>
                  </a:ext>
                </a:extLst>
              </a:tr>
              <a:tr h="402336">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6. Hypercare</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T16–T19</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Báo cáo hypercare, model v2</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14 ngày không sự cố P0/P1</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SRE + ML</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6" name="Shape 3"/>
          <p:cNvSpPr/>
          <p:nvPr/>
        </p:nvSpPr>
        <p:spPr>
          <a:xfrm>
            <a:off x="6727874" y="1307592"/>
            <a:ext cx="1994095" cy="2834640"/>
          </a:xfrm>
          <a:prstGeom prst="roundRect">
            <a:avLst>
              <a:gd name="adj" fmla="val 2449"/>
            </a:avLst>
          </a:prstGeom>
          <a:solidFill>
            <a:srgbClr val="1E2761"/>
          </a:solidFill>
          <a:ln w="6350">
            <a:solidFill>
              <a:srgbClr val="1E2761"/>
            </a:solidFill>
            <a:prstDash val="solid"/>
          </a:ln>
        </p:spPr>
        <p:txBody>
          <a:bodyPr/>
          <a:lstStyle/>
          <a:p>
            <a:endParaRPr lang="en-US"/>
          </a:p>
        </p:txBody>
      </p:sp>
      <p:sp>
        <p:nvSpPr>
          <p:cNvPr id="7" name="Text 4"/>
          <p:cNvSpPr txBox="1"/>
          <p:nvPr/>
        </p:nvSpPr>
        <p:spPr>
          <a:xfrm>
            <a:off x="6910754" y="1555887"/>
            <a:ext cx="1828800" cy="237744"/>
          </a:xfrm>
          <a:prstGeom prst="rect">
            <a:avLst/>
          </a:prstGeom>
          <a:noFill/>
          <a:ln/>
        </p:spPr>
        <p:txBody>
          <a:bodyPr wrap="square" lIns="0" tIns="0" rIns="0" bIns="0" rtlCol="0" anchor="ctr"/>
          <a:lstStyle/>
          <a:p>
            <a:pPr marL="0" indent="0">
              <a:buNone/>
            </a:pPr>
            <a:r>
              <a:rPr lang="en-US" sz="1200" b="1" dirty="0">
                <a:solidFill>
                  <a:srgbClr val="E08A1E"/>
                </a:solidFill>
                <a:latin typeface="Calibri" pitchFamily="34" charset="0"/>
                <a:ea typeface="Calibri" pitchFamily="34" charset="-122"/>
                <a:cs typeface="Calibri" pitchFamily="34" charset="-120"/>
              </a:rPr>
              <a:t>Nhân sự</a:t>
            </a:r>
            <a:endParaRPr lang="en-US" sz="1200" dirty="0"/>
          </a:p>
        </p:txBody>
      </p:sp>
      <p:sp>
        <p:nvSpPr>
          <p:cNvPr id="8" name="Text 5"/>
          <p:cNvSpPr txBox="1"/>
          <p:nvPr/>
        </p:nvSpPr>
        <p:spPr>
          <a:xfrm>
            <a:off x="6893169" y="1793631"/>
            <a:ext cx="1828800" cy="2194560"/>
          </a:xfrm>
          <a:prstGeom prst="rect">
            <a:avLst/>
          </a:prstGeom>
          <a:noFill/>
          <a:ln/>
        </p:spPr>
        <p:txBody>
          <a:bodyPr wrap="square" lIns="0" tIns="0" rIns="0" bIns="0" rtlCol="0" anchor="ctr"/>
          <a:lstStyle/>
          <a:p>
            <a:pPr marL="342900" indent="-342900">
              <a:spcAft>
                <a:spcPts val="600"/>
              </a:spcAft>
              <a:buSzPct val="100000"/>
              <a:buChar char="•"/>
            </a:pPr>
            <a:r>
              <a:rPr lang="en-US" sz="1000" dirty="0">
                <a:solidFill>
                  <a:srgbClr val="FFFFFF"/>
                </a:solidFill>
                <a:latin typeface="Calibri" pitchFamily="34" charset="0"/>
                <a:ea typeface="Calibri" pitchFamily="34" charset="-122"/>
                <a:cs typeface="Calibri" pitchFamily="34" charset="-120"/>
              </a:rPr>
              <a:t>1 Project Manager</a:t>
            </a:r>
            <a:endParaRPr lang="en-US" sz="1000" dirty="0"/>
          </a:p>
          <a:p>
            <a:pPr marL="342900" indent="-342900">
              <a:spcAft>
                <a:spcPts val="600"/>
              </a:spcAft>
              <a:buSzPct val="100000"/>
              <a:buChar char="•"/>
            </a:pPr>
            <a:r>
              <a:rPr lang="en-US" sz="1000" dirty="0">
                <a:solidFill>
                  <a:srgbClr val="FFFFFF"/>
                </a:solidFill>
                <a:latin typeface="Calibri" pitchFamily="34" charset="0"/>
                <a:ea typeface="Calibri" pitchFamily="34" charset="-122"/>
                <a:cs typeface="Calibri" pitchFamily="34" charset="-120"/>
              </a:rPr>
              <a:t>2 Data Engineer</a:t>
            </a:r>
            <a:endParaRPr lang="en-US" sz="1000" dirty="0"/>
          </a:p>
          <a:p>
            <a:pPr marL="342900" indent="-342900">
              <a:spcAft>
                <a:spcPts val="600"/>
              </a:spcAft>
              <a:buSzPct val="100000"/>
              <a:buChar char="•"/>
            </a:pPr>
            <a:r>
              <a:rPr lang="en-US" sz="1000" dirty="0">
                <a:solidFill>
                  <a:srgbClr val="FFFFFF"/>
                </a:solidFill>
                <a:latin typeface="Calibri" pitchFamily="34" charset="0"/>
                <a:ea typeface="Calibri" pitchFamily="34" charset="-122"/>
                <a:cs typeface="Calibri" pitchFamily="34" charset="-120"/>
              </a:rPr>
              <a:t>2 ML Engineer</a:t>
            </a:r>
            <a:endParaRPr lang="en-US" sz="1000" dirty="0"/>
          </a:p>
          <a:p>
            <a:pPr marL="342900" indent="-342900">
              <a:spcAft>
                <a:spcPts val="600"/>
              </a:spcAft>
              <a:buSzPct val="100000"/>
              <a:buChar char="•"/>
            </a:pPr>
            <a:r>
              <a:rPr lang="en-US" sz="1000" dirty="0">
                <a:solidFill>
                  <a:srgbClr val="FFFFFF"/>
                </a:solidFill>
                <a:latin typeface="Calibri" pitchFamily="34" charset="0"/>
                <a:ea typeface="Calibri" pitchFamily="34" charset="-122"/>
                <a:cs typeface="Calibri" pitchFamily="34" charset="-120"/>
              </a:rPr>
              <a:t>1 Backend Dev</a:t>
            </a:r>
            <a:endParaRPr lang="en-US" sz="1000" dirty="0"/>
          </a:p>
          <a:p>
            <a:pPr marL="342900" indent="-342900">
              <a:spcAft>
                <a:spcPts val="600"/>
              </a:spcAft>
              <a:buSzPct val="100000"/>
              <a:buChar char="•"/>
            </a:pPr>
            <a:r>
              <a:rPr lang="en-US" sz="1000" dirty="0">
                <a:solidFill>
                  <a:srgbClr val="FFFFFF"/>
                </a:solidFill>
                <a:latin typeface="Calibri" pitchFamily="34" charset="0"/>
                <a:ea typeface="Calibri" pitchFamily="34" charset="-122"/>
                <a:cs typeface="Calibri" pitchFamily="34" charset="-120"/>
              </a:rPr>
              <a:t>1 DevOps / SRE</a:t>
            </a:r>
            <a:endParaRPr lang="en-US" sz="1000" dirty="0"/>
          </a:p>
          <a:p>
            <a:pPr marL="342900" indent="-342900">
              <a:spcAft>
                <a:spcPts val="600"/>
              </a:spcAft>
              <a:buSzPct val="100000"/>
              <a:buChar char="•"/>
            </a:pPr>
            <a:r>
              <a:rPr lang="en-US" sz="1000" dirty="0">
                <a:solidFill>
                  <a:srgbClr val="FFFFFF"/>
                </a:solidFill>
                <a:latin typeface="Calibri" pitchFamily="34" charset="0"/>
                <a:ea typeface="Calibri" pitchFamily="34" charset="-122"/>
                <a:cs typeface="Calibri" pitchFamily="34" charset="-120"/>
              </a:rPr>
              <a:t>1 QA Engineer</a:t>
            </a:r>
            <a:endParaRPr lang="en-US" sz="1000" dirty="0"/>
          </a:p>
          <a:p>
            <a:pPr marL="342900" indent="-342900">
              <a:spcAft>
                <a:spcPts val="600"/>
              </a:spcAft>
              <a:buSzPct val="100000"/>
              <a:buChar char="•"/>
            </a:pPr>
            <a:r>
              <a:rPr lang="en-US" sz="1000" dirty="0">
                <a:solidFill>
                  <a:srgbClr val="FFFFFF"/>
                </a:solidFill>
                <a:latin typeface="Calibri" pitchFamily="34" charset="0"/>
                <a:ea typeface="Calibri" pitchFamily="34" charset="-122"/>
                <a:cs typeface="Calibri" pitchFamily="34" charset="-120"/>
              </a:rPr>
              <a:t>2 Key User (QL chi nhánh)</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3" name="Text 1"/>
          <p:cNvSpPr txBox="1"/>
          <p:nvPr/>
        </p:nvSpPr>
        <p:spPr>
          <a:xfrm>
            <a:off x="548640" y="475488"/>
            <a:ext cx="8046720" cy="777240"/>
          </a:xfrm>
          <a:prstGeom prst="rect">
            <a:avLst/>
          </a:prstGeom>
          <a:noFill/>
          <a:ln/>
        </p:spPr>
        <p:txBody>
          <a:bodyPr wrap="square" lIns="0" tIns="0" rIns="0" bIns="0" rtlCol="0" anchor="t"/>
          <a:lstStyle/>
          <a:p>
            <a:pPr marL="0" indent="0">
              <a:buNone/>
            </a:pPr>
            <a:r>
              <a:rPr lang="en-US" sz="2500" b="1" dirty="0">
                <a:solidFill>
                  <a:srgbClr val="1E2761"/>
                </a:solidFill>
                <a:latin typeface="Cambria" pitchFamily="34" charset="0"/>
                <a:ea typeface="Cambria" pitchFamily="34" charset="-122"/>
                <a:cs typeface="Cambria" pitchFamily="34" charset="-120"/>
              </a:rPr>
              <a:t>Chi phí và phương án tài chính</a:t>
            </a:r>
            <a:endParaRPr lang="en-US" sz="2500" dirty="0"/>
          </a:p>
        </p:txBody>
      </p:sp>
      <p:sp>
        <p:nvSpPr>
          <p:cNvPr id="5" name="Text 3"/>
          <p:cNvSpPr txBox="1"/>
          <p:nvPr/>
        </p:nvSpPr>
        <p:spPr>
          <a:xfrm>
            <a:off x="548640" y="1234440"/>
            <a:ext cx="2514600" cy="548640"/>
          </a:xfrm>
          <a:prstGeom prst="rect">
            <a:avLst/>
          </a:prstGeom>
          <a:noFill/>
          <a:ln/>
        </p:spPr>
        <p:txBody>
          <a:bodyPr wrap="square" lIns="0" tIns="0" rIns="0" bIns="0" rtlCol="0" anchor="ctr"/>
          <a:lstStyle/>
          <a:p>
            <a:pPr marL="0" indent="0" algn="ctr">
              <a:buNone/>
            </a:pPr>
            <a:r>
              <a:rPr lang="en-US" sz="2900" b="1" dirty="0">
                <a:solidFill>
                  <a:srgbClr val="1E2761"/>
                </a:solidFill>
                <a:latin typeface="Cambria" pitchFamily="34" charset="0"/>
                <a:ea typeface="Cambria" pitchFamily="34" charset="-122"/>
                <a:cs typeface="Cambria" pitchFamily="34" charset="-120"/>
              </a:rPr>
              <a:t>663 tr</a:t>
            </a:r>
            <a:endParaRPr lang="en-US" sz="2900" dirty="0"/>
          </a:p>
        </p:txBody>
      </p:sp>
      <p:sp>
        <p:nvSpPr>
          <p:cNvPr id="6" name="Text 4"/>
          <p:cNvSpPr txBox="1"/>
          <p:nvPr/>
        </p:nvSpPr>
        <p:spPr>
          <a:xfrm>
            <a:off x="548640" y="1764792"/>
            <a:ext cx="2514600" cy="457200"/>
          </a:xfrm>
          <a:prstGeom prst="rect">
            <a:avLst/>
          </a:prstGeom>
          <a:noFill/>
          <a:ln/>
        </p:spPr>
        <p:txBody>
          <a:bodyPr wrap="square" lIns="0" tIns="0" rIns="0" bIns="0" rtlCol="0" anchor="ctr"/>
          <a:lstStyle/>
          <a:p>
            <a:pPr marL="0" indent="0" algn="ctr">
              <a:buNone/>
            </a:pPr>
            <a:r>
              <a:rPr lang="en-US" sz="1050" dirty="0">
                <a:solidFill>
                  <a:srgbClr val="5A6478"/>
                </a:solidFill>
                <a:latin typeface="Calibri" pitchFamily="34" charset="0"/>
                <a:ea typeface="Calibri" pitchFamily="34" charset="-122"/>
                <a:cs typeface="Calibri" pitchFamily="34" charset="-120"/>
              </a:rPr>
              <a:t>CAPEX — giai đoạn 15 tuần</a:t>
            </a:r>
            <a:endParaRPr lang="en-US" sz="1050" dirty="0"/>
          </a:p>
        </p:txBody>
      </p:sp>
      <p:sp>
        <p:nvSpPr>
          <p:cNvPr id="7" name="Text 5"/>
          <p:cNvSpPr txBox="1"/>
          <p:nvPr/>
        </p:nvSpPr>
        <p:spPr>
          <a:xfrm>
            <a:off x="3154680" y="1234440"/>
            <a:ext cx="2514600" cy="548640"/>
          </a:xfrm>
          <a:prstGeom prst="rect">
            <a:avLst/>
          </a:prstGeom>
          <a:noFill/>
          <a:ln/>
        </p:spPr>
        <p:txBody>
          <a:bodyPr wrap="square" lIns="0" tIns="0" rIns="0" bIns="0" rtlCol="0" anchor="ctr"/>
          <a:lstStyle/>
          <a:p>
            <a:pPr marL="0" indent="0" algn="ctr">
              <a:buNone/>
            </a:pPr>
            <a:r>
              <a:rPr lang="en-US" sz="2900" b="1" dirty="0">
                <a:solidFill>
                  <a:srgbClr val="1E2761"/>
                </a:solidFill>
                <a:latin typeface="Cambria" pitchFamily="34" charset="0"/>
                <a:ea typeface="Cambria" pitchFamily="34" charset="-122"/>
                <a:cs typeface="Cambria" pitchFamily="34" charset="-120"/>
              </a:rPr>
              <a:t>325,8 tr</a:t>
            </a:r>
            <a:endParaRPr lang="en-US" sz="2900" dirty="0"/>
          </a:p>
        </p:txBody>
      </p:sp>
      <p:sp>
        <p:nvSpPr>
          <p:cNvPr id="8" name="Text 6"/>
          <p:cNvSpPr txBox="1"/>
          <p:nvPr/>
        </p:nvSpPr>
        <p:spPr>
          <a:xfrm>
            <a:off x="3154680" y="1764792"/>
            <a:ext cx="2514600" cy="457200"/>
          </a:xfrm>
          <a:prstGeom prst="rect">
            <a:avLst/>
          </a:prstGeom>
          <a:noFill/>
          <a:ln/>
        </p:spPr>
        <p:txBody>
          <a:bodyPr wrap="square" lIns="0" tIns="0" rIns="0" bIns="0" rtlCol="0" anchor="ctr"/>
          <a:lstStyle/>
          <a:p>
            <a:pPr marL="0" indent="0" algn="ctr">
              <a:buNone/>
            </a:pPr>
            <a:r>
              <a:rPr lang="en-US" sz="1050" dirty="0">
                <a:solidFill>
                  <a:srgbClr val="5A6478"/>
                </a:solidFill>
                <a:latin typeface="Calibri" pitchFamily="34" charset="0"/>
                <a:ea typeface="Calibri" pitchFamily="34" charset="-122"/>
                <a:cs typeface="Calibri" pitchFamily="34" charset="-120"/>
              </a:rPr>
              <a:t>OPEX năm 1 sau Go-live</a:t>
            </a:r>
            <a:endParaRPr lang="en-US" sz="1050" dirty="0"/>
          </a:p>
        </p:txBody>
      </p:sp>
      <p:sp>
        <p:nvSpPr>
          <p:cNvPr id="9" name="Text 7"/>
          <p:cNvSpPr txBox="1"/>
          <p:nvPr/>
        </p:nvSpPr>
        <p:spPr>
          <a:xfrm>
            <a:off x="5760720" y="1234440"/>
            <a:ext cx="2834640" cy="548640"/>
          </a:xfrm>
          <a:prstGeom prst="rect">
            <a:avLst/>
          </a:prstGeom>
          <a:noFill/>
          <a:ln/>
        </p:spPr>
        <p:txBody>
          <a:bodyPr wrap="square" lIns="0" tIns="0" rIns="0" bIns="0" rtlCol="0" anchor="ctr"/>
          <a:lstStyle/>
          <a:p>
            <a:pPr marL="0" indent="0" algn="ctr">
              <a:buNone/>
            </a:pPr>
            <a:r>
              <a:rPr lang="en-US" sz="2900" b="1" dirty="0">
                <a:solidFill>
                  <a:srgbClr val="E08A1E"/>
                </a:solidFill>
                <a:latin typeface="Cambria" pitchFamily="34" charset="0"/>
                <a:ea typeface="Cambria" pitchFamily="34" charset="-122"/>
                <a:cs typeface="Cambria" pitchFamily="34" charset="-120"/>
              </a:rPr>
              <a:t>1,088 tỷ</a:t>
            </a:r>
            <a:endParaRPr lang="en-US" sz="2900" dirty="0"/>
          </a:p>
        </p:txBody>
      </p:sp>
      <p:sp>
        <p:nvSpPr>
          <p:cNvPr id="10" name="Text 8"/>
          <p:cNvSpPr txBox="1"/>
          <p:nvPr/>
        </p:nvSpPr>
        <p:spPr>
          <a:xfrm>
            <a:off x="5760720" y="1764792"/>
            <a:ext cx="2834640" cy="457200"/>
          </a:xfrm>
          <a:prstGeom prst="rect">
            <a:avLst/>
          </a:prstGeom>
          <a:noFill/>
          <a:ln/>
        </p:spPr>
        <p:txBody>
          <a:bodyPr wrap="square" lIns="0" tIns="0" rIns="0" bIns="0" rtlCol="0" anchor="ctr"/>
          <a:lstStyle/>
          <a:p>
            <a:pPr marL="0" indent="0" algn="ctr">
              <a:buNone/>
            </a:pPr>
            <a:r>
              <a:rPr lang="en-US" sz="1050" dirty="0">
                <a:solidFill>
                  <a:srgbClr val="5A6478"/>
                </a:solidFill>
                <a:latin typeface="Calibri" pitchFamily="34" charset="0"/>
                <a:ea typeface="Calibri" pitchFamily="34" charset="-122"/>
                <a:cs typeface="Calibri" pitchFamily="34" charset="-120"/>
              </a:rPr>
              <a:t>TCO năm 1 (đã gồm dự phòng 10%)</a:t>
            </a:r>
            <a:endParaRPr lang="en-US" sz="10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2286000"/>
          <a:ext cx="5623560" cy="2161032"/>
        </p:xfrm>
        <a:graphic>
          <a:graphicData uri="http://schemas.openxmlformats.org/drawingml/2006/table">
            <a:tbl>
              <a:tblPr/>
              <a:tblGrid>
                <a:gridCol w="1828800">
                  <a:extLst>
                    <a:ext uri="{9D8B030D-6E8A-4147-A177-3AD203B41FA5}">
                      <a16:colId xmlns:a16="http://schemas.microsoft.com/office/drawing/2014/main" val="20000"/>
                    </a:ext>
                  </a:extLst>
                </a:gridCol>
                <a:gridCol w="260604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tblGrid>
              <a:tr h="301752">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Nhóm chi phí</a:t>
                      </a:r>
                      <a:endParaRPr lang="en-US" sz="10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Chi tiết</a:t>
                      </a:r>
                      <a:endParaRPr lang="en-US" sz="10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Thành tiền</a:t>
                      </a:r>
                      <a:endParaRPr lang="en-US" sz="10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01752">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Nhân công (CAPEX)</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PM, Data, ML, Backend, SRE, QA — ~27 người-tháng</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594,0 tr</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extLst>
                  <a:ext uri="{0D108BD9-81ED-4DB2-BD59-A6C34878D82A}">
                    <a16:rowId xmlns:a16="http://schemas.microsoft.com/office/drawing/2014/main" val="10001"/>
                  </a:ext>
                </a:extLst>
              </a:tr>
              <a:tr h="301752">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Hạ tầng phát triển (CAPEX)</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VM, GPU training, PostgreSQL, S3 môi trường Dev/Staging</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64,0 tr</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extLst>
                  <a:ext uri="{0D108BD9-81ED-4DB2-BD59-A6C34878D82A}">
                    <a16:rowId xmlns:a16="http://schemas.microsoft.com/office/drawing/2014/main" val="10002"/>
                  </a:ext>
                </a:extLst>
              </a:tr>
              <a:tr h="301752">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Đào tạo &amp; chuyển giao (CAPEX)</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2 buổi hướng dẫn đọc dashboard cho Key User</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5,0 tr</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extLst>
                  <a:ext uri="{0D108BD9-81ED-4DB2-BD59-A6C34878D82A}">
                    <a16:rowId xmlns:a16="http://schemas.microsoft.com/office/drawing/2014/main" val="10003"/>
                  </a:ext>
                </a:extLst>
              </a:tr>
              <a:tr h="301752">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Bản quyền</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Open-source: Airflow, MLflow, FastAPI</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0 đ</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extLst>
                  <a:ext uri="{0D108BD9-81ED-4DB2-BD59-A6C34878D82A}">
                    <a16:rowId xmlns:a16="http://schemas.microsoft.com/office/drawing/2014/main" val="10004"/>
                  </a:ext>
                </a:extLst>
              </a:tr>
              <a:tr h="301752">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Cloud production (OPEX)</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K8s, PostgreSQL HA, S3, băng thông, GPU retrain</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172,8 tr/năm</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extLst>
                  <a:ext uri="{0D108BD9-81ED-4DB2-BD59-A6C34878D82A}">
                    <a16:rowId xmlns:a16="http://schemas.microsoft.com/office/drawing/2014/main" val="10005"/>
                  </a:ext>
                </a:extLst>
              </a:tr>
              <a:tr h="301752">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Nhân sự Ops + bảo mật (OPEX)</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SRE/Data Eng part-time, pentest 2 lần/năm</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152,0 tr/năm</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12" name="Shape 9"/>
          <p:cNvSpPr/>
          <p:nvPr/>
        </p:nvSpPr>
        <p:spPr>
          <a:xfrm>
            <a:off x="6355080" y="2286000"/>
            <a:ext cx="2240280" cy="2103120"/>
          </a:xfrm>
          <a:prstGeom prst="roundRect">
            <a:avLst>
              <a:gd name="adj" fmla="val 2609"/>
            </a:avLst>
          </a:prstGeom>
          <a:solidFill>
            <a:srgbClr val="1E2761"/>
          </a:solidFill>
          <a:ln w="6350">
            <a:solidFill>
              <a:srgbClr val="1E2761"/>
            </a:solidFill>
            <a:prstDash val="solid"/>
          </a:ln>
        </p:spPr>
        <p:txBody>
          <a:bodyPr/>
          <a:lstStyle/>
          <a:p>
            <a:endParaRPr lang="en-US"/>
          </a:p>
        </p:txBody>
      </p:sp>
      <p:sp>
        <p:nvSpPr>
          <p:cNvPr id="13" name="Text 10"/>
          <p:cNvSpPr txBox="1"/>
          <p:nvPr/>
        </p:nvSpPr>
        <p:spPr>
          <a:xfrm>
            <a:off x="6583680" y="2404872"/>
            <a:ext cx="1828800" cy="457200"/>
          </a:xfrm>
          <a:prstGeom prst="rect">
            <a:avLst/>
          </a:prstGeom>
          <a:noFill/>
          <a:ln/>
        </p:spPr>
        <p:txBody>
          <a:bodyPr wrap="square" lIns="0" tIns="0" rIns="0" bIns="0" rtlCol="0" anchor="ctr"/>
          <a:lstStyle/>
          <a:p>
            <a:pPr marL="0" indent="0">
              <a:buNone/>
            </a:pPr>
            <a:r>
              <a:rPr lang="en-US" sz="1100" b="1" dirty="0">
                <a:solidFill>
                  <a:srgbClr val="E08A1E"/>
                </a:solidFill>
                <a:latin typeface="Calibri" pitchFamily="34" charset="0"/>
                <a:ea typeface="Calibri" pitchFamily="34" charset="-122"/>
                <a:cs typeface="Calibri" pitchFamily="34" charset="-120"/>
              </a:rPr>
              <a:t>Không cộng dồn với đồ án</a:t>
            </a:r>
            <a:endParaRPr lang="en-US" sz="1100" dirty="0"/>
          </a:p>
        </p:txBody>
      </p:sp>
      <p:sp>
        <p:nvSpPr>
          <p:cNvPr id="14" name="Text 11"/>
          <p:cNvSpPr txBox="1"/>
          <p:nvPr/>
        </p:nvSpPr>
        <p:spPr>
          <a:xfrm>
            <a:off x="6583680" y="2834640"/>
            <a:ext cx="1828800" cy="1417320"/>
          </a:xfrm>
          <a:prstGeom prst="rect">
            <a:avLst/>
          </a:prstGeom>
          <a:noFill/>
          <a:ln/>
        </p:spPr>
        <p:txBody>
          <a:bodyPr wrap="square" lIns="0" tIns="0" rIns="0" bIns="0" rtlCol="0" anchor="ctr"/>
          <a:lstStyle/>
          <a:p>
            <a:pPr marL="0" indent="0">
              <a:buNone/>
            </a:pPr>
            <a:r>
              <a:rPr lang="en-US" sz="950" dirty="0">
                <a:solidFill>
                  <a:srgbClr val="FFFFFF"/>
                </a:solidFill>
                <a:latin typeface="Calibri" pitchFamily="34" charset="0"/>
                <a:ea typeface="Calibri" pitchFamily="34" charset="-122"/>
                <a:cs typeface="Calibri" pitchFamily="34" charset="-120"/>
              </a:rPr>
              <a:t>Nếu triển khai chung với nền tảng của đồ án, chi phí hạ tầng Cloud được hấp thụ vào OPEX nền tảng, GPU dùng chung.</a:t>
            </a:r>
            <a:endParaRPr lang="en-US" sz="950" dirty="0"/>
          </a:p>
          <a:p>
            <a:pPr marL="0" indent="0">
              <a:buNone/>
            </a:pPr>
            <a:endParaRPr lang="en-US" sz="950" dirty="0"/>
          </a:p>
          <a:p>
            <a:pPr marL="0" indent="0">
              <a:buNone/>
            </a:pPr>
            <a:r>
              <a:rPr lang="en-US" sz="950" dirty="0">
                <a:solidFill>
                  <a:srgbClr val="FFFFFF"/>
                </a:solidFill>
                <a:latin typeface="Calibri" pitchFamily="34" charset="0"/>
                <a:ea typeface="Calibri" pitchFamily="34" charset="-122"/>
                <a:cs typeface="Calibri" pitchFamily="34" charset="-120"/>
              </a:rPr>
              <a:t>TCO năm 1 giảm còn ~925 triệu.</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3" name="Text 1"/>
          <p:cNvSpPr txBox="1"/>
          <p:nvPr/>
        </p:nvSpPr>
        <p:spPr>
          <a:xfrm>
            <a:off x="548640" y="475488"/>
            <a:ext cx="8046720" cy="777240"/>
          </a:xfrm>
          <a:prstGeom prst="rect">
            <a:avLst/>
          </a:prstGeom>
          <a:noFill/>
          <a:ln/>
        </p:spPr>
        <p:txBody>
          <a:bodyPr wrap="square" lIns="0" tIns="0" rIns="0" bIns="0" rtlCol="0" anchor="t"/>
          <a:lstStyle/>
          <a:p>
            <a:pPr marL="0" indent="0">
              <a:buNone/>
            </a:pPr>
            <a:r>
              <a:rPr lang="en-US" sz="2500" b="1" dirty="0">
                <a:solidFill>
                  <a:srgbClr val="1E2761"/>
                </a:solidFill>
                <a:latin typeface="Cambria" pitchFamily="34" charset="0"/>
                <a:ea typeface="Cambria" pitchFamily="34" charset="-122"/>
                <a:cs typeface="Cambria" pitchFamily="34" charset="-120"/>
              </a:rPr>
              <a:t>Risk register và kế hoạch kiểm thử</a:t>
            </a:r>
            <a:endParaRPr lang="en-US" sz="25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8046720" cy="2304288"/>
        </p:xfrm>
        <a:graphic>
          <a:graphicData uri="http://schemas.openxmlformats.org/drawingml/2006/table">
            <a:tbl>
              <a:tblPr/>
              <a:tblGrid>
                <a:gridCol w="54864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gridCol w="3840480">
                  <a:extLst>
                    <a:ext uri="{9D8B030D-6E8A-4147-A177-3AD203B41FA5}">
                      <a16:colId xmlns:a16="http://schemas.microsoft.com/office/drawing/2014/main" val="20003"/>
                    </a:ext>
                  </a:extLst>
                </a:gridCol>
                <a:gridCol w="1005840">
                  <a:extLst>
                    <a:ext uri="{9D8B030D-6E8A-4147-A177-3AD203B41FA5}">
                      <a16:colId xmlns:a16="http://schemas.microsoft.com/office/drawing/2014/main" val="20004"/>
                    </a:ext>
                  </a:extLst>
                </a:gridCol>
              </a:tblGrid>
              <a:tr h="329184">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Mã</a:t>
                      </a:r>
                      <a:endParaRPr lang="en-US" sz="10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Rủi ro</a:t>
                      </a:r>
                      <a:endParaRPr lang="en-US" sz="10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Mức</a:t>
                      </a:r>
                      <a:endParaRPr lang="en-US" sz="10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Biện pháp giảm thiểu</a:t>
                      </a:r>
                      <a:endParaRPr lang="en-US" sz="10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Owner</a:t>
                      </a:r>
                      <a:endParaRPr lang="en-US" sz="10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29184">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R01</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Dữ liệu POS bẩn / thiếu hụt</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Cao</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Làm sạch tự động trong pipeline; cảnh báo Data Quality cho Key User</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Data Eng</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R02</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Mô hình không đạt ngưỡng MAPE</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Cao</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Thực nghiệm ≥ 4 phương pháp; beta không ràng buộc; fallback Moving Average</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ML Eng</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extLst>
                  <a:ext uri="{0D108BD9-81ED-4DB2-BD59-A6C34878D82A}">
                    <a16:rowId xmlns:a16="http://schemas.microsoft.com/office/drawing/2014/main" val="10002"/>
                  </a:ext>
                </a:extLst>
              </a:tr>
              <a:tr h="329184">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R03</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Data Drift do hành vi thay đổi</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Cao</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Ngưỡng cảnh báo MAPE &gt; 15% tự kích hoạt tái huấn luyện</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ML Eng</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extLst>
                  <a:ext uri="{0D108BD9-81ED-4DB2-BD59-A6C34878D82A}">
                    <a16:rowId xmlns:a16="http://schemas.microsoft.com/office/drawing/2014/main" val="10003"/>
                  </a:ext>
                </a:extLst>
              </a:tr>
              <a:tr h="329184">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R04</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Scope creep từ Key User</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Vừa</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Kiểm soát qua Change Request; Sponsor duyệt chi phí phát sinh</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PM</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extLst>
                  <a:ext uri="{0D108BD9-81ED-4DB2-BD59-A6C34878D82A}">
                    <a16:rowId xmlns:a16="http://schemas.microsoft.com/office/drawing/2014/main" val="10004"/>
                  </a:ext>
                </a:extLst>
              </a:tr>
              <a:tr h="329184">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R05</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Nghẽn tải lúc 08:00 AM</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Vừa</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Auto-scaling K8s; rate limiting tại gateway; cache kết quả dự báo</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SRE</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extLst>
                  <a:ext uri="{0D108BD9-81ED-4DB2-BD59-A6C34878D82A}">
                    <a16:rowId xmlns:a16="http://schemas.microsoft.com/office/drawing/2014/main" val="10005"/>
                  </a:ext>
                </a:extLst>
              </a:tr>
              <a:tr h="329184">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R06</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Key User chậm tham gia UAT</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Vừa</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Chốt lịch UAT từ Pha 2; chuẩn bị sẵn kịch bản test</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tc>
                  <a:txBody>
                    <a:bodyPr/>
                    <a:lstStyle/>
                    <a:p>
                      <a:pPr marL="0" indent="0">
                        <a:buNone/>
                      </a:pPr>
                      <a:r>
                        <a:rPr lang="en-US" sz="850" dirty="0">
                          <a:solidFill>
                            <a:srgbClr val="222833"/>
                          </a:solidFill>
                          <a:latin typeface="Calibri" pitchFamily="34" charset="0"/>
                          <a:ea typeface="Calibri" pitchFamily="34" charset="-122"/>
                          <a:cs typeface="Calibri" pitchFamily="34" charset="-120"/>
                        </a:rPr>
                        <a:t>PM</a:t>
                      </a:r>
                      <a:endParaRPr lang="en-US" sz="850" dirty="0">
                        <a:latin typeface="Calibri" charset="0"/>
                        <a:ea typeface="Calibri" charset="0"/>
                        <a:cs typeface="Calibri" charset="0"/>
                      </a:endParaRPr>
                    </a:p>
                  </a:txBody>
                  <a:tcPr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6" name="Shape 3"/>
          <p:cNvSpPr/>
          <p:nvPr/>
        </p:nvSpPr>
        <p:spPr>
          <a:xfrm>
            <a:off x="548640" y="3794760"/>
            <a:ext cx="8046720" cy="822960"/>
          </a:xfrm>
          <a:prstGeom prst="roundRect">
            <a:avLst>
              <a:gd name="adj" fmla="val 6667"/>
            </a:avLst>
          </a:prstGeom>
          <a:solidFill>
            <a:srgbClr val="E8F0FE"/>
          </a:solidFill>
          <a:ln w="6350">
            <a:solidFill>
              <a:srgbClr val="E8F0FE"/>
            </a:solidFill>
            <a:prstDash val="solid"/>
          </a:ln>
        </p:spPr>
        <p:txBody>
          <a:bodyPr/>
          <a:lstStyle/>
          <a:p>
            <a:endParaRPr lang="en-US"/>
          </a:p>
        </p:txBody>
      </p:sp>
      <p:sp>
        <p:nvSpPr>
          <p:cNvPr id="7" name="Text 4"/>
          <p:cNvSpPr txBox="1"/>
          <p:nvPr/>
        </p:nvSpPr>
        <p:spPr>
          <a:xfrm>
            <a:off x="777240" y="3895344"/>
            <a:ext cx="1828800" cy="219456"/>
          </a:xfrm>
          <a:prstGeom prst="rect">
            <a:avLst/>
          </a:prstGeom>
          <a:noFill/>
          <a:ln/>
        </p:spPr>
        <p:txBody>
          <a:bodyPr wrap="square" lIns="0" tIns="0" rIns="0" bIns="0" rtlCol="0" anchor="ctr"/>
          <a:lstStyle/>
          <a:p>
            <a:pPr marL="0" indent="0">
              <a:buNone/>
            </a:pPr>
            <a:r>
              <a:rPr lang="en-US" sz="1100" b="1" dirty="0">
                <a:solidFill>
                  <a:srgbClr val="1E2761"/>
                </a:solidFill>
                <a:latin typeface="Calibri" pitchFamily="34" charset="0"/>
                <a:ea typeface="Calibri" pitchFamily="34" charset="-122"/>
                <a:cs typeface="Calibri" pitchFamily="34" charset="-120"/>
              </a:rPr>
              <a:t>Kế hoạch kiểm thử</a:t>
            </a:r>
            <a:endParaRPr lang="en-US" sz="1100" dirty="0"/>
          </a:p>
        </p:txBody>
      </p:sp>
      <p:sp>
        <p:nvSpPr>
          <p:cNvPr id="8" name="Text 5"/>
          <p:cNvSpPr txBox="1"/>
          <p:nvPr/>
        </p:nvSpPr>
        <p:spPr>
          <a:xfrm>
            <a:off x="2697480" y="3877056"/>
            <a:ext cx="5715000" cy="713232"/>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222833"/>
                </a:solidFill>
                <a:latin typeface="Calibri" pitchFamily="34" charset="0"/>
                <a:ea typeface="Calibri" pitchFamily="34" charset="-122"/>
                <a:cs typeface="Calibri" pitchFamily="34" charset="-120"/>
              </a:rPr>
              <a:t>Data Testing — 100% schema hợp lệ, ≥ 99,5% bản ghi luân chuyển</a:t>
            </a:r>
            <a:endParaRPr lang="en-US" sz="900" dirty="0"/>
          </a:p>
          <a:p>
            <a:pPr marL="342900" indent="-342900">
              <a:spcAft>
                <a:spcPts val="200"/>
              </a:spcAft>
              <a:buSzPct val="100000"/>
              <a:buChar char="•"/>
            </a:pPr>
            <a:r>
              <a:rPr lang="en-US" sz="900" dirty="0">
                <a:solidFill>
                  <a:srgbClr val="222833"/>
                </a:solidFill>
                <a:latin typeface="Calibri" pitchFamily="34" charset="0"/>
                <a:ea typeface="Calibri" pitchFamily="34" charset="-122"/>
                <a:cs typeface="Calibri" pitchFamily="34" charset="-120"/>
              </a:rPr>
              <a:t>Model Testing — backtesting: MAPE, MAE, Precision, Δ ổn định</a:t>
            </a:r>
            <a:endParaRPr lang="en-US" sz="900" dirty="0"/>
          </a:p>
          <a:p>
            <a:pPr marL="342900" indent="-342900">
              <a:spcAft>
                <a:spcPts val="200"/>
              </a:spcAft>
              <a:buSzPct val="100000"/>
              <a:buChar char="•"/>
            </a:pPr>
            <a:r>
              <a:rPr lang="en-US" sz="900" dirty="0">
                <a:solidFill>
                  <a:srgbClr val="222833"/>
                </a:solidFill>
                <a:latin typeface="Calibri" pitchFamily="34" charset="0"/>
                <a:ea typeface="Calibri" pitchFamily="34" charset="-122"/>
                <a:cs typeface="Calibri" pitchFamily="34" charset="-120"/>
              </a:rPr>
              <a:t>Load Testing — JMeter 500 CCU: P95 ≤ 500ms, 5xx &lt; 0,1%</a:t>
            </a:r>
            <a:endParaRPr lang="en-US" sz="900" dirty="0"/>
          </a:p>
          <a:p>
            <a:pPr marL="342900" indent="-342900">
              <a:spcAft>
                <a:spcPts val="200"/>
              </a:spcAft>
              <a:buSzPct val="100000"/>
              <a:buChar char="•"/>
            </a:pPr>
            <a:r>
              <a:rPr lang="en-US" sz="900" dirty="0">
                <a:solidFill>
                  <a:srgbClr val="222833"/>
                </a:solidFill>
                <a:latin typeface="Calibri" pitchFamily="34" charset="0"/>
                <a:ea typeface="Calibri" pitchFamily="34" charset="-122"/>
                <a:cs typeface="Calibri" pitchFamily="34" charset="-120"/>
              </a:rPr>
              <a:t>UAT — Key User ký sign-off trước Go-live</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3" name="Text 1"/>
          <p:cNvSpPr txBox="1"/>
          <p:nvPr/>
        </p:nvSpPr>
        <p:spPr>
          <a:xfrm>
            <a:off x="548640" y="475488"/>
            <a:ext cx="8046720" cy="777240"/>
          </a:xfrm>
          <a:prstGeom prst="rect">
            <a:avLst/>
          </a:prstGeom>
          <a:noFill/>
          <a:ln/>
        </p:spPr>
        <p:txBody>
          <a:bodyPr wrap="square" lIns="0" tIns="0" rIns="0" bIns="0" rtlCol="0" anchor="t"/>
          <a:lstStyle/>
          <a:p>
            <a:pPr marL="0" indent="0">
              <a:buNone/>
            </a:pPr>
            <a:r>
              <a:rPr lang="en-US" sz="2500" b="1" dirty="0">
                <a:solidFill>
                  <a:srgbClr val="1E2761"/>
                </a:solidFill>
                <a:latin typeface="Cambria" pitchFamily="34" charset="0"/>
                <a:ea typeface="Cambria" pitchFamily="34" charset="-122"/>
                <a:cs typeface="Cambria" pitchFamily="34" charset="-120"/>
              </a:rPr>
              <a:t>Vận hành, chuyển giao và đánh giá hiệu quả</a:t>
            </a:r>
            <a:endParaRPr lang="en-US" sz="2500" dirty="0"/>
          </a:p>
        </p:txBody>
      </p:sp>
      <p:sp>
        <p:nvSpPr>
          <p:cNvPr id="5" name="Shape 3"/>
          <p:cNvSpPr/>
          <p:nvPr/>
        </p:nvSpPr>
        <p:spPr>
          <a:xfrm>
            <a:off x="548640" y="1298448"/>
            <a:ext cx="3977640" cy="1536192"/>
          </a:xfrm>
          <a:prstGeom prst="roundRect">
            <a:avLst>
              <a:gd name="adj" fmla="val 3571"/>
            </a:avLst>
          </a:prstGeom>
          <a:solidFill>
            <a:srgbClr val="E8F0FE"/>
          </a:solidFill>
          <a:ln w="6350">
            <a:solidFill>
              <a:srgbClr val="E8F0FE"/>
            </a:solidFill>
            <a:prstDash val="solid"/>
          </a:ln>
        </p:spPr>
        <p:txBody>
          <a:bodyPr/>
          <a:lstStyle/>
          <a:p>
            <a:endParaRPr lang="en-US"/>
          </a:p>
        </p:txBody>
      </p:sp>
      <p:sp>
        <p:nvSpPr>
          <p:cNvPr id="6" name="Text 4"/>
          <p:cNvSpPr txBox="1"/>
          <p:nvPr/>
        </p:nvSpPr>
        <p:spPr>
          <a:xfrm>
            <a:off x="749808" y="1417320"/>
            <a:ext cx="3611880" cy="237744"/>
          </a:xfrm>
          <a:prstGeom prst="rect">
            <a:avLst/>
          </a:prstGeom>
          <a:noFill/>
          <a:ln/>
        </p:spPr>
        <p:txBody>
          <a:bodyPr wrap="square" lIns="0" tIns="0" rIns="0" bIns="0" rtlCol="0" anchor="ctr"/>
          <a:lstStyle/>
          <a:p>
            <a:pPr marL="0" indent="0">
              <a:buNone/>
            </a:pPr>
            <a:r>
              <a:rPr lang="en-US" sz="1150" b="1" dirty="0">
                <a:solidFill>
                  <a:srgbClr val="1E2761"/>
                </a:solidFill>
                <a:latin typeface="Calibri" pitchFamily="34" charset="0"/>
                <a:ea typeface="Calibri" pitchFamily="34" charset="-122"/>
                <a:cs typeface="Calibri" pitchFamily="34" charset="-120"/>
              </a:rPr>
              <a:t>Vận hành &amp; hỗ trợ</a:t>
            </a:r>
            <a:endParaRPr lang="en-US" sz="1150" dirty="0"/>
          </a:p>
        </p:txBody>
      </p:sp>
      <p:sp>
        <p:nvSpPr>
          <p:cNvPr id="7" name="Text 5"/>
          <p:cNvSpPr txBox="1"/>
          <p:nvPr/>
        </p:nvSpPr>
        <p:spPr>
          <a:xfrm>
            <a:off x="749808" y="1700784"/>
            <a:ext cx="3611880" cy="1005840"/>
          </a:xfrm>
          <a:prstGeom prst="rect">
            <a:avLst/>
          </a:prstGeom>
          <a:noFill/>
          <a:ln/>
        </p:spPr>
        <p:txBody>
          <a:bodyPr wrap="square" lIns="0" tIns="0" rIns="0" bIns="0" rtlCol="0" anchor="ctr"/>
          <a:lstStyle/>
          <a:p>
            <a:pPr marL="342900" indent="-342900">
              <a:spcAft>
                <a:spcPts val="600"/>
              </a:spcAft>
              <a:buSzPct val="100000"/>
              <a:buChar char="•"/>
            </a:pPr>
            <a:r>
              <a:rPr lang="en-US" sz="1200" dirty="0">
                <a:solidFill>
                  <a:srgbClr val="222833"/>
                </a:solidFill>
                <a:latin typeface="Calibri" pitchFamily="34" charset="0"/>
                <a:ea typeface="Calibri" pitchFamily="34" charset="-122"/>
                <a:cs typeface="Calibri" pitchFamily="34" charset="-120"/>
              </a:rPr>
              <a:t>Hypercare 1 tháng sau Go-live, daily standup 09:00</a:t>
            </a:r>
            <a:endParaRPr lang="en-US" sz="1200" dirty="0"/>
          </a:p>
          <a:p>
            <a:pPr marL="342900" indent="-342900">
              <a:spcAft>
                <a:spcPts val="600"/>
              </a:spcAft>
              <a:buSzPct val="100000"/>
              <a:buChar char="•"/>
            </a:pPr>
            <a:r>
              <a:rPr lang="en-US" sz="1200" dirty="0">
                <a:solidFill>
                  <a:srgbClr val="222833"/>
                </a:solidFill>
                <a:latin typeface="Calibri" pitchFamily="34" charset="0"/>
                <a:ea typeface="Calibri" pitchFamily="34" charset="-122"/>
                <a:cs typeface="Calibri" pitchFamily="34" charset="-120"/>
              </a:rPr>
              <a:t>ITSM 3 tier; SLA xử lý lỗi nghiêm trọng ≤ 4 giờ</a:t>
            </a:r>
            <a:endParaRPr lang="en-US" sz="1200" dirty="0"/>
          </a:p>
          <a:p>
            <a:pPr marL="342900" indent="-342900">
              <a:spcAft>
                <a:spcPts val="600"/>
              </a:spcAft>
              <a:buSzPct val="100000"/>
              <a:buChar char="•"/>
            </a:pPr>
            <a:r>
              <a:rPr lang="en-US" sz="1200" dirty="0">
                <a:solidFill>
                  <a:srgbClr val="222833"/>
                </a:solidFill>
                <a:latin typeface="Calibri" pitchFamily="34" charset="0"/>
                <a:ea typeface="Calibri" pitchFamily="34" charset="-122"/>
                <a:cs typeface="Calibri" pitchFamily="34" charset="-120"/>
              </a:rPr>
              <a:t>Grafana giám sát 3 metrics: Freshness, Latency, MAPE</a:t>
            </a:r>
            <a:endParaRPr lang="en-US" sz="1200" dirty="0"/>
          </a:p>
        </p:txBody>
      </p:sp>
      <p:sp>
        <p:nvSpPr>
          <p:cNvPr id="8" name="Shape 6"/>
          <p:cNvSpPr/>
          <p:nvPr/>
        </p:nvSpPr>
        <p:spPr>
          <a:xfrm>
            <a:off x="4617720" y="1298448"/>
            <a:ext cx="3977640" cy="1536192"/>
          </a:xfrm>
          <a:prstGeom prst="roundRect">
            <a:avLst>
              <a:gd name="adj" fmla="val 3571"/>
            </a:avLst>
          </a:prstGeom>
          <a:solidFill>
            <a:srgbClr val="E8F0FE"/>
          </a:solidFill>
          <a:ln w="6350">
            <a:solidFill>
              <a:srgbClr val="E8F0FE"/>
            </a:solidFill>
            <a:prstDash val="solid"/>
          </a:ln>
        </p:spPr>
        <p:txBody>
          <a:bodyPr/>
          <a:lstStyle/>
          <a:p>
            <a:endParaRPr lang="en-US"/>
          </a:p>
        </p:txBody>
      </p:sp>
      <p:sp>
        <p:nvSpPr>
          <p:cNvPr id="9" name="Text 7"/>
          <p:cNvSpPr txBox="1"/>
          <p:nvPr/>
        </p:nvSpPr>
        <p:spPr>
          <a:xfrm>
            <a:off x="4818888" y="1417320"/>
            <a:ext cx="3611880" cy="237744"/>
          </a:xfrm>
          <a:prstGeom prst="rect">
            <a:avLst/>
          </a:prstGeom>
          <a:noFill/>
          <a:ln/>
        </p:spPr>
        <p:txBody>
          <a:bodyPr wrap="square" lIns="0" tIns="0" rIns="0" bIns="0" rtlCol="0" anchor="ctr"/>
          <a:lstStyle/>
          <a:p>
            <a:pPr marL="0" indent="0">
              <a:buNone/>
            </a:pPr>
            <a:r>
              <a:rPr lang="en-US" sz="1150" b="1" dirty="0">
                <a:solidFill>
                  <a:srgbClr val="1E2761"/>
                </a:solidFill>
                <a:latin typeface="Calibri" pitchFamily="34" charset="0"/>
                <a:ea typeface="Calibri" pitchFamily="34" charset="-122"/>
                <a:cs typeface="Calibri" pitchFamily="34" charset="-120"/>
              </a:rPr>
              <a:t>Sao lưu &amp; DR</a:t>
            </a:r>
            <a:endParaRPr lang="en-US" sz="1150" dirty="0"/>
          </a:p>
        </p:txBody>
      </p:sp>
      <p:sp>
        <p:nvSpPr>
          <p:cNvPr id="10" name="Text 8"/>
          <p:cNvSpPr txBox="1"/>
          <p:nvPr/>
        </p:nvSpPr>
        <p:spPr>
          <a:xfrm>
            <a:off x="4818888" y="1700784"/>
            <a:ext cx="3611880" cy="1005840"/>
          </a:xfrm>
          <a:prstGeom prst="rect">
            <a:avLst/>
          </a:prstGeom>
          <a:noFill/>
          <a:ln/>
        </p:spPr>
        <p:txBody>
          <a:bodyPr wrap="square" lIns="0" tIns="0" rIns="0" bIns="0" rtlCol="0" anchor="ctr"/>
          <a:lstStyle/>
          <a:p>
            <a:pPr marL="342900" indent="-342900">
              <a:spcAft>
                <a:spcPts val="600"/>
              </a:spcAft>
              <a:buSzPct val="100000"/>
              <a:buChar char="•"/>
            </a:pPr>
            <a:r>
              <a:rPr lang="en-US" sz="1200" dirty="0">
                <a:solidFill>
                  <a:srgbClr val="222833"/>
                </a:solidFill>
                <a:latin typeface="Calibri" pitchFamily="34" charset="0"/>
                <a:ea typeface="Calibri" pitchFamily="34" charset="-122"/>
                <a:cs typeface="Calibri" pitchFamily="34" charset="-120"/>
              </a:rPr>
              <a:t>Nguyên tắc 3-2-1 cho PostgreSQL, sao lưu tự động hàng ngày</a:t>
            </a:r>
            <a:endParaRPr lang="en-US" sz="1200" dirty="0"/>
          </a:p>
          <a:p>
            <a:pPr marL="342900" indent="-342900">
              <a:spcAft>
                <a:spcPts val="600"/>
              </a:spcAft>
              <a:buSzPct val="100000"/>
              <a:buChar char="•"/>
            </a:pPr>
            <a:r>
              <a:rPr lang="en-US" sz="1200" dirty="0">
                <a:solidFill>
                  <a:srgbClr val="222833"/>
                </a:solidFill>
                <a:latin typeface="Calibri" pitchFamily="34" charset="0"/>
                <a:ea typeface="Calibri" pitchFamily="34" charset="-122"/>
                <a:cs typeface="Calibri" pitchFamily="34" charset="-120"/>
              </a:rPr>
              <a:t>DR Drill 6 tháng/lần, RPO &lt; 24h, RTO &lt; 4h</a:t>
            </a:r>
            <a:endParaRPr lang="en-US" sz="1200" dirty="0"/>
          </a:p>
        </p:txBody>
      </p:sp>
      <p:sp>
        <p:nvSpPr>
          <p:cNvPr id="11" name="Shape 9"/>
          <p:cNvSpPr/>
          <p:nvPr/>
        </p:nvSpPr>
        <p:spPr>
          <a:xfrm>
            <a:off x="548640" y="2971800"/>
            <a:ext cx="3977640" cy="1536192"/>
          </a:xfrm>
          <a:prstGeom prst="roundRect">
            <a:avLst>
              <a:gd name="adj" fmla="val 3571"/>
            </a:avLst>
          </a:prstGeom>
          <a:solidFill>
            <a:srgbClr val="E8F0FE"/>
          </a:solidFill>
          <a:ln w="6350">
            <a:solidFill>
              <a:srgbClr val="E8F0FE"/>
            </a:solidFill>
            <a:prstDash val="solid"/>
          </a:ln>
        </p:spPr>
        <p:txBody>
          <a:bodyPr/>
          <a:lstStyle/>
          <a:p>
            <a:endParaRPr lang="en-US"/>
          </a:p>
        </p:txBody>
      </p:sp>
      <p:sp>
        <p:nvSpPr>
          <p:cNvPr id="12" name="Text 10"/>
          <p:cNvSpPr txBox="1"/>
          <p:nvPr/>
        </p:nvSpPr>
        <p:spPr>
          <a:xfrm>
            <a:off x="749808" y="3090672"/>
            <a:ext cx="3611880" cy="237744"/>
          </a:xfrm>
          <a:prstGeom prst="rect">
            <a:avLst/>
          </a:prstGeom>
          <a:noFill/>
          <a:ln/>
        </p:spPr>
        <p:txBody>
          <a:bodyPr wrap="square" lIns="0" tIns="0" rIns="0" bIns="0" rtlCol="0" anchor="ctr"/>
          <a:lstStyle/>
          <a:p>
            <a:pPr marL="0" indent="0">
              <a:buNone/>
            </a:pPr>
            <a:r>
              <a:rPr lang="en-US" sz="1150" b="1" dirty="0">
                <a:solidFill>
                  <a:srgbClr val="1E2761"/>
                </a:solidFill>
                <a:latin typeface="Calibri" pitchFamily="34" charset="0"/>
                <a:ea typeface="Calibri" pitchFamily="34" charset="-122"/>
                <a:cs typeface="Calibri" pitchFamily="34" charset="-120"/>
              </a:rPr>
              <a:t>Bàn giao</a:t>
            </a:r>
            <a:endParaRPr lang="en-US" sz="1150" dirty="0"/>
          </a:p>
        </p:txBody>
      </p:sp>
      <p:sp>
        <p:nvSpPr>
          <p:cNvPr id="13" name="Text 11"/>
          <p:cNvSpPr txBox="1"/>
          <p:nvPr/>
        </p:nvSpPr>
        <p:spPr>
          <a:xfrm>
            <a:off x="749808" y="3374136"/>
            <a:ext cx="3611880" cy="1005840"/>
          </a:xfrm>
          <a:prstGeom prst="rect">
            <a:avLst/>
          </a:prstGeom>
          <a:noFill/>
          <a:ln/>
        </p:spPr>
        <p:txBody>
          <a:bodyPr wrap="square" lIns="0" tIns="0" rIns="0" bIns="0" rtlCol="0" anchor="ctr"/>
          <a:lstStyle/>
          <a:p>
            <a:pPr marL="342900" indent="-342900">
              <a:spcAft>
                <a:spcPts val="600"/>
              </a:spcAft>
              <a:buSzPct val="100000"/>
              <a:buChar char="•"/>
            </a:pPr>
            <a:r>
              <a:rPr lang="en-US" sz="1200" dirty="0">
                <a:solidFill>
                  <a:srgbClr val="222833"/>
                </a:solidFill>
                <a:latin typeface="Calibri" pitchFamily="34" charset="0"/>
                <a:ea typeface="Calibri" pitchFamily="34" charset="-122"/>
                <a:cs typeface="Calibri" pitchFamily="34" charset="-120"/>
              </a:rPr>
              <a:t>Source code pipeline, model, API trên GitLab</a:t>
            </a:r>
            <a:endParaRPr lang="en-US" sz="1200" dirty="0"/>
          </a:p>
          <a:p>
            <a:pPr marL="342900" indent="-342900">
              <a:spcAft>
                <a:spcPts val="600"/>
              </a:spcAft>
              <a:buSzPct val="100000"/>
              <a:buChar char="•"/>
            </a:pPr>
            <a:r>
              <a:rPr lang="en-US" sz="1200" dirty="0">
                <a:solidFill>
                  <a:srgbClr val="222833"/>
                </a:solidFill>
                <a:latin typeface="Calibri" pitchFamily="34" charset="0"/>
                <a:ea typeface="Calibri" pitchFamily="34" charset="-122"/>
                <a:cs typeface="Calibri" pitchFamily="34" charset="-120"/>
              </a:rPr>
              <a:t>Tài khoản Cloud, MLflow, Airflow</a:t>
            </a:r>
            <a:endParaRPr lang="en-US" sz="1200" dirty="0"/>
          </a:p>
          <a:p>
            <a:pPr marL="342900" indent="-342900">
              <a:spcAft>
                <a:spcPts val="600"/>
              </a:spcAft>
              <a:buSzPct val="100000"/>
              <a:buChar char="•"/>
            </a:pPr>
            <a:r>
              <a:rPr lang="en-US" sz="1200" dirty="0">
                <a:solidFill>
                  <a:srgbClr val="222833"/>
                </a:solidFill>
                <a:latin typeface="Calibri" pitchFamily="34" charset="0"/>
                <a:ea typeface="Calibri" pitchFamily="34" charset="-122"/>
                <a:cs typeface="Calibri" pitchFamily="34" charset="-120"/>
              </a:rPr>
              <a:t>HLD/LLD, Runbook, báo cáo benchmark đa mô hình</a:t>
            </a:r>
            <a:endParaRPr lang="en-US" sz="1200" dirty="0"/>
          </a:p>
        </p:txBody>
      </p:sp>
      <p:sp>
        <p:nvSpPr>
          <p:cNvPr id="14" name="Shape 12"/>
          <p:cNvSpPr/>
          <p:nvPr/>
        </p:nvSpPr>
        <p:spPr>
          <a:xfrm>
            <a:off x="4617720" y="2971800"/>
            <a:ext cx="3977640" cy="1536192"/>
          </a:xfrm>
          <a:prstGeom prst="roundRect">
            <a:avLst>
              <a:gd name="adj" fmla="val 3571"/>
            </a:avLst>
          </a:prstGeom>
          <a:solidFill>
            <a:srgbClr val="E8F0FE"/>
          </a:solidFill>
          <a:ln w="6350">
            <a:solidFill>
              <a:srgbClr val="E8F0FE"/>
            </a:solidFill>
            <a:prstDash val="solid"/>
          </a:ln>
        </p:spPr>
        <p:txBody>
          <a:bodyPr/>
          <a:lstStyle/>
          <a:p>
            <a:endParaRPr lang="en-US"/>
          </a:p>
        </p:txBody>
      </p:sp>
      <p:sp>
        <p:nvSpPr>
          <p:cNvPr id="15" name="Text 13"/>
          <p:cNvSpPr txBox="1"/>
          <p:nvPr/>
        </p:nvSpPr>
        <p:spPr>
          <a:xfrm>
            <a:off x="4818888" y="3090672"/>
            <a:ext cx="3611880" cy="237744"/>
          </a:xfrm>
          <a:prstGeom prst="rect">
            <a:avLst/>
          </a:prstGeom>
          <a:noFill/>
          <a:ln/>
        </p:spPr>
        <p:txBody>
          <a:bodyPr wrap="square" lIns="0" tIns="0" rIns="0" bIns="0" rtlCol="0" anchor="ctr"/>
          <a:lstStyle/>
          <a:p>
            <a:pPr marL="0" indent="0">
              <a:buNone/>
            </a:pPr>
            <a:r>
              <a:rPr lang="en-US" sz="1150" b="1" dirty="0">
                <a:solidFill>
                  <a:srgbClr val="1E2761"/>
                </a:solidFill>
                <a:latin typeface="Calibri" pitchFamily="34" charset="0"/>
                <a:ea typeface="Calibri" pitchFamily="34" charset="-122"/>
                <a:cs typeface="Calibri" pitchFamily="34" charset="-120"/>
              </a:rPr>
              <a:t>Nghiệm thu &amp; Benefit Realization</a:t>
            </a:r>
            <a:endParaRPr lang="en-US" sz="1150" dirty="0"/>
          </a:p>
        </p:txBody>
      </p:sp>
      <p:sp>
        <p:nvSpPr>
          <p:cNvPr id="16" name="Text 14"/>
          <p:cNvSpPr txBox="1"/>
          <p:nvPr/>
        </p:nvSpPr>
        <p:spPr>
          <a:xfrm>
            <a:off x="4818888" y="3374136"/>
            <a:ext cx="3611880" cy="1005840"/>
          </a:xfrm>
          <a:prstGeom prst="rect">
            <a:avLst/>
          </a:prstGeom>
          <a:noFill/>
          <a:ln/>
        </p:spPr>
        <p:txBody>
          <a:bodyPr wrap="square" lIns="0" tIns="0" rIns="0" bIns="0" rtlCol="0" anchor="ctr"/>
          <a:lstStyle/>
          <a:p>
            <a:pPr marL="342900" indent="-342900">
              <a:spcAft>
                <a:spcPts val="600"/>
              </a:spcAft>
              <a:buSzPct val="100000"/>
              <a:buChar char="•"/>
            </a:pPr>
            <a:r>
              <a:rPr lang="en-US" sz="1200" dirty="0">
                <a:solidFill>
                  <a:srgbClr val="222833"/>
                </a:solidFill>
                <a:latin typeface="Calibri" pitchFamily="34" charset="0"/>
                <a:ea typeface="Calibri" pitchFamily="34" charset="-122"/>
                <a:cs typeface="Calibri" pitchFamily="34" charset="-120"/>
              </a:rPr>
              <a:t>UAT ký xác nhận, pass 100% test case Critical/High</a:t>
            </a:r>
            <a:endParaRPr lang="en-US" sz="1200" dirty="0"/>
          </a:p>
          <a:p>
            <a:pPr marL="342900" indent="-342900">
              <a:spcAft>
                <a:spcPts val="600"/>
              </a:spcAft>
              <a:buSzPct val="100000"/>
              <a:buChar char="•"/>
            </a:pPr>
            <a:r>
              <a:rPr lang="en-US" sz="1200" dirty="0">
                <a:solidFill>
                  <a:srgbClr val="222833"/>
                </a:solidFill>
                <a:latin typeface="Calibri" pitchFamily="34" charset="0"/>
                <a:ea typeface="Calibri" pitchFamily="34" charset="-122"/>
                <a:cs typeface="Calibri" pitchFamily="34" charset="-120"/>
              </a:rPr>
              <a:t>14 ngày Production không sự cố P0/P1</a:t>
            </a:r>
            <a:endParaRPr lang="en-US" sz="1200" dirty="0"/>
          </a:p>
          <a:p>
            <a:pPr marL="342900" indent="-342900">
              <a:spcAft>
                <a:spcPts val="600"/>
              </a:spcAft>
              <a:buSzPct val="100000"/>
              <a:buChar char="•"/>
            </a:pPr>
            <a:r>
              <a:rPr lang="en-US" sz="1200" dirty="0">
                <a:solidFill>
                  <a:srgbClr val="222833"/>
                </a:solidFill>
                <a:latin typeface="Calibri" pitchFamily="34" charset="0"/>
                <a:ea typeface="Calibri" pitchFamily="34" charset="-122"/>
                <a:cs typeface="Calibri" pitchFamily="34" charset="-120"/>
              </a:rPr>
              <a:t>Đo lại KPI tại +1, +3, +6 tháng; mốc +3 tháng MAPE phải &lt; 10%</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E2761"/>
        </a:solidFill>
        <a:effectLst/>
      </p:bgPr>
    </p:bg>
    <p:spTree>
      <p:nvGrpSpPr>
        <p:cNvPr id="1" name=""/>
        <p:cNvGrpSpPr/>
        <p:nvPr/>
      </p:nvGrpSpPr>
      <p:grpSpPr>
        <a:xfrm>
          <a:off x="0" y="0"/>
          <a:ext cx="0" cy="0"/>
          <a:chOff x="0" y="0"/>
          <a:chExt cx="0" cy="0"/>
        </a:xfrm>
      </p:grpSpPr>
      <p:sp>
        <p:nvSpPr>
          <p:cNvPr id="3" name="Text 1"/>
          <p:cNvSpPr txBox="1"/>
          <p:nvPr/>
        </p:nvSpPr>
        <p:spPr>
          <a:xfrm>
            <a:off x="640080" y="932688"/>
            <a:ext cx="7863840" cy="548640"/>
          </a:xfrm>
          <a:prstGeom prst="rect">
            <a:avLst/>
          </a:prstGeom>
          <a:noFill/>
          <a:ln/>
        </p:spPr>
        <p:txBody>
          <a:bodyPr wrap="square" lIns="0" tIns="0" rIns="0" bIns="0" rtlCol="0" anchor="ctr"/>
          <a:lstStyle/>
          <a:p>
            <a:pPr marL="0" indent="0">
              <a:buNone/>
            </a:pPr>
            <a:r>
              <a:rPr lang="en-US" sz="2900" b="1" dirty="0">
                <a:solidFill>
                  <a:srgbClr val="FFFFFF"/>
                </a:solidFill>
                <a:latin typeface="Cambria" pitchFamily="34" charset="0"/>
                <a:ea typeface="Cambria" pitchFamily="34" charset="-122"/>
                <a:cs typeface="Cambria" pitchFamily="34" charset="-120"/>
              </a:rPr>
              <a:t>Đề tài khả thi và sẵn sàng triển khai</a:t>
            </a:r>
            <a:endParaRPr lang="en-US" sz="2900" dirty="0"/>
          </a:p>
        </p:txBody>
      </p:sp>
      <p:sp>
        <p:nvSpPr>
          <p:cNvPr id="4" name="Shape 2"/>
          <p:cNvSpPr/>
          <p:nvPr/>
        </p:nvSpPr>
        <p:spPr>
          <a:xfrm>
            <a:off x="658368" y="1691640"/>
            <a:ext cx="384048" cy="384048"/>
          </a:xfrm>
          <a:prstGeom prst="ellipse">
            <a:avLst/>
          </a:prstGeom>
          <a:solidFill>
            <a:srgbClr val="E08A1E"/>
          </a:solidFill>
          <a:ln/>
        </p:spPr>
        <p:txBody>
          <a:bodyPr/>
          <a:lstStyle/>
          <a:p>
            <a:endParaRPr lang="en-US"/>
          </a:p>
        </p:txBody>
      </p:sp>
      <p:sp>
        <p:nvSpPr>
          <p:cNvPr id="5" name="Text 3"/>
          <p:cNvSpPr txBox="1"/>
          <p:nvPr/>
        </p:nvSpPr>
        <p:spPr>
          <a:xfrm>
            <a:off x="658368" y="1691640"/>
            <a:ext cx="384048" cy="384048"/>
          </a:xfrm>
          <a:prstGeom prst="rect">
            <a:avLst/>
          </a:prstGeom>
          <a:noFill/>
          <a:ln/>
        </p:spPr>
        <p:txBody>
          <a:bodyPr wrap="square" lIns="0" tIns="0" rIns="0" bIns="0" rtlCol="0" anchor="ctr"/>
          <a:lstStyle/>
          <a:p>
            <a:pPr marL="0" indent="0" algn="ctr">
              <a:buNone/>
            </a:pPr>
            <a:r>
              <a:rPr lang="en-US" sz="1300" b="1" dirty="0">
                <a:solidFill>
                  <a:srgbClr val="1E2761"/>
                </a:solidFill>
                <a:latin typeface="Calibri" pitchFamily="34" charset="0"/>
                <a:ea typeface="Calibri" pitchFamily="34" charset="-122"/>
                <a:cs typeface="Calibri" pitchFamily="34" charset="-120"/>
              </a:rPr>
              <a:t>1</a:t>
            </a:r>
            <a:endParaRPr lang="en-US" sz="1300" dirty="0"/>
          </a:p>
        </p:txBody>
      </p:sp>
      <p:sp>
        <p:nvSpPr>
          <p:cNvPr id="6" name="Text 4"/>
          <p:cNvSpPr txBox="1"/>
          <p:nvPr/>
        </p:nvSpPr>
        <p:spPr>
          <a:xfrm>
            <a:off x="1188720" y="1673352"/>
            <a:ext cx="7315200" cy="237744"/>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Bài toán có giá trị đa phòng ban</a:t>
            </a:r>
            <a:endParaRPr lang="en-US" sz="1300" dirty="0"/>
          </a:p>
        </p:txBody>
      </p:sp>
      <p:sp>
        <p:nvSpPr>
          <p:cNvPr id="7" name="Text 5"/>
          <p:cNvSpPr txBox="1"/>
          <p:nvPr/>
        </p:nvSpPr>
        <p:spPr>
          <a:xfrm>
            <a:off x="1188720" y="1911096"/>
            <a:ext cx="7315200" cy="274320"/>
          </a:xfrm>
          <a:prstGeom prst="rect">
            <a:avLst/>
          </a:prstGeom>
          <a:noFill/>
          <a:ln/>
        </p:spPr>
        <p:txBody>
          <a:bodyPr wrap="square" lIns="0" tIns="0" rIns="0" bIns="0" rtlCol="0" anchor="ctr"/>
          <a:lstStyle/>
          <a:p>
            <a:pPr marL="0" indent="0">
              <a:buNone/>
            </a:pPr>
            <a:r>
              <a:rPr lang="en-US" sz="1050" dirty="0">
                <a:solidFill>
                  <a:srgbClr val="CADCFC"/>
                </a:solidFill>
                <a:latin typeface="Calibri" pitchFamily="34" charset="0"/>
                <a:ea typeface="Calibri" pitchFamily="34" charset="-122"/>
                <a:cs typeface="Calibri" pitchFamily="34" charset="-120"/>
              </a:rPr>
              <a:t>Một kết quả dự báo phục vụ điều phối nhân sự, kho vận và marketing</a:t>
            </a:r>
            <a:endParaRPr lang="en-US" sz="1050" dirty="0"/>
          </a:p>
        </p:txBody>
      </p:sp>
      <p:sp>
        <p:nvSpPr>
          <p:cNvPr id="8" name="Shape 6"/>
          <p:cNvSpPr/>
          <p:nvPr/>
        </p:nvSpPr>
        <p:spPr>
          <a:xfrm>
            <a:off x="658368" y="2404872"/>
            <a:ext cx="384048" cy="384048"/>
          </a:xfrm>
          <a:prstGeom prst="ellipse">
            <a:avLst/>
          </a:prstGeom>
          <a:solidFill>
            <a:srgbClr val="E08A1E"/>
          </a:solidFill>
          <a:ln/>
        </p:spPr>
        <p:txBody>
          <a:bodyPr/>
          <a:lstStyle/>
          <a:p>
            <a:endParaRPr lang="en-US"/>
          </a:p>
        </p:txBody>
      </p:sp>
      <p:sp>
        <p:nvSpPr>
          <p:cNvPr id="9" name="Text 7"/>
          <p:cNvSpPr txBox="1"/>
          <p:nvPr/>
        </p:nvSpPr>
        <p:spPr>
          <a:xfrm>
            <a:off x="658368" y="2404872"/>
            <a:ext cx="384048" cy="384048"/>
          </a:xfrm>
          <a:prstGeom prst="rect">
            <a:avLst/>
          </a:prstGeom>
          <a:noFill/>
          <a:ln/>
        </p:spPr>
        <p:txBody>
          <a:bodyPr wrap="square" lIns="0" tIns="0" rIns="0" bIns="0" rtlCol="0" anchor="ctr"/>
          <a:lstStyle/>
          <a:p>
            <a:pPr marL="0" indent="0" algn="ctr">
              <a:buNone/>
            </a:pPr>
            <a:r>
              <a:rPr lang="en-US" sz="1300" b="1" dirty="0">
                <a:solidFill>
                  <a:srgbClr val="1E2761"/>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1188720" y="2386584"/>
            <a:ext cx="7315200" cy="237744"/>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KPI đo được, có baseline</a:t>
            </a:r>
            <a:endParaRPr lang="en-US" sz="1300" dirty="0"/>
          </a:p>
        </p:txBody>
      </p:sp>
      <p:sp>
        <p:nvSpPr>
          <p:cNvPr id="11" name="Text 9"/>
          <p:cNvSpPr txBox="1"/>
          <p:nvPr/>
        </p:nvSpPr>
        <p:spPr>
          <a:xfrm>
            <a:off x="1188720" y="2624328"/>
            <a:ext cx="7315200" cy="274320"/>
          </a:xfrm>
          <a:prstGeom prst="rect">
            <a:avLst/>
          </a:prstGeom>
          <a:noFill/>
          <a:ln/>
        </p:spPr>
        <p:txBody>
          <a:bodyPr wrap="square" lIns="0" tIns="0" rIns="0" bIns="0" rtlCol="0" anchor="ctr"/>
          <a:lstStyle/>
          <a:p>
            <a:pPr marL="0" indent="0">
              <a:buNone/>
            </a:pPr>
            <a:r>
              <a:rPr lang="en-US" sz="1050" dirty="0">
                <a:solidFill>
                  <a:srgbClr val="CADCFC"/>
                </a:solidFill>
                <a:latin typeface="Calibri" pitchFamily="34" charset="0"/>
                <a:ea typeface="Calibri" pitchFamily="34" charset="-122"/>
                <a:cs typeface="Calibri" pitchFamily="34" charset="-120"/>
              </a:rPr>
              <a:t>Hai nhóm KPI độc lập, độ đo chuẩn quốc tế, mốc đo tại +1/+3/+6 tháng</a:t>
            </a:r>
            <a:endParaRPr lang="en-US" sz="1050" dirty="0"/>
          </a:p>
        </p:txBody>
      </p:sp>
      <p:sp>
        <p:nvSpPr>
          <p:cNvPr id="12" name="Shape 10"/>
          <p:cNvSpPr/>
          <p:nvPr/>
        </p:nvSpPr>
        <p:spPr>
          <a:xfrm>
            <a:off x="658368" y="3118104"/>
            <a:ext cx="384048" cy="384048"/>
          </a:xfrm>
          <a:prstGeom prst="ellipse">
            <a:avLst/>
          </a:prstGeom>
          <a:solidFill>
            <a:srgbClr val="E08A1E"/>
          </a:solidFill>
          <a:ln/>
        </p:spPr>
        <p:txBody>
          <a:bodyPr/>
          <a:lstStyle/>
          <a:p>
            <a:endParaRPr lang="en-US"/>
          </a:p>
        </p:txBody>
      </p:sp>
      <p:sp>
        <p:nvSpPr>
          <p:cNvPr id="13" name="Text 11"/>
          <p:cNvSpPr txBox="1"/>
          <p:nvPr/>
        </p:nvSpPr>
        <p:spPr>
          <a:xfrm>
            <a:off x="658368" y="3118104"/>
            <a:ext cx="384048" cy="384048"/>
          </a:xfrm>
          <a:prstGeom prst="rect">
            <a:avLst/>
          </a:prstGeom>
          <a:noFill/>
          <a:ln/>
        </p:spPr>
        <p:txBody>
          <a:bodyPr wrap="square" lIns="0" tIns="0" rIns="0" bIns="0" rtlCol="0" anchor="ctr"/>
          <a:lstStyle/>
          <a:p>
            <a:pPr marL="0" indent="0" algn="ctr">
              <a:buNone/>
            </a:pPr>
            <a:r>
              <a:rPr lang="en-US" sz="1300" b="1" dirty="0">
                <a:solidFill>
                  <a:srgbClr val="1E2761"/>
                </a:solidFill>
                <a:latin typeface="Calibri" pitchFamily="34" charset="0"/>
                <a:ea typeface="Calibri" pitchFamily="34" charset="-122"/>
                <a:cs typeface="Calibri" pitchFamily="34" charset="-120"/>
              </a:rPr>
              <a:t>3</a:t>
            </a:r>
            <a:endParaRPr lang="en-US" sz="1300" dirty="0"/>
          </a:p>
        </p:txBody>
      </p:sp>
      <p:sp>
        <p:nvSpPr>
          <p:cNvPr id="14" name="Text 12"/>
          <p:cNvSpPr txBox="1"/>
          <p:nvPr/>
        </p:nvSpPr>
        <p:spPr>
          <a:xfrm>
            <a:off x="1188720" y="3099816"/>
            <a:ext cx="7315200" cy="237744"/>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Có phương án kỹ thuật dự phòng</a:t>
            </a:r>
            <a:endParaRPr lang="en-US" sz="1300" dirty="0"/>
          </a:p>
        </p:txBody>
      </p:sp>
      <p:sp>
        <p:nvSpPr>
          <p:cNvPr id="15" name="Text 13"/>
          <p:cNvSpPr txBox="1"/>
          <p:nvPr/>
        </p:nvSpPr>
        <p:spPr>
          <a:xfrm>
            <a:off x="1188720" y="3337560"/>
            <a:ext cx="7315200" cy="274320"/>
          </a:xfrm>
          <a:prstGeom prst="rect">
            <a:avLst/>
          </a:prstGeom>
          <a:noFill/>
          <a:ln/>
        </p:spPr>
        <p:txBody>
          <a:bodyPr wrap="square" lIns="0" tIns="0" rIns="0" bIns="0" rtlCol="0" anchor="ctr"/>
          <a:lstStyle/>
          <a:p>
            <a:pPr marL="0" indent="0">
              <a:buNone/>
            </a:pPr>
            <a:r>
              <a:rPr lang="en-US" sz="1050" dirty="0">
                <a:solidFill>
                  <a:srgbClr val="CADCFC"/>
                </a:solidFill>
                <a:latin typeface="Calibri" pitchFamily="34" charset="0"/>
                <a:ea typeface="Calibri" pitchFamily="34" charset="-122"/>
                <a:cs typeface="Calibri" pitchFamily="34" charset="-120"/>
              </a:rPr>
              <a:t>Cam kết ngưỡng chỉ số, thực nghiệm ≥ 4 phương pháp, có fallback rõ ràng</a:t>
            </a:r>
            <a:endParaRPr lang="en-US" sz="1050" dirty="0"/>
          </a:p>
        </p:txBody>
      </p:sp>
      <p:sp>
        <p:nvSpPr>
          <p:cNvPr id="16" name="Shape 14"/>
          <p:cNvSpPr/>
          <p:nvPr/>
        </p:nvSpPr>
        <p:spPr>
          <a:xfrm>
            <a:off x="658368" y="3831336"/>
            <a:ext cx="384048" cy="384048"/>
          </a:xfrm>
          <a:prstGeom prst="ellipse">
            <a:avLst/>
          </a:prstGeom>
          <a:solidFill>
            <a:srgbClr val="E08A1E"/>
          </a:solidFill>
          <a:ln/>
        </p:spPr>
        <p:txBody>
          <a:bodyPr/>
          <a:lstStyle/>
          <a:p>
            <a:endParaRPr lang="en-US"/>
          </a:p>
        </p:txBody>
      </p:sp>
      <p:sp>
        <p:nvSpPr>
          <p:cNvPr id="17" name="Text 15"/>
          <p:cNvSpPr txBox="1"/>
          <p:nvPr/>
        </p:nvSpPr>
        <p:spPr>
          <a:xfrm>
            <a:off x="658368" y="3831336"/>
            <a:ext cx="384048" cy="384048"/>
          </a:xfrm>
          <a:prstGeom prst="rect">
            <a:avLst/>
          </a:prstGeom>
          <a:noFill/>
          <a:ln/>
        </p:spPr>
        <p:txBody>
          <a:bodyPr wrap="square" lIns="0" tIns="0" rIns="0" bIns="0" rtlCol="0" anchor="ctr"/>
          <a:lstStyle/>
          <a:p>
            <a:pPr marL="0" indent="0" algn="ctr">
              <a:buNone/>
            </a:pPr>
            <a:r>
              <a:rPr lang="en-US" sz="1300" b="1" dirty="0">
                <a:solidFill>
                  <a:srgbClr val="1E2761"/>
                </a:solidFill>
                <a:latin typeface="Calibri" pitchFamily="34" charset="0"/>
                <a:ea typeface="Calibri" pitchFamily="34" charset="-122"/>
                <a:cs typeface="Calibri" pitchFamily="34" charset="-120"/>
              </a:rPr>
              <a:t>4</a:t>
            </a:r>
            <a:endParaRPr lang="en-US" sz="1300" dirty="0"/>
          </a:p>
        </p:txBody>
      </p:sp>
      <p:sp>
        <p:nvSpPr>
          <p:cNvPr id="18" name="Text 16"/>
          <p:cNvSpPr txBox="1"/>
          <p:nvPr/>
        </p:nvSpPr>
        <p:spPr>
          <a:xfrm>
            <a:off x="1188720" y="3813048"/>
            <a:ext cx="7315200" cy="237744"/>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Chi phí hợp lý, không trùng lặp</a:t>
            </a:r>
            <a:endParaRPr lang="en-US" sz="1300" dirty="0"/>
          </a:p>
        </p:txBody>
      </p:sp>
      <p:sp>
        <p:nvSpPr>
          <p:cNvPr id="19" name="Text 17"/>
          <p:cNvSpPr txBox="1"/>
          <p:nvPr/>
        </p:nvSpPr>
        <p:spPr>
          <a:xfrm>
            <a:off x="1188720" y="4050792"/>
            <a:ext cx="7315200" cy="274320"/>
          </a:xfrm>
          <a:prstGeom prst="rect">
            <a:avLst/>
          </a:prstGeom>
          <a:noFill/>
          <a:ln/>
        </p:spPr>
        <p:txBody>
          <a:bodyPr wrap="square" lIns="0" tIns="0" rIns="0" bIns="0" rtlCol="0" anchor="ctr"/>
          <a:lstStyle/>
          <a:p>
            <a:pPr marL="0" indent="0">
              <a:buNone/>
            </a:pPr>
            <a:r>
              <a:rPr lang="en-US" sz="1050" dirty="0">
                <a:solidFill>
                  <a:srgbClr val="CADCFC"/>
                </a:solidFill>
                <a:latin typeface="Calibri" pitchFamily="34" charset="0"/>
                <a:ea typeface="Calibri" pitchFamily="34" charset="-122"/>
                <a:cs typeface="Calibri" pitchFamily="34" charset="-120"/>
              </a:rPr>
              <a:t>CAPEX 663 triệu · TCO năm 1 1,088 tỷ · không cộng dồn với đồ án nếu triển khai chung</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86</TotalTime>
  <Words>3285</Words>
  <Application>Microsoft Office PowerPoint</Application>
  <PresentationFormat>On-screen Show (16:9)</PresentationFormat>
  <Paragraphs>480</Paragraphs>
  <Slides>19</Slides>
  <Notes>19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Bài thực hành — Ứng dụng AI dự báo lưu lượng khách hàng đa chi nhánh</dc:title>
  <dc:subject>PptxGenJS Presentation</dc:subject>
  <dc:creator>Nhóm 5</dc:creator>
  <cp:lastModifiedBy>Phạm Minh Mẫn</cp:lastModifiedBy>
  <cp:revision>7</cp:revision>
  <dcterms:created xsi:type="dcterms:W3CDTF">2026-09-16T16:52:56Z</dcterms:created>
  <dcterms:modified xsi:type="dcterms:W3CDTF">2026-09-16T18:33:31Z</dcterms:modified>
</cp:coreProperties>
</file>