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2761"/>
    <a:srgbClr val="E8F0FE"/>
    <a:srgbClr val="768093"/>
    <a:srgbClr val="C6D0DE"/>
    <a:srgbClr val="424A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3991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TV1 (Nhóm trưởng) — 40 giây. Đây là video RIÊNG cho bài thực hành. Giới thiệu tên đề tài theo nhánh kỹ thuật, không khóa vào một thuật toán.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TV1 — 25 giây.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TV2 — 55 giây. Vào thẳng quy trình và điểm đau, không nói vòng vo về doanh nghiệp — cô đã nhắc nhóm chỗ này ở buổi 6.</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TV2 — 55 giây. Mở bằng câu 'một kết quả dự báo phục vụ ba phòng ban' — đó là điểm ăn tiền.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TV3 — 50 giây. Câu cuối rất quan trọng nếu cô đối chiếu với video đồ án.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TV3 — 60 giây. Phải giải thích được VÌ SAO MAPE có hai mốc — đây là câu hỏi khả năng cao.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TV4 — 55 giây. Không đọc hết bảng — nói 3 chỉ số quan trọng nhất rồi nhấn câu cuối.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TV4 — 50 giây.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TV5 — 60 giây. Hai ô dưới là phần cô góp ý ở buổi 6 — phải nói rõ.</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TV5 — 50 giây. Nói 2 use case chính (BR-01, BR-03), phần còn lại để hội đồng đọc.</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TV6 — 55 giây. Giới thiệu theo module, mỗi module một câu tóm tắt.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TV6 — 50 giây. Nhấn cột KPI liên kết bên phải.</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TV7 — 55 giây. Nhấn dòng 08:00 — đó là điểm kiểm soát của con người.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TV7 — 55 giây. Ba tầng bên trái, ERD bên phải, đừng đọc hết thuộc tính.</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TV8 — 55 giây. Nhấn pha 6 Hypercare — nhiều nhóm quên pha này.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TV8 — 60 giây. Ô bên phải là điểm phòng thủ: nhóm đã tính trước việc không trùng chi phí với đồ án.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TV9 — 55 giây. Nhấn R02 — đây là rủi ro nghề nghiệp của bài toán dữ liệu và nhóm đã có phương án.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TV9 — 55 giây. Nhấn ô cuối: nhóm không dừng ở nghiệm thu kỹ thuật mà đo cả giá trị nghiệp vụ.</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TV1 — 45 giây. Kết thúc video bài thực hành.</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1"/>
          <p:cNvSpPr txBox="1"/>
          <p:nvPr/>
        </p:nvSpPr>
        <p:spPr>
          <a:xfrm>
            <a:off x="687887" y="1828676"/>
            <a:ext cx="7863840" cy="1325880"/>
          </a:xfrm>
          <a:prstGeom prst="rect">
            <a:avLst/>
          </a:prstGeom>
          <a:noFill/>
          <a:ln/>
        </p:spPr>
        <p:txBody>
          <a:bodyPr wrap="square" lIns="0" tIns="0" rIns="0" bIns="0" rtlCol="0" anchor="ctr"/>
          <a:lstStyle/>
          <a:p>
            <a:pPr marL="0" indent="0" algn="ctr">
              <a:lnSpc>
                <a:spcPts val="4000"/>
              </a:lnSpc>
              <a:buNone/>
            </a:pPr>
            <a:r>
              <a:rPr lang="en-US" sz="3600" b="1" dirty="0">
                <a:solidFill>
                  <a:srgbClr val="1E2761"/>
                </a:solidFill>
                <a:latin typeface="Cambria" pitchFamily="34" charset="0"/>
                <a:ea typeface="Cambria" pitchFamily="34" charset="-122"/>
                <a:cs typeface="Cambria" pitchFamily="34" charset="-120"/>
              </a:rPr>
              <a:t>Ứng dụng AI </a:t>
            </a:r>
            <a:r>
              <a:rPr lang="en-US" sz="3600" b="1" dirty="0" err="1">
                <a:solidFill>
                  <a:srgbClr val="1E2761"/>
                </a:solidFill>
                <a:latin typeface="Cambria" pitchFamily="34" charset="0"/>
                <a:ea typeface="Cambria" pitchFamily="34" charset="-122"/>
                <a:cs typeface="Cambria" pitchFamily="34" charset="-120"/>
              </a:rPr>
              <a:t>dự</a:t>
            </a:r>
            <a:r>
              <a:rPr lang="en-US" sz="3600" b="1" dirty="0">
                <a:solidFill>
                  <a:srgbClr val="1E2761"/>
                </a:solidFill>
                <a:latin typeface="Cambria" pitchFamily="34" charset="0"/>
                <a:ea typeface="Cambria" pitchFamily="34" charset="-122"/>
                <a:cs typeface="Cambria" pitchFamily="34" charset="-120"/>
              </a:rPr>
              <a:t> </a:t>
            </a:r>
            <a:r>
              <a:rPr lang="en-US" sz="3600" b="1" dirty="0" err="1">
                <a:solidFill>
                  <a:srgbClr val="1E2761"/>
                </a:solidFill>
                <a:latin typeface="Cambria" pitchFamily="34" charset="0"/>
                <a:ea typeface="Cambria" pitchFamily="34" charset="-122"/>
                <a:cs typeface="Cambria" pitchFamily="34" charset="-120"/>
              </a:rPr>
              <a:t>báo</a:t>
            </a:r>
            <a:r>
              <a:rPr lang="en-US" sz="3600" dirty="0">
                <a:solidFill>
                  <a:srgbClr val="1E2761"/>
                </a:solidFill>
              </a:rPr>
              <a:t> </a:t>
            </a:r>
            <a:r>
              <a:rPr lang="en-US" sz="3600" b="1" dirty="0" err="1">
                <a:solidFill>
                  <a:srgbClr val="1E2761"/>
                </a:solidFill>
                <a:latin typeface="Cambria" pitchFamily="34" charset="0"/>
                <a:ea typeface="Cambria" pitchFamily="34" charset="-122"/>
                <a:cs typeface="Cambria" pitchFamily="34" charset="-120"/>
              </a:rPr>
              <a:t>lưu</a:t>
            </a:r>
            <a:r>
              <a:rPr lang="en-US" sz="3600" b="1" dirty="0">
                <a:solidFill>
                  <a:srgbClr val="1E2761"/>
                </a:solidFill>
                <a:latin typeface="Cambria" pitchFamily="34" charset="0"/>
                <a:ea typeface="Cambria" pitchFamily="34" charset="-122"/>
                <a:cs typeface="Cambria" pitchFamily="34" charset="-120"/>
              </a:rPr>
              <a:t> lượng </a:t>
            </a:r>
            <a:r>
              <a:rPr lang="en-US" sz="3600" b="1" dirty="0" err="1">
                <a:solidFill>
                  <a:srgbClr val="1E2761"/>
                </a:solidFill>
                <a:latin typeface="Cambria" pitchFamily="34" charset="0"/>
                <a:ea typeface="Cambria" pitchFamily="34" charset="-122"/>
                <a:cs typeface="Cambria" pitchFamily="34" charset="-120"/>
              </a:rPr>
              <a:t>khách</a:t>
            </a:r>
            <a:r>
              <a:rPr lang="en-US" sz="3600" b="1" dirty="0">
                <a:solidFill>
                  <a:srgbClr val="1E2761"/>
                </a:solidFill>
                <a:latin typeface="Cambria" pitchFamily="34" charset="0"/>
                <a:ea typeface="Cambria" pitchFamily="34" charset="-122"/>
                <a:cs typeface="Cambria" pitchFamily="34" charset="-120"/>
              </a:rPr>
              <a:t> </a:t>
            </a:r>
            <a:r>
              <a:rPr lang="en-US" sz="3600" b="1" dirty="0" err="1">
                <a:solidFill>
                  <a:srgbClr val="1E2761"/>
                </a:solidFill>
                <a:latin typeface="Cambria" pitchFamily="34" charset="0"/>
                <a:ea typeface="Cambria" pitchFamily="34" charset="-122"/>
                <a:cs typeface="Cambria" pitchFamily="34" charset="-120"/>
              </a:rPr>
              <a:t>hàng</a:t>
            </a:r>
            <a:r>
              <a:rPr lang="en-US" sz="3600" b="1" dirty="0">
                <a:solidFill>
                  <a:srgbClr val="1E2761"/>
                </a:solidFill>
                <a:latin typeface="Cambria" pitchFamily="34" charset="0"/>
                <a:ea typeface="Cambria" pitchFamily="34" charset="-122"/>
                <a:cs typeface="Cambria" pitchFamily="34" charset="-120"/>
              </a:rPr>
              <a:t> </a:t>
            </a:r>
            <a:r>
              <a:rPr lang="en-US" sz="3600" b="1" dirty="0" err="1">
                <a:solidFill>
                  <a:srgbClr val="1E2761"/>
                </a:solidFill>
                <a:latin typeface="Cambria" pitchFamily="34" charset="0"/>
                <a:ea typeface="Cambria" pitchFamily="34" charset="-122"/>
                <a:cs typeface="Cambria" pitchFamily="34" charset="-120"/>
              </a:rPr>
              <a:t>cho</a:t>
            </a:r>
            <a:r>
              <a:rPr lang="en-US" sz="3600" b="1" dirty="0">
                <a:solidFill>
                  <a:srgbClr val="1E2761"/>
                </a:solidFill>
                <a:latin typeface="Cambria" pitchFamily="34" charset="0"/>
                <a:ea typeface="Cambria" pitchFamily="34" charset="-122"/>
                <a:cs typeface="Cambria" pitchFamily="34" charset="-120"/>
              </a:rPr>
              <a:t> </a:t>
            </a:r>
            <a:r>
              <a:rPr lang="en-US" sz="3600" b="1" dirty="0" err="1">
                <a:solidFill>
                  <a:srgbClr val="1E2761"/>
                </a:solidFill>
                <a:latin typeface="Cambria" pitchFamily="34" charset="0"/>
                <a:ea typeface="Cambria" pitchFamily="34" charset="-122"/>
                <a:cs typeface="Cambria" pitchFamily="34" charset="-120"/>
              </a:rPr>
              <a:t>chuỗi</a:t>
            </a:r>
            <a:r>
              <a:rPr lang="en-US" sz="3600" b="1" dirty="0">
                <a:solidFill>
                  <a:srgbClr val="1E2761"/>
                </a:solidFill>
                <a:latin typeface="Cambria" pitchFamily="34" charset="0"/>
                <a:ea typeface="Cambria" pitchFamily="34" charset="-122"/>
                <a:cs typeface="Cambria" pitchFamily="34" charset="-120"/>
              </a:rPr>
              <a:t> Ways </a:t>
            </a:r>
            <a:r>
              <a:rPr lang="en-US" sz="3600" b="1" dirty="0" err="1">
                <a:solidFill>
                  <a:srgbClr val="1E2761"/>
                </a:solidFill>
                <a:latin typeface="Cambria" pitchFamily="34" charset="0"/>
                <a:ea typeface="Cambria" pitchFamily="34" charset="-122"/>
                <a:cs typeface="Cambria" pitchFamily="34" charset="-120"/>
              </a:rPr>
              <a:t>Staytion</a:t>
            </a:r>
            <a:endParaRPr lang="en-US" sz="3600" dirty="0">
              <a:solidFill>
                <a:srgbClr val="1E2761"/>
              </a:solidFill>
            </a:endParaRPr>
          </a:p>
        </p:txBody>
      </p:sp>
      <p:pic>
        <p:nvPicPr>
          <p:cNvPr id="13" name="Picture 12">
            <a:extLst>
              <a:ext uri="{FF2B5EF4-FFF2-40B4-BE49-F238E27FC236}">
                <a16:creationId xmlns:a16="http://schemas.microsoft.com/office/drawing/2014/main" id="{F6B53CB2-3F9D-E065-061C-E02992F65061}"/>
              </a:ext>
            </a:extLst>
          </p:cNvPr>
          <p:cNvPicPr>
            <a:picLocks noChangeAspect="1"/>
          </p:cNvPicPr>
          <p:nvPr/>
        </p:nvPicPr>
        <p:blipFill>
          <a:blip r:embed="rId3"/>
          <a:stretch>
            <a:fillRect/>
          </a:stretch>
        </p:blipFill>
        <p:spPr>
          <a:xfrm>
            <a:off x="687887" y="134968"/>
            <a:ext cx="1302204" cy="1325880"/>
          </a:xfrm>
          <a:prstGeom prst="rect">
            <a:avLst/>
          </a:prstGeom>
        </p:spPr>
      </p:pic>
      <p:sp>
        <p:nvSpPr>
          <p:cNvPr id="15" name="Text 1">
            <a:extLst>
              <a:ext uri="{FF2B5EF4-FFF2-40B4-BE49-F238E27FC236}">
                <a16:creationId xmlns:a16="http://schemas.microsoft.com/office/drawing/2014/main" id="{A1A3CEDF-77AB-5B2E-ADEF-AC72B281342E}"/>
              </a:ext>
            </a:extLst>
          </p:cNvPr>
          <p:cNvSpPr txBox="1"/>
          <p:nvPr/>
        </p:nvSpPr>
        <p:spPr>
          <a:xfrm>
            <a:off x="2167799" y="158571"/>
            <a:ext cx="6860455" cy="639337"/>
          </a:xfrm>
          <a:prstGeom prst="rect">
            <a:avLst/>
          </a:prstGeom>
          <a:noFill/>
          <a:ln/>
        </p:spPr>
        <p:txBody>
          <a:bodyPr wrap="square" lIns="0" tIns="0" rIns="0" bIns="0" rtlCol="0" anchor="ctr"/>
          <a:lstStyle/>
          <a:p>
            <a:pPr marL="0" indent="0">
              <a:lnSpc>
                <a:spcPts val="4000"/>
              </a:lnSpc>
              <a:buNone/>
            </a:pPr>
            <a:r>
              <a:rPr lang="en-US" sz="2000" b="1" dirty="0">
                <a:solidFill>
                  <a:srgbClr val="1E2761"/>
                </a:solidFill>
                <a:latin typeface="Cambria" pitchFamily="34" charset="0"/>
                <a:ea typeface="Cambria" pitchFamily="34" charset="-122"/>
                <a:cs typeface="Cambria" pitchFamily="34" charset="-120"/>
              </a:rPr>
              <a:t>Trường </a:t>
            </a:r>
            <a:r>
              <a:rPr lang="en-US" sz="2000" b="1" dirty="0" err="1">
                <a:solidFill>
                  <a:srgbClr val="1E2761"/>
                </a:solidFill>
                <a:latin typeface="Cambria" pitchFamily="34" charset="0"/>
                <a:ea typeface="Cambria" pitchFamily="34" charset="-122"/>
                <a:cs typeface="Cambria" pitchFamily="34" charset="-120"/>
              </a:rPr>
              <a:t>Đại</a:t>
            </a:r>
            <a:r>
              <a:rPr lang="en-US" sz="2000" b="1" dirty="0">
                <a:solidFill>
                  <a:srgbClr val="1E2761"/>
                </a:solidFill>
                <a:latin typeface="Cambria" pitchFamily="34" charset="0"/>
                <a:ea typeface="Cambria" pitchFamily="34" charset="-122"/>
                <a:cs typeface="Cambria" pitchFamily="34" charset="-120"/>
              </a:rPr>
              <a:t> Học Công </a:t>
            </a:r>
            <a:r>
              <a:rPr lang="en-US" sz="2000" b="1" dirty="0" err="1">
                <a:solidFill>
                  <a:srgbClr val="1E2761"/>
                </a:solidFill>
                <a:latin typeface="Cambria" pitchFamily="34" charset="0"/>
                <a:ea typeface="Cambria" pitchFamily="34" charset="-122"/>
                <a:cs typeface="Cambria" pitchFamily="34" charset="-120"/>
              </a:rPr>
              <a:t>Nghệ</a:t>
            </a:r>
            <a:r>
              <a:rPr lang="en-US" sz="2000" b="1" dirty="0">
                <a:solidFill>
                  <a:srgbClr val="1E2761"/>
                </a:solidFill>
                <a:latin typeface="Cambria" pitchFamily="34" charset="0"/>
                <a:ea typeface="Cambria" pitchFamily="34" charset="-122"/>
                <a:cs typeface="Cambria" pitchFamily="34" charset="-120"/>
              </a:rPr>
              <a:t> Thông Tin - ĐHQG - HCM </a:t>
            </a:r>
            <a:endParaRPr lang="en-US" sz="2000" dirty="0">
              <a:solidFill>
                <a:srgbClr val="1E2761"/>
              </a:solidFill>
            </a:endParaRPr>
          </a:p>
        </p:txBody>
      </p:sp>
      <p:sp>
        <p:nvSpPr>
          <p:cNvPr id="17" name="Text 1">
            <a:extLst>
              <a:ext uri="{FF2B5EF4-FFF2-40B4-BE49-F238E27FC236}">
                <a16:creationId xmlns:a16="http://schemas.microsoft.com/office/drawing/2014/main" id="{7D1ED117-3882-53FB-262C-8B82FDA1E4DF}"/>
              </a:ext>
            </a:extLst>
          </p:cNvPr>
          <p:cNvSpPr txBox="1"/>
          <p:nvPr/>
        </p:nvSpPr>
        <p:spPr>
          <a:xfrm>
            <a:off x="2167800" y="601702"/>
            <a:ext cx="6860455" cy="639337"/>
          </a:xfrm>
          <a:prstGeom prst="rect">
            <a:avLst/>
          </a:prstGeom>
          <a:noFill/>
          <a:ln/>
        </p:spPr>
        <p:txBody>
          <a:bodyPr wrap="square" lIns="0" tIns="0" rIns="0" bIns="0" rtlCol="0" anchor="ctr"/>
          <a:lstStyle/>
          <a:p>
            <a:pPr marL="0" indent="0">
              <a:lnSpc>
                <a:spcPts val="4000"/>
              </a:lnSpc>
              <a:buNone/>
            </a:pPr>
            <a:r>
              <a:rPr lang="en-US" sz="2000" b="1" dirty="0">
                <a:solidFill>
                  <a:srgbClr val="1E2761"/>
                </a:solidFill>
                <a:latin typeface="Cambria" pitchFamily="34" charset="0"/>
                <a:ea typeface="Cambria" pitchFamily="34" charset="-122"/>
                <a:cs typeface="Cambria" pitchFamily="34" charset="-120"/>
              </a:rPr>
              <a:t>Trung Tâm </a:t>
            </a:r>
            <a:r>
              <a:rPr lang="en-US" sz="2000" b="1" dirty="0" err="1">
                <a:solidFill>
                  <a:srgbClr val="1E2761"/>
                </a:solidFill>
                <a:latin typeface="Cambria" pitchFamily="34" charset="0"/>
                <a:ea typeface="Cambria" pitchFamily="34" charset="-122"/>
                <a:cs typeface="Cambria" pitchFamily="34" charset="-120"/>
              </a:rPr>
              <a:t>Phát</a:t>
            </a:r>
            <a:r>
              <a:rPr lang="en-US" sz="2000" b="1" dirty="0">
                <a:solidFill>
                  <a:srgbClr val="1E2761"/>
                </a:solidFill>
                <a:latin typeface="Cambria" pitchFamily="34" charset="0"/>
                <a:ea typeface="Cambria" pitchFamily="34" charset="-122"/>
                <a:cs typeface="Cambria" pitchFamily="34" charset="-120"/>
              </a:rPr>
              <a:t> </a:t>
            </a:r>
            <a:r>
              <a:rPr lang="en-US" sz="2000" b="1" dirty="0" err="1">
                <a:solidFill>
                  <a:srgbClr val="1E2761"/>
                </a:solidFill>
                <a:latin typeface="Cambria" pitchFamily="34" charset="0"/>
                <a:ea typeface="Cambria" pitchFamily="34" charset="-122"/>
                <a:cs typeface="Cambria" pitchFamily="34" charset="-120"/>
              </a:rPr>
              <a:t>Triển</a:t>
            </a:r>
            <a:r>
              <a:rPr lang="en-US" sz="2000" b="1" dirty="0">
                <a:solidFill>
                  <a:srgbClr val="1E2761"/>
                </a:solidFill>
                <a:latin typeface="Cambria" pitchFamily="34" charset="0"/>
                <a:ea typeface="Cambria" pitchFamily="34" charset="-122"/>
                <a:cs typeface="Cambria" pitchFamily="34" charset="-120"/>
              </a:rPr>
              <a:t> Công </a:t>
            </a:r>
            <a:r>
              <a:rPr lang="en-US" sz="2000" b="1" dirty="0" err="1">
                <a:solidFill>
                  <a:srgbClr val="1E2761"/>
                </a:solidFill>
                <a:latin typeface="Cambria" pitchFamily="34" charset="0"/>
                <a:ea typeface="Cambria" pitchFamily="34" charset="-122"/>
                <a:cs typeface="Cambria" pitchFamily="34" charset="-120"/>
              </a:rPr>
              <a:t>Nghệ</a:t>
            </a:r>
            <a:r>
              <a:rPr lang="en-US" sz="2000" b="1" dirty="0">
                <a:solidFill>
                  <a:srgbClr val="1E2761"/>
                </a:solidFill>
                <a:latin typeface="Cambria" pitchFamily="34" charset="0"/>
                <a:ea typeface="Cambria" pitchFamily="34" charset="-122"/>
                <a:cs typeface="Cambria" pitchFamily="34" charset="-120"/>
              </a:rPr>
              <a:t> Thông tin</a:t>
            </a:r>
            <a:endParaRPr lang="en-US" sz="2000" dirty="0">
              <a:solidFill>
                <a:srgbClr val="1E2761"/>
              </a:solidFill>
            </a:endParaRPr>
          </a:p>
        </p:txBody>
      </p:sp>
      <p:sp>
        <p:nvSpPr>
          <p:cNvPr id="19" name="Text 1">
            <a:extLst>
              <a:ext uri="{FF2B5EF4-FFF2-40B4-BE49-F238E27FC236}">
                <a16:creationId xmlns:a16="http://schemas.microsoft.com/office/drawing/2014/main" id="{10CE08D3-3DCD-8FAB-404A-148F40267BE3}"/>
              </a:ext>
            </a:extLst>
          </p:cNvPr>
          <p:cNvSpPr txBox="1"/>
          <p:nvPr/>
        </p:nvSpPr>
        <p:spPr>
          <a:xfrm>
            <a:off x="2929796" y="3873004"/>
            <a:ext cx="6860455" cy="639337"/>
          </a:xfrm>
          <a:prstGeom prst="rect">
            <a:avLst/>
          </a:prstGeom>
          <a:noFill/>
          <a:ln/>
        </p:spPr>
        <p:txBody>
          <a:bodyPr wrap="square" lIns="0" tIns="0" rIns="0" bIns="0" rtlCol="0" anchor="ctr"/>
          <a:lstStyle/>
          <a:p>
            <a:pPr marL="0" indent="0">
              <a:lnSpc>
                <a:spcPts val="4000"/>
              </a:lnSpc>
              <a:buNone/>
            </a:pPr>
            <a:r>
              <a:rPr lang="en-US" sz="2000" b="1" dirty="0">
                <a:solidFill>
                  <a:srgbClr val="1E2761"/>
                </a:solidFill>
                <a:latin typeface="Cambria" pitchFamily="34" charset="0"/>
                <a:ea typeface="Cambria" pitchFamily="34" charset="-122"/>
                <a:cs typeface="Cambria" pitchFamily="34" charset="-120"/>
              </a:rPr>
              <a:t>GVHD: Nguyễn Thị Anh Thư</a:t>
            </a:r>
            <a:endParaRPr lang="en-US" sz="2000" dirty="0">
              <a:solidFill>
                <a:srgbClr val="1E276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1"/>
          <p:cNvSpPr txBox="1"/>
          <p:nvPr/>
        </p:nvSpPr>
        <p:spPr>
          <a:xfrm>
            <a:off x="548640" y="475488"/>
            <a:ext cx="8046720" cy="777240"/>
          </a:xfrm>
          <a:prstGeom prst="rect">
            <a:avLst/>
          </a:prstGeom>
          <a:noFill/>
          <a:ln/>
        </p:spPr>
        <p:txBody>
          <a:bodyPr wrap="square" lIns="0" tIns="0" rIns="0" bIns="0" rtlCol="0" anchor="t"/>
          <a:lstStyle/>
          <a:p>
            <a:pPr marL="0" indent="0">
              <a:buNone/>
            </a:pPr>
            <a:r>
              <a:rPr lang="en-US" sz="2500" b="1" dirty="0">
                <a:solidFill>
                  <a:srgbClr val="1E2761"/>
                </a:solidFill>
                <a:latin typeface="Cambria" pitchFamily="34" charset="0"/>
                <a:ea typeface="Cambria" pitchFamily="34" charset="-122"/>
                <a:cs typeface="Cambria" pitchFamily="34" charset="-120"/>
              </a:rPr>
              <a:t>Phân công trình bày — 9 thành viên</a:t>
            </a:r>
            <a:endParaRPr lang="en-US" sz="2500" dirty="0"/>
          </a:p>
        </p:txBody>
      </p:sp>
      <p:graphicFrame>
        <p:nvGraphicFramePr>
          <p:cNvPr id="5" name="Table 0"/>
          <p:cNvGraphicFramePr>
            <a:graphicFrameLocks noGrp="1"/>
          </p:cNvGraphicFramePr>
          <p:nvPr>
            <p:extLst>
              <p:ext uri="{D42A27DB-BD31-4B8C-83A1-F6EECF244321}">
                <p14:modId xmlns:p14="http://schemas.microsoft.com/office/powerpoint/2010/main" val="3960422133"/>
              </p:ext>
            </p:extLst>
          </p:nvPr>
        </p:nvGraphicFramePr>
        <p:xfrm>
          <a:off x="548640" y="1325880"/>
          <a:ext cx="8046720" cy="3017520"/>
        </p:xfrm>
        <a:graphic>
          <a:graphicData uri="http://schemas.openxmlformats.org/drawingml/2006/table">
            <a:tbl>
              <a:tblPr/>
              <a:tblGrid>
                <a:gridCol w="182880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301752">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Thành viên</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Nội dung phụ trách</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Slide</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01752">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Phạm Minh Mẫn</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Mở đầu, giới thiệu đề tài, kết luận</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1–2, 19</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1"/>
                  </a:ext>
                </a:extLst>
              </a:tr>
              <a:tr h="301752">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Đặng Nguyễn Minh Anh</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Bối cảnh, hiện trạng và tính cấp thiết của bài toán</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3–4</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2"/>
                  </a:ext>
                </a:extLst>
              </a:tr>
              <a:tr h="301752">
                <a:tc>
                  <a:txBody>
                    <a:bodyPr/>
                    <a:lstStyle/>
                    <a:p>
                      <a:pPr marL="0" indent="0">
                        <a:buNone/>
                      </a:pPr>
                      <a:r>
                        <a:rPr lang="en-US" sz="1000" dirty="0" err="1">
                          <a:solidFill>
                            <a:srgbClr val="222833"/>
                          </a:solidFill>
                          <a:latin typeface="Calibri" pitchFamily="34" charset="0"/>
                          <a:ea typeface="Calibri" pitchFamily="34" charset="-122"/>
                          <a:cs typeface="Calibri" pitchFamily="34" charset="-120"/>
                        </a:rPr>
                        <a:t>Trần</a:t>
                      </a:r>
                      <a:r>
                        <a:rPr lang="en-US" sz="1000" dirty="0">
                          <a:solidFill>
                            <a:srgbClr val="222833"/>
                          </a:solidFill>
                          <a:latin typeface="Calibri" pitchFamily="34" charset="0"/>
                          <a:ea typeface="Calibri" pitchFamily="34" charset="-122"/>
                          <a:cs typeface="Calibri" pitchFamily="34" charset="-120"/>
                        </a:rPr>
                        <a:t> Văn </a:t>
                      </a:r>
                      <a:r>
                        <a:rPr lang="en-US" sz="1000" dirty="0" err="1">
                          <a:solidFill>
                            <a:srgbClr val="222833"/>
                          </a:solidFill>
                          <a:latin typeface="Calibri" pitchFamily="34" charset="0"/>
                          <a:ea typeface="Calibri" pitchFamily="34" charset="-122"/>
                          <a:cs typeface="Calibri" pitchFamily="34" charset="-120"/>
                        </a:rPr>
                        <a:t>Phây</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Mục tiêu tổng quát và KPI nhóm A — mô hình AI</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5–6</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3"/>
                  </a:ext>
                </a:extLst>
              </a:tr>
              <a:tr h="301752">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Huỳnh Thị Kiều Uyên</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KPI nhóm B và ánh xạ KPI theo giai đoạn</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7–8</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4"/>
                  </a:ext>
                </a:extLst>
              </a:tr>
              <a:tr h="3017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err="1">
                          <a:solidFill>
                            <a:srgbClr val="222833"/>
                          </a:solidFill>
                          <a:latin typeface="Calibri" pitchFamily="34" charset="0"/>
                          <a:ea typeface="Calibri" pitchFamily="34" charset="-122"/>
                          <a:cs typeface="Calibri" pitchFamily="34" charset="-120"/>
                        </a:rPr>
                        <a:t>Trần</a:t>
                      </a:r>
                      <a:r>
                        <a:rPr lang="en-US" sz="1000" dirty="0">
                          <a:solidFill>
                            <a:srgbClr val="222833"/>
                          </a:solidFill>
                          <a:latin typeface="Calibri" pitchFamily="34" charset="0"/>
                          <a:ea typeface="Calibri" pitchFamily="34" charset="-122"/>
                          <a:cs typeface="Calibri" pitchFamily="34" charset="-120"/>
                        </a:rPr>
                        <a:t> Việt Đức</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Phạm vi, giới hạn AI, yêu cầu nghiệp vụ</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9–10</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5"/>
                  </a:ext>
                </a:extLst>
              </a:tr>
              <a:tr h="301752">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Nguyễn Đức Huy</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Yêu cầu chức năng và phi chức năng</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11–12</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6"/>
                  </a:ext>
                </a:extLst>
              </a:tr>
              <a:tr h="301752">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Vũ Duy</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Quy trình TO-BE, pipeline và kiến trúc hệ thống</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13–14</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7"/>
                  </a:ext>
                </a:extLst>
              </a:tr>
              <a:tr h="301752">
                <a:tc>
                  <a:txBody>
                    <a:bodyPr/>
                    <a:lstStyle/>
                    <a:p>
                      <a:pPr marL="0" indent="0">
                        <a:buNone/>
                      </a:pPr>
                      <a:r>
                        <a:rPr lang="en-US" sz="1000" dirty="0" err="1">
                          <a:solidFill>
                            <a:srgbClr val="222833"/>
                          </a:solidFill>
                          <a:latin typeface="Calibri" pitchFamily="34" charset="0"/>
                          <a:ea typeface="Calibri" pitchFamily="34" charset="-122"/>
                          <a:cs typeface="Calibri" pitchFamily="34" charset="-120"/>
                        </a:rPr>
                        <a:t>Trần</a:t>
                      </a:r>
                      <a:r>
                        <a:rPr lang="en-US" sz="1000" dirty="0">
                          <a:solidFill>
                            <a:srgbClr val="222833"/>
                          </a:solidFill>
                          <a:latin typeface="Calibri" pitchFamily="34" charset="0"/>
                          <a:ea typeface="Calibri" pitchFamily="34" charset="-122"/>
                          <a:cs typeface="Calibri" pitchFamily="34" charset="-120"/>
                        </a:rPr>
                        <a:t> Anh Tú</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Kế hoạch triển khai, nhân sự và dự toán chi phí</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15–16</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8"/>
                  </a:ext>
                </a:extLst>
              </a:tr>
              <a:tr h="301752">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Lê Quang Đạt</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Rủi ro, kiểm thử, vận hành và nghiệm thu</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1000" dirty="0">
                          <a:solidFill>
                            <a:srgbClr val="222833"/>
                          </a:solidFill>
                          <a:latin typeface="Calibri" pitchFamily="34" charset="0"/>
                          <a:ea typeface="Calibri" pitchFamily="34" charset="-122"/>
                          <a:cs typeface="Calibri" pitchFamily="34" charset="-120"/>
                        </a:rPr>
                        <a:t>17–18</a:t>
                      </a:r>
                      <a:endParaRPr lang="en-US" sz="10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txBox="1"/>
          <p:nvPr/>
        </p:nvSpPr>
        <p:spPr>
          <a:xfrm>
            <a:off x="548640" y="475488"/>
            <a:ext cx="8046720" cy="777240"/>
          </a:xfrm>
          <a:prstGeom prst="rect">
            <a:avLst/>
          </a:prstGeom>
          <a:noFill/>
          <a:ln/>
        </p:spPr>
        <p:txBody>
          <a:bodyPr wrap="square" lIns="0" tIns="0" rIns="0" bIns="0" rtlCol="0" anchor="t"/>
          <a:lstStyle/>
          <a:p>
            <a:pPr marL="0" indent="0">
              <a:buNone/>
            </a:pPr>
            <a:r>
              <a:rPr lang="en-US" sz="2500" b="1" dirty="0">
                <a:solidFill>
                  <a:srgbClr val="1E2761"/>
                </a:solidFill>
                <a:latin typeface="Cambria" pitchFamily="34" charset="0"/>
                <a:ea typeface="Cambria" pitchFamily="34" charset="-122"/>
                <a:cs typeface="Cambria" pitchFamily="34" charset="-120"/>
              </a:rPr>
              <a:t>Hiện trạng: điều phối nguồn lực theo cảm tính</a:t>
            </a:r>
            <a:endParaRPr lang="en-US" sz="2500" dirty="0"/>
          </a:p>
        </p:txBody>
      </p:sp>
      <p:sp>
        <p:nvSpPr>
          <p:cNvPr id="5" name="Shape 3"/>
          <p:cNvSpPr/>
          <p:nvPr/>
        </p:nvSpPr>
        <p:spPr>
          <a:xfrm>
            <a:off x="548640" y="1325880"/>
            <a:ext cx="8046720" cy="713232"/>
          </a:xfrm>
          <a:prstGeom prst="roundRect">
            <a:avLst>
              <a:gd name="adj" fmla="val 7692"/>
            </a:avLst>
          </a:prstGeom>
          <a:solidFill>
            <a:srgbClr val="E8F0FE"/>
          </a:solidFill>
          <a:ln w="6350">
            <a:solidFill>
              <a:srgbClr val="E8F0FE"/>
            </a:solidFill>
            <a:prstDash val="solid"/>
          </a:ln>
        </p:spPr>
        <p:txBody>
          <a:bodyPr/>
          <a:lstStyle/>
          <a:p>
            <a:endParaRPr lang="en-US"/>
          </a:p>
        </p:txBody>
      </p:sp>
      <p:sp>
        <p:nvSpPr>
          <p:cNvPr id="6" name="Shape 4"/>
          <p:cNvSpPr/>
          <p:nvPr/>
        </p:nvSpPr>
        <p:spPr>
          <a:xfrm>
            <a:off x="777240" y="1508760"/>
            <a:ext cx="384048" cy="384048"/>
          </a:xfrm>
          <a:prstGeom prst="ellipse">
            <a:avLst/>
          </a:prstGeom>
          <a:solidFill>
            <a:srgbClr val="1E2761"/>
          </a:solidFill>
          <a:ln/>
        </p:spPr>
        <p:txBody>
          <a:bodyPr/>
          <a:lstStyle/>
          <a:p>
            <a:endParaRPr lang="en-US"/>
          </a:p>
        </p:txBody>
      </p:sp>
      <p:sp>
        <p:nvSpPr>
          <p:cNvPr id="7" name="Text 5"/>
          <p:cNvSpPr txBox="1"/>
          <p:nvPr/>
        </p:nvSpPr>
        <p:spPr>
          <a:xfrm>
            <a:off x="777240" y="150876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298448" y="1435608"/>
            <a:ext cx="2377440" cy="502920"/>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Dữ liệu phân tán, độ trễ cao</a:t>
            </a:r>
            <a:endParaRPr lang="en-US" sz="1150" dirty="0"/>
          </a:p>
        </p:txBody>
      </p:sp>
      <p:sp>
        <p:nvSpPr>
          <p:cNvPr id="9" name="Text 7"/>
          <p:cNvSpPr txBox="1"/>
          <p:nvPr/>
        </p:nvSpPr>
        <p:spPr>
          <a:xfrm>
            <a:off x="3749040" y="1444752"/>
            <a:ext cx="4663440" cy="530352"/>
          </a:xfrm>
          <a:prstGeom prst="rect">
            <a:avLst/>
          </a:prstGeom>
          <a:noFill/>
          <a:ln/>
        </p:spPr>
        <p:txBody>
          <a:bodyPr wrap="square" lIns="0" tIns="0" rIns="0" bIns="0" rtlCol="0" anchor="ctr"/>
          <a:lstStyle/>
          <a:p>
            <a:pPr marL="0" indent="0">
              <a:buNone/>
            </a:pPr>
            <a:r>
              <a:rPr lang="en-US" sz="1200" dirty="0">
                <a:solidFill>
                  <a:srgbClr val="222833"/>
                </a:solidFill>
                <a:latin typeface="Calibri" pitchFamily="34" charset="0"/>
                <a:ea typeface="Calibri" pitchFamily="34" charset="-122"/>
                <a:cs typeface="Calibri" pitchFamily="34" charset="-120"/>
              </a:rPr>
              <a:t>Dữ liệu giao dịch POS tại 34 chi nhánh xử lý thủ công, lưu trữ phân tán — độ trễ tổng hợp 48 đến 72 giờ.</a:t>
            </a:r>
            <a:endParaRPr lang="en-US" sz="1200" dirty="0"/>
          </a:p>
        </p:txBody>
      </p:sp>
      <p:sp>
        <p:nvSpPr>
          <p:cNvPr id="10" name="Shape 8"/>
          <p:cNvSpPr/>
          <p:nvPr/>
        </p:nvSpPr>
        <p:spPr>
          <a:xfrm>
            <a:off x="548640" y="2112264"/>
            <a:ext cx="8046720" cy="713232"/>
          </a:xfrm>
          <a:prstGeom prst="roundRect">
            <a:avLst>
              <a:gd name="adj" fmla="val 7692"/>
            </a:avLst>
          </a:prstGeom>
          <a:solidFill>
            <a:srgbClr val="E8F0FE"/>
          </a:solidFill>
          <a:ln w="6350">
            <a:solidFill>
              <a:srgbClr val="E8F0FE"/>
            </a:solidFill>
            <a:prstDash val="solid"/>
          </a:ln>
        </p:spPr>
        <p:txBody>
          <a:bodyPr/>
          <a:lstStyle/>
          <a:p>
            <a:endParaRPr lang="en-US"/>
          </a:p>
        </p:txBody>
      </p:sp>
      <p:sp>
        <p:nvSpPr>
          <p:cNvPr id="11" name="Shape 9"/>
          <p:cNvSpPr/>
          <p:nvPr/>
        </p:nvSpPr>
        <p:spPr>
          <a:xfrm>
            <a:off x="777240" y="2295144"/>
            <a:ext cx="384048" cy="384048"/>
          </a:xfrm>
          <a:prstGeom prst="ellipse">
            <a:avLst/>
          </a:prstGeom>
          <a:solidFill>
            <a:srgbClr val="1E2761"/>
          </a:solidFill>
          <a:ln/>
        </p:spPr>
        <p:txBody>
          <a:bodyPr/>
          <a:lstStyle/>
          <a:p>
            <a:endParaRPr lang="en-US"/>
          </a:p>
        </p:txBody>
      </p:sp>
      <p:sp>
        <p:nvSpPr>
          <p:cNvPr id="12" name="Text 10"/>
          <p:cNvSpPr txBox="1"/>
          <p:nvPr/>
        </p:nvSpPr>
        <p:spPr>
          <a:xfrm>
            <a:off x="777240" y="229514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298448" y="2221992"/>
            <a:ext cx="2377440" cy="502920"/>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Giờ cao điểm</a:t>
            </a:r>
            <a:endParaRPr lang="en-US" sz="1150" dirty="0"/>
          </a:p>
        </p:txBody>
      </p:sp>
      <p:sp>
        <p:nvSpPr>
          <p:cNvPr id="14" name="Text 12"/>
          <p:cNvSpPr txBox="1"/>
          <p:nvPr/>
        </p:nvSpPr>
        <p:spPr>
          <a:xfrm>
            <a:off x="3749040" y="2231136"/>
            <a:ext cx="4663440" cy="530352"/>
          </a:xfrm>
          <a:prstGeom prst="rect">
            <a:avLst/>
          </a:prstGeom>
          <a:noFill/>
          <a:ln/>
        </p:spPr>
        <p:txBody>
          <a:bodyPr wrap="square" lIns="0" tIns="0" rIns="0" bIns="0" rtlCol="0" anchor="ctr"/>
          <a:lstStyle/>
          <a:p>
            <a:pPr marL="0" indent="0">
              <a:buNone/>
            </a:pPr>
            <a:r>
              <a:rPr lang="en-US" sz="1200" dirty="0">
                <a:solidFill>
                  <a:srgbClr val="222833"/>
                </a:solidFill>
                <a:latin typeface="Calibri" pitchFamily="34" charset="0"/>
                <a:ea typeface="Calibri" pitchFamily="34" charset="-122"/>
                <a:cs typeface="Calibri" pitchFamily="34" charset="-120"/>
              </a:rPr>
              <a:t>Thiếu nhân lực phục vụ, gián đoạn nguồn cung vật tư, khách chờ lâu, chất lượng dịch vụ suy giảm.</a:t>
            </a:r>
            <a:endParaRPr lang="en-US" sz="1200" dirty="0"/>
          </a:p>
        </p:txBody>
      </p:sp>
      <p:sp>
        <p:nvSpPr>
          <p:cNvPr id="15" name="Shape 13"/>
          <p:cNvSpPr/>
          <p:nvPr/>
        </p:nvSpPr>
        <p:spPr>
          <a:xfrm>
            <a:off x="548640" y="2898648"/>
            <a:ext cx="8046720" cy="713232"/>
          </a:xfrm>
          <a:prstGeom prst="roundRect">
            <a:avLst>
              <a:gd name="adj" fmla="val 7692"/>
            </a:avLst>
          </a:prstGeom>
          <a:solidFill>
            <a:srgbClr val="E8F0FE"/>
          </a:solidFill>
          <a:ln w="6350">
            <a:solidFill>
              <a:srgbClr val="E8F0FE"/>
            </a:solidFill>
            <a:prstDash val="solid"/>
          </a:ln>
        </p:spPr>
        <p:txBody>
          <a:bodyPr/>
          <a:lstStyle/>
          <a:p>
            <a:endParaRPr lang="en-US"/>
          </a:p>
        </p:txBody>
      </p:sp>
      <p:sp>
        <p:nvSpPr>
          <p:cNvPr id="16" name="Shape 14"/>
          <p:cNvSpPr/>
          <p:nvPr/>
        </p:nvSpPr>
        <p:spPr>
          <a:xfrm>
            <a:off x="777240" y="3081528"/>
            <a:ext cx="384048" cy="384048"/>
          </a:xfrm>
          <a:prstGeom prst="ellipse">
            <a:avLst/>
          </a:prstGeom>
          <a:solidFill>
            <a:srgbClr val="1E2761"/>
          </a:solidFill>
          <a:ln/>
        </p:spPr>
        <p:txBody>
          <a:bodyPr/>
          <a:lstStyle/>
          <a:p>
            <a:endParaRPr lang="en-US"/>
          </a:p>
        </p:txBody>
      </p:sp>
      <p:sp>
        <p:nvSpPr>
          <p:cNvPr id="17" name="Text 15"/>
          <p:cNvSpPr txBox="1"/>
          <p:nvPr/>
        </p:nvSpPr>
        <p:spPr>
          <a:xfrm>
            <a:off x="777240" y="308152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298448" y="3008376"/>
            <a:ext cx="2377440" cy="502920"/>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Giờ thấp điểm</a:t>
            </a:r>
            <a:endParaRPr lang="en-US" sz="1150" dirty="0"/>
          </a:p>
        </p:txBody>
      </p:sp>
      <p:sp>
        <p:nvSpPr>
          <p:cNvPr id="19" name="Text 17"/>
          <p:cNvSpPr txBox="1"/>
          <p:nvPr/>
        </p:nvSpPr>
        <p:spPr>
          <a:xfrm>
            <a:off x="3749040" y="3017520"/>
            <a:ext cx="4663440" cy="530352"/>
          </a:xfrm>
          <a:prstGeom prst="rect">
            <a:avLst/>
          </a:prstGeom>
          <a:noFill/>
          <a:ln/>
        </p:spPr>
        <p:txBody>
          <a:bodyPr wrap="square" lIns="0" tIns="0" rIns="0" bIns="0" rtlCol="0" anchor="ctr"/>
          <a:lstStyle/>
          <a:p>
            <a:pPr marL="0" indent="0">
              <a:buNone/>
            </a:pPr>
            <a:r>
              <a:rPr lang="en-US" sz="1200" dirty="0">
                <a:solidFill>
                  <a:srgbClr val="222833"/>
                </a:solidFill>
                <a:latin typeface="Calibri" pitchFamily="34" charset="0"/>
                <a:ea typeface="Calibri" pitchFamily="34" charset="-122"/>
                <a:cs typeface="Calibri" pitchFamily="34" charset="-120"/>
              </a:rPr>
              <a:t>Dư thừa nhân lực phân bổ cố định, lãng phí chi phí vận hành (OPEX).</a:t>
            </a:r>
            <a:endParaRPr lang="en-US" sz="1200" dirty="0"/>
          </a:p>
        </p:txBody>
      </p:sp>
      <p:sp>
        <p:nvSpPr>
          <p:cNvPr id="20" name="Shape 18"/>
          <p:cNvSpPr/>
          <p:nvPr/>
        </p:nvSpPr>
        <p:spPr>
          <a:xfrm>
            <a:off x="548640" y="3685032"/>
            <a:ext cx="8046720" cy="713232"/>
          </a:xfrm>
          <a:prstGeom prst="roundRect">
            <a:avLst>
              <a:gd name="adj" fmla="val 7692"/>
            </a:avLst>
          </a:prstGeom>
          <a:solidFill>
            <a:srgbClr val="E8F0FE"/>
          </a:solidFill>
          <a:ln w="6350">
            <a:solidFill>
              <a:srgbClr val="E8F0FE"/>
            </a:solidFill>
            <a:prstDash val="solid"/>
          </a:ln>
        </p:spPr>
        <p:txBody>
          <a:bodyPr/>
          <a:lstStyle/>
          <a:p>
            <a:endParaRPr lang="en-US"/>
          </a:p>
        </p:txBody>
      </p:sp>
      <p:sp>
        <p:nvSpPr>
          <p:cNvPr id="21" name="Shape 19"/>
          <p:cNvSpPr/>
          <p:nvPr/>
        </p:nvSpPr>
        <p:spPr>
          <a:xfrm>
            <a:off x="777240" y="3867912"/>
            <a:ext cx="384048" cy="384048"/>
          </a:xfrm>
          <a:prstGeom prst="ellipse">
            <a:avLst/>
          </a:prstGeom>
          <a:solidFill>
            <a:srgbClr val="1E2761"/>
          </a:solidFill>
          <a:ln/>
        </p:spPr>
        <p:txBody>
          <a:bodyPr/>
          <a:lstStyle/>
          <a:p>
            <a:endParaRPr lang="en-US"/>
          </a:p>
        </p:txBody>
      </p:sp>
      <p:sp>
        <p:nvSpPr>
          <p:cNvPr id="22" name="Text 20"/>
          <p:cNvSpPr txBox="1"/>
          <p:nvPr/>
        </p:nvSpPr>
        <p:spPr>
          <a:xfrm>
            <a:off x="777240" y="386791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1298448" y="3794760"/>
            <a:ext cx="2377440" cy="502920"/>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Hạ tầng tính toán cục bộ yếu</a:t>
            </a:r>
            <a:endParaRPr lang="en-US" sz="1150" dirty="0"/>
          </a:p>
        </p:txBody>
      </p:sp>
      <p:sp>
        <p:nvSpPr>
          <p:cNvPr id="24" name="Text 22"/>
          <p:cNvSpPr txBox="1"/>
          <p:nvPr/>
        </p:nvSpPr>
        <p:spPr>
          <a:xfrm>
            <a:off x="3749040" y="3803904"/>
            <a:ext cx="4663440" cy="530352"/>
          </a:xfrm>
          <a:prstGeom prst="rect">
            <a:avLst/>
          </a:prstGeom>
          <a:noFill/>
          <a:ln/>
        </p:spPr>
        <p:txBody>
          <a:bodyPr wrap="square" lIns="0" tIns="0" rIns="0" bIns="0" rtlCol="0" anchor="ctr"/>
          <a:lstStyle/>
          <a:p>
            <a:pPr marL="0" indent="0">
              <a:buNone/>
            </a:pPr>
            <a:r>
              <a:rPr lang="en-US" sz="1200" dirty="0">
                <a:solidFill>
                  <a:srgbClr val="222833"/>
                </a:solidFill>
                <a:latin typeface="Calibri" pitchFamily="34" charset="0"/>
                <a:ea typeface="Calibri" pitchFamily="34" charset="-122"/>
                <a:cs typeface="Calibri" pitchFamily="34" charset="-120"/>
              </a:rPr>
              <a:t>Máy chủ tại chi nhánh không đủ năng lực làm sạch, trích xuất đặc trưng và huấn luyện mô hình trên dữ liệu lịch sử lớn.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txBox="1"/>
          <p:nvPr/>
        </p:nvSpPr>
        <p:spPr>
          <a:xfrm>
            <a:off x="548640" y="475488"/>
            <a:ext cx="8046720" cy="777240"/>
          </a:xfrm>
          <a:prstGeom prst="rect">
            <a:avLst/>
          </a:prstGeom>
          <a:noFill/>
          <a:ln/>
        </p:spPr>
        <p:txBody>
          <a:bodyPr wrap="square" lIns="0" tIns="0" rIns="0" bIns="0" rtlCol="0" anchor="t"/>
          <a:lstStyle/>
          <a:p>
            <a:pPr marL="0" indent="0">
              <a:buNone/>
            </a:pPr>
            <a:r>
              <a:rPr lang="en-US" sz="2500" b="1" dirty="0">
                <a:solidFill>
                  <a:srgbClr val="1E2761"/>
                </a:solidFill>
                <a:latin typeface="Cambria" pitchFamily="34" charset="0"/>
                <a:ea typeface="Cambria" pitchFamily="34" charset="-122"/>
                <a:cs typeface="Cambria" pitchFamily="34" charset="-120"/>
              </a:rPr>
              <a:t>Một kết quả dự báo, bốn quy trình hưởng lợi</a:t>
            </a:r>
            <a:endParaRPr lang="en-US" sz="2500" dirty="0"/>
          </a:p>
        </p:txBody>
      </p:sp>
      <p:sp>
        <p:nvSpPr>
          <p:cNvPr id="5" name="Shape 3"/>
          <p:cNvSpPr/>
          <p:nvPr/>
        </p:nvSpPr>
        <p:spPr>
          <a:xfrm>
            <a:off x="2834640" y="1298448"/>
            <a:ext cx="3474720" cy="731520"/>
          </a:xfrm>
          <a:prstGeom prst="roundRect">
            <a:avLst>
              <a:gd name="adj" fmla="val 7500"/>
            </a:avLst>
          </a:prstGeom>
          <a:solidFill>
            <a:srgbClr val="1E2761"/>
          </a:solidFill>
          <a:ln w="6350">
            <a:solidFill>
              <a:srgbClr val="1E2761"/>
            </a:solidFill>
            <a:prstDash val="solid"/>
          </a:ln>
        </p:spPr>
        <p:txBody>
          <a:bodyPr/>
          <a:lstStyle/>
          <a:p>
            <a:endParaRPr lang="en-US"/>
          </a:p>
        </p:txBody>
      </p:sp>
      <p:sp>
        <p:nvSpPr>
          <p:cNvPr id="6" name="Text 4"/>
          <p:cNvSpPr txBox="1"/>
          <p:nvPr/>
        </p:nvSpPr>
        <p:spPr>
          <a:xfrm>
            <a:off x="2834640" y="1389888"/>
            <a:ext cx="3474720" cy="56692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Dự báo lưu lượng khách</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theo từng khung giờ, từng chi nhánh</a:t>
            </a:r>
            <a:endParaRPr lang="en-US" sz="1150" dirty="0"/>
          </a:p>
        </p:txBody>
      </p:sp>
      <p:sp>
        <p:nvSpPr>
          <p:cNvPr id="7" name="Shape 5"/>
          <p:cNvSpPr/>
          <p:nvPr/>
        </p:nvSpPr>
        <p:spPr>
          <a:xfrm>
            <a:off x="548640" y="2304288"/>
            <a:ext cx="3977640" cy="914400"/>
          </a:xfrm>
          <a:prstGeom prst="roundRect">
            <a:avLst>
              <a:gd name="adj" fmla="val 6000"/>
            </a:avLst>
          </a:prstGeom>
          <a:solidFill>
            <a:srgbClr val="E8F0FE"/>
          </a:solidFill>
          <a:ln w="6350">
            <a:solidFill>
              <a:srgbClr val="E8F0FE"/>
            </a:solidFill>
            <a:prstDash val="solid"/>
          </a:ln>
        </p:spPr>
        <p:txBody>
          <a:bodyPr/>
          <a:lstStyle/>
          <a:p>
            <a:endParaRPr lang="en-US"/>
          </a:p>
        </p:txBody>
      </p:sp>
      <p:sp>
        <p:nvSpPr>
          <p:cNvPr id="8" name="Text 6"/>
          <p:cNvSpPr txBox="1"/>
          <p:nvPr/>
        </p:nvSpPr>
        <p:spPr>
          <a:xfrm>
            <a:off x="749808" y="2414016"/>
            <a:ext cx="3611880" cy="237744"/>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Phòng Điều phối</a:t>
            </a:r>
            <a:endParaRPr lang="en-US" sz="1150" dirty="0"/>
          </a:p>
        </p:txBody>
      </p:sp>
      <p:sp>
        <p:nvSpPr>
          <p:cNvPr id="9" name="Text 7"/>
          <p:cNvSpPr txBox="1"/>
          <p:nvPr/>
        </p:nvSpPr>
        <p:spPr>
          <a:xfrm>
            <a:off x="749808" y="2670048"/>
            <a:ext cx="3611880" cy="457200"/>
          </a:xfrm>
          <a:prstGeom prst="rect">
            <a:avLst/>
          </a:prstGeom>
          <a:noFill/>
          <a:ln/>
        </p:spPr>
        <p:txBody>
          <a:bodyPr wrap="square" lIns="0" tIns="0" rIns="0" bIns="0" rtlCol="0" anchor="ctr"/>
          <a:lstStyle/>
          <a:p>
            <a:pPr marL="0" indent="0">
              <a:buNone/>
            </a:pPr>
            <a:r>
              <a:rPr lang="en-US" sz="1200" dirty="0">
                <a:solidFill>
                  <a:srgbClr val="5A6478"/>
                </a:solidFill>
                <a:latin typeface="Calibri" pitchFamily="34" charset="0"/>
                <a:ea typeface="Calibri" pitchFamily="34" charset="-122"/>
                <a:cs typeface="Calibri" pitchFamily="34" charset="-120"/>
              </a:rPr>
              <a:t>Xếp ca theo dữ liệu thay vì cảm tính — hết thiếu người giờ cao điểm, dư người giờ vắng</a:t>
            </a:r>
            <a:endParaRPr lang="en-US" sz="1200" dirty="0"/>
          </a:p>
        </p:txBody>
      </p:sp>
      <p:sp>
        <p:nvSpPr>
          <p:cNvPr id="10" name="Shape 8"/>
          <p:cNvSpPr/>
          <p:nvPr/>
        </p:nvSpPr>
        <p:spPr>
          <a:xfrm>
            <a:off x="4617720" y="2304288"/>
            <a:ext cx="3977640" cy="914400"/>
          </a:xfrm>
          <a:prstGeom prst="roundRect">
            <a:avLst>
              <a:gd name="adj" fmla="val 6000"/>
            </a:avLst>
          </a:prstGeom>
          <a:solidFill>
            <a:srgbClr val="E8F0FE"/>
          </a:solidFill>
          <a:ln w="6350">
            <a:solidFill>
              <a:srgbClr val="E8F0FE"/>
            </a:solidFill>
            <a:prstDash val="solid"/>
          </a:ln>
        </p:spPr>
        <p:txBody>
          <a:bodyPr/>
          <a:lstStyle/>
          <a:p>
            <a:endParaRPr lang="en-US"/>
          </a:p>
        </p:txBody>
      </p:sp>
      <p:sp>
        <p:nvSpPr>
          <p:cNvPr id="11" name="Text 9"/>
          <p:cNvSpPr txBox="1"/>
          <p:nvPr/>
        </p:nvSpPr>
        <p:spPr>
          <a:xfrm>
            <a:off x="4818888" y="2414016"/>
            <a:ext cx="3611880" cy="237744"/>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Bộ phận Kho hàng</a:t>
            </a:r>
            <a:endParaRPr lang="en-US" sz="1150" dirty="0"/>
          </a:p>
        </p:txBody>
      </p:sp>
      <p:sp>
        <p:nvSpPr>
          <p:cNvPr id="12" name="Text 10"/>
          <p:cNvSpPr txBox="1"/>
          <p:nvPr/>
        </p:nvSpPr>
        <p:spPr>
          <a:xfrm>
            <a:off x="4818888" y="2670048"/>
            <a:ext cx="3611880" cy="457200"/>
          </a:xfrm>
          <a:prstGeom prst="rect">
            <a:avLst/>
          </a:prstGeom>
          <a:noFill/>
          <a:ln/>
        </p:spPr>
        <p:txBody>
          <a:bodyPr wrap="square" lIns="0" tIns="0" rIns="0" bIns="0" rtlCol="0" anchor="ctr"/>
          <a:lstStyle/>
          <a:p>
            <a:pPr marL="0" indent="0">
              <a:buNone/>
            </a:pPr>
            <a:r>
              <a:rPr lang="en-US" sz="1200" dirty="0">
                <a:solidFill>
                  <a:srgbClr val="5A6478"/>
                </a:solidFill>
                <a:latin typeface="Calibri" pitchFamily="34" charset="0"/>
                <a:ea typeface="Calibri" pitchFamily="34" charset="-122"/>
                <a:cs typeface="Calibri" pitchFamily="34" charset="-120"/>
              </a:rPr>
              <a:t>Lập kế hoạch luân chuyển hàng kịp thời, tránh đứt gãy cung ứng hoặc tồn đọng quá hạn</a:t>
            </a:r>
            <a:endParaRPr lang="en-US" sz="1200" dirty="0"/>
          </a:p>
        </p:txBody>
      </p:sp>
      <p:sp>
        <p:nvSpPr>
          <p:cNvPr id="13" name="Shape 11"/>
          <p:cNvSpPr/>
          <p:nvPr/>
        </p:nvSpPr>
        <p:spPr>
          <a:xfrm>
            <a:off x="548640" y="3355848"/>
            <a:ext cx="3977640" cy="914400"/>
          </a:xfrm>
          <a:prstGeom prst="roundRect">
            <a:avLst>
              <a:gd name="adj" fmla="val 6000"/>
            </a:avLst>
          </a:prstGeom>
          <a:solidFill>
            <a:srgbClr val="E8F0FE"/>
          </a:solidFill>
          <a:ln w="6350">
            <a:solidFill>
              <a:srgbClr val="E8F0FE"/>
            </a:solidFill>
            <a:prstDash val="solid"/>
          </a:ln>
        </p:spPr>
        <p:txBody>
          <a:bodyPr/>
          <a:lstStyle/>
          <a:p>
            <a:endParaRPr lang="en-US"/>
          </a:p>
        </p:txBody>
      </p:sp>
      <p:sp>
        <p:nvSpPr>
          <p:cNvPr id="14" name="Text 12"/>
          <p:cNvSpPr txBox="1"/>
          <p:nvPr/>
        </p:nvSpPr>
        <p:spPr>
          <a:xfrm>
            <a:off x="749808" y="3465576"/>
            <a:ext cx="3611880" cy="237744"/>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Bộ phận Marketing</a:t>
            </a:r>
            <a:endParaRPr lang="en-US" sz="1150" dirty="0"/>
          </a:p>
        </p:txBody>
      </p:sp>
      <p:sp>
        <p:nvSpPr>
          <p:cNvPr id="15" name="Text 13"/>
          <p:cNvSpPr txBox="1"/>
          <p:nvPr/>
        </p:nvSpPr>
        <p:spPr>
          <a:xfrm>
            <a:off x="749808" y="3721608"/>
            <a:ext cx="3611880" cy="457200"/>
          </a:xfrm>
          <a:prstGeom prst="rect">
            <a:avLst/>
          </a:prstGeom>
          <a:noFill/>
          <a:ln/>
        </p:spPr>
        <p:txBody>
          <a:bodyPr wrap="square" lIns="0" tIns="0" rIns="0" bIns="0" rtlCol="0" anchor="ctr"/>
          <a:lstStyle/>
          <a:p>
            <a:pPr marL="0" indent="0">
              <a:buNone/>
            </a:pPr>
            <a:r>
              <a:rPr lang="en-US" sz="1200" dirty="0">
                <a:solidFill>
                  <a:srgbClr val="5A6478"/>
                </a:solidFill>
                <a:latin typeface="Calibri" pitchFamily="34" charset="0"/>
                <a:ea typeface="Calibri" pitchFamily="34" charset="-122"/>
                <a:cs typeface="Calibri" pitchFamily="34" charset="-120"/>
              </a:rPr>
              <a:t>Nhận diện khung giờ thấp điểm để kích cầu, không đốt ngân sách vào giờ đã kín chỗ</a:t>
            </a:r>
            <a:endParaRPr lang="en-US" sz="1200" dirty="0"/>
          </a:p>
        </p:txBody>
      </p:sp>
      <p:sp>
        <p:nvSpPr>
          <p:cNvPr id="16" name="Shape 14"/>
          <p:cNvSpPr/>
          <p:nvPr/>
        </p:nvSpPr>
        <p:spPr>
          <a:xfrm>
            <a:off x="4617720" y="3355848"/>
            <a:ext cx="3977640" cy="914400"/>
          </a:xfrm>
          <a:prstGeom prst="roundRect">
            <a:avLst>
              <a:gd name="adj" fmla="val 6000"/>
            </a:avLst>
          </a:prstGeom>
          <a:solidFill>
            <a:srgbClr val="E8F0FE"/>
          </a:solidFill>
          <a:ln w="6350">
            <a:solidFill>
              <a:srgbClr val="E8F0FE"/>
            </a:solidFill>
            <a:prstDash val="solid"/>
          </a:ln>
        </p:spPr>
        <p:txBody>
          <a:bodyPr/>
          <a:lstStyle/>
          <a:p>
            <a:endParaRPr lang="en-US"/>
          </a:p>
        </p:txBody>
      </p:sp>
      <p:sp>
        <p:nvSpPr>
          <p:cNvPr id="17" name="Text 15"/>
          <p:cNvSpPr txBox="1"/>
          <p:nvPr/>
        </p:nvSpPr>
        <p:spPr>
          <a:xfrm>
            <a:off x="4818888" y="3465576"/>
            <a:ext cx="3611880" cy="237744"/>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Quản lý chi nhánh</a:t>
            </a:r>
            <a:endParaRPr lang="en-US" sz="1150" dirty="0"/>
          </a:p>
        </p:txBody>
      </p:sp>
      <p:sp>
        <p:nvSpPr>
          <p:cNvPr id="18" name="Text 16"/>
          <p:cNvSpPr txBox="1"/>
          <p:nvPr/>
        </p:nvSpPr>
        <p:spPr>
          <a:xfrm>
            <a:off x="4818888" y="3721608"/>
            <a:ext cx="3611880" cy="457200"/>
          </a:xfrm>
          <a:prstGeom prst="rect">
            <a:avLst/>
          </a:prstGeom>
          <a:noFill/>
          <a:ln/>
        </p:spPr>
        <p:txBody>
          <a:bodyPr wrap="square" lIns="0" tIns="0" rIns="0" bIns="0" rtlCol="0" anchor="ctr"/>
          <a:lstStyle/>
          <a:p>
            <a:pPr marL="0" indent="0">
              <a:buNone/>
            </a:pPr>
            <a:r>
              <a:rPr lang="en-US" sz="1200" dirty="0">
                <a:solidFill>
                  <a:srgbClr val="5A6478"/>
                </a:solidFill>
                <a:latin typeface="Calibri" pitchFamily="34" charset="0"/>
                <a:ea typeface="Calibri" pitchFamily="34" charset="-122"/>
                <a:cs typeface="Calibri" pitchFamily="34" charset="-120"/>
              </a:rPr>
              <a:t>Lường trước đột biến để giữ chất lượng dịch vụ, giảm thời gian khách phải chờ</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txBox="1"/>
          <p:nvPr/>
        </p:nvSpPr>
        <p:spPr>
          <a:xfrm>
            <a:off x="548640" y="475488"/>
            <a:ext cx="8046720" cy="777240"/>
          </a:xfrm>
          <a:prstGeom prst="rect">
            <a:avLst/>
          </a:prstGeom>
          <a:noFill/>
          <a:ln/>
        </p:spPr>
        <p:txBody>
          <a:bodyPr wrap="square" lIns="0" tIns="0" rIns="0" bIns="0" rtlCol="0" anchor="t"/>
          <a:lstStyle/>
          <a:p>
            <a:pPr marL="0" indent="0">
              <a:buNone/>
            </a:pPr>
            <a:r>
              <a:rPr lang="en-US" sz="2500" b="1" dirty="0">
                <a:solidFill>
                  <a:srgbClr val="1E2761"/>
                </a:solidFill>
                <a:latin typeface="Cambria" pitchFamily="34" charset="0"/>
                <a:ea typeface="Cambria" pitchFamily="34" charset="-122"/>
                <a:cs typeface="Cambria" pitchFamily="34" charset="-120"/>
              </a:rPr>
              <a:t>Mục tiêu tổng quát và cấu trúc bộ KPI</a:t>
            </a:r>
            <a:endParaRPr lang="en-US" sz="2500" dirty="0"/>
          </a:p>
        </p:txBody>
      </p:sp>
      <p:sp>
        <p:nvSpPr>
          <p:cNvPr id="5" name="Shape 3"/>
          <p:cNvSpPr/>
          <p:nvPr/>
        </p:nvSpPr>
        <p:spPr>
          <a:xfrm>
            <a:off x="548640" y="1298448"/>
            <a:ext cx="8046720" cy="841248"/>
          </a:xfrm>
          <a:prstGeom prst="roundRect">
            <a:avLst>
              <a:gd name="adj" fmla="val 6522"/>
            </a:avLst>
          </a:prstGeom>
          <a:solidFill>
            <a:srgbClr val="1E2761"/>
          </a:solidFill>
          <a:ln w="6350">
            <a:solidFill>
              <a:srgbClr val="1E2761"/>
            </a:solidFill>
            <a:prstDash val="solid"/>
          </a:ln>
        </p:spPr>
        <p:txBody>
          <a:bodyPr/>
          <a:lstStyle/>
          <a:p>
            <a:endParaRPr lang="en-US"/>
          </a:p>
        </p:txBody>
      </p:sp>
      <p:sp>
        <p:nvSpPr>
          <p:cNvPr id="6" name="Text 4"/>
          <p:cNvSpPr txBox="1"/>
          <p:nvPr/>
        </p:nvSpPr>
        <p:spPr>
          <a:xfrm>
            <a:off x="822960" y="1399032"/>
            <a:ext cx="7498080" cy="219456"/>
          </a:xfrm>
          <a:prstGeom prst="rect">
            <a:avLst/>
          </a:prstGeom>
          <a:noFill/>
          <a:ln/>
        </p:spPr>
        <p:txBody>
          <a:bodyPr wrap="square" lIns="0" tIns="0" rIns="0" bIns="0" rtlCol="0" anchor="ctr"/>
          <a:lstStyle/>
          <a:p>
            <a:pPr marL="0" indent="0">
              <a:buNone/>
            </a:pPr>
            <a:r>
              <a:rPr lang="en-US" sz="1000" b="1" dirty="0">
                <a:solidFill>
                  <a:srgbClr val="E08A1E"/>
                </a:solidFill>
                <a:latin typeface="Calibri" pitchFamily="34" charset="0"/>
                <a:ea typeface="Calibri" pitchFamily="34" charset="-122"/>
                <a:cs typeface="Calibri" pitchFamily="34" charset="-120"/>
              </a:rPr>
              <a:t>MỤC TIÊU TỔNG QUÁT</a:t>
            </a:r>
            <a:endParaRPr lang="en-US" sz="1000" dirty="0"/>
          </a:p>
        </p:txBody>
      </p:sp>
      <p:sp>
        <p:nvSpPr>
          <p:cNvPr id="7" name="Text 5"/>
          <p:cNvSpPr txBox="1"/>
          <p:nvPr/>
        </p:nvSpPr>
        <p:spPr>
          <a:xfrm>
            <a:off x="822960" y="1627632"/>
            <a:ext cx="7498080" cy="43891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Xây dựng nền tảng tự động thu thập dữ liệu giao dịch, huấn luyện mô hình học máy phân tích chuỗi thời gian, và cung cấp kết quả dự báo qua các API chuyên dụng phục vụ nội bộ.</a:t>
            </a:r>
            <a:endParaRPr lang="en-US" sz="1150" dirty="0"/>
          </a:p>
        </p:txBody>
      </p:sp>
      <p:sp>
        <p:nvSpPr>
          <p:cNvPr id="8" name="Shape 6"/>
          <p:cNvSpPr/>
          <p:nvPr/>
        </p:nvSpPr>
        <p:spPr>
          <a:xfrm>
            <a:off x="548640" y="2331720"/>
            <a:ext cx="3977640" cy="1828800"/>
          </a:xfrm>
          <a:prstGeom prst="roundRect">
            <a:avLst>
              <a:gd name="adj" fmla="val 3000"/>
            </a:avLst>
          </a:prstGeom>
          <a:solidFill>
            <a:srgbClr val="E8F0FE"/>
          </a:solidFill>
          <a:ln w="6350">
            <a:solidFill>
              <a:srgbClr val="E8F0FE"/>
            </a:solidFill>
            <a:prstDash val="solid"/>
          </a:ln>
        </p:spPr>
        <p:txBody>
          <a:bodyPr/>
          <a:lstStyle/>
          <a:p>
            <a:endParaRPr lang="en-US"/>
          </a:p>
        </p:txBody>
      </p:sp>
      <p:sp>
        <p:nvSpPr>
          <p:cNvPr id="9" name="Text 7"/>
          <p:cNvSpPr txBox="1"/>
          <p:nvPr/>
        </p:nvSpPr>
        <p:spPr>
          <a:xfrm>
            <a:off x="749808" y="2468880"/>
            <a:ext cx="3611880" cy="256032"/>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Nhóm A — KPI Mô hình AI</a:t>
            </a:r>
            <a:endParaRPr lang="en-US" sz="1250" dirty="0"/>
          </a:p>
        </p:txBody>
      </p:sp>
      <p:sp>
        <p:nvSpPr>
          <p:cNvPr id="10" name="Text 8"/>
          <p:cNvSpPr txBox="1"/>
          <p:nvPr/>
        </p:nvSpPr>
        <p:spPr>
          <a:xfrm>
            <a:off x="749808" y="2761488"/>
            <a:ext cx="3611880" cy="548640"/>
          </a:xfrm>
          <a:prstGeom prst="rect">
            <a:avLst/>
          </a:prstGeom>
          <a:noFill/>
          <a:ln/>
        </p:spPr>
        <p:txBody>
          <a:bodyPr wrap="square" lIns="0" tIns="0" rIns="0" bIns="0" rtlCol="0" anchor="ctr"/>
          <a:lstStyle/>
          <a:p>
            <a:pPr marL="0" indent="0">
              <a:buNone/>
            </a:pPr>
            <a:r>
              <a:rPr lang="en-US" sz="1200" dirty="0">
                <a:solidFill>
                  <a:srgbClr val="222833"/>
                </a:solidFill>
                <a:latin typeface="Calibri" pitchFamily="34" charset="0"/>
                <a:ea typeface="Calibri" pitchFamily="34" charset="-122"/>
                <a:cs typeface="Calibri" pitchFamily="34" charset="-120"/>
              </a:rPr>
              <a:t>Đo năng lực và độ chính xác của mô hình học máy chuỗi thời gian so với baseline thủ công.</a:t>
            </a:r>
            <a:endParaRPr lang="en-US" sz="1200" dirty="0"/>
          </a:p>
        </p:txBody>
      </p:sp>
      <p:sp>
        <p:nvSpPr>
          <p:cNvPr id="11" name="Text 9"/>
          <p:cNvSpPr txBox="1"/>
          <p:nvPr/>
        </p:nvSpPr>
        <p:spPr>
          <a:xfrm>
            <a:off x="749808" y="3364992"/>
            <a:ext cx="3611880" cy="640080"/>
          </a:xfrm>
          <a:prstGeom prst="rect">
            <a:avLst/>
          </a:prstGeom>
          <a:noFill/>
          <a:ln/>
        </p:spPr>
        <p:txBody>
          <a:bodyPr wrap="square" lIns="0" tIns="0" rIns="0" bIns="0" rtlCol="0" anchor="ctr"/>
          <a:lstStyle/>
          <a:p>
            <a:pPr marL="0" indent="0">
              <a:buNone/>
            </a:pPr>
            <a:r>
              <a:rPr lang="en-US" sz="1200" dirty="0">
                <a:solidFill>
                  <a:srgbClr val="E08A1E"/>
                </a:solidFill>
                <a:latin typeface="Calibri" pitchFamily="34" charset="0"/>
                <a:ea typeface="Calibri" pitchFamily="34" charset="-122"/>
                <a:cs typeface="Calibri" pitchFamily="34" charset="-120"/>
              </a:rPr>
              <a:t>MAPE · MAE · Precision · Inference latency · Độ ổn định đa ngữ cảnh</a:t>
            </a:r>
            <a:endParaRPr lang="en-US" sz="1200" dirty="0"/>
          </a:p>
        </p:txBody>
      </p:sp>
      <p:sp>
        <p:nvSpPr>
          <p:cNvPr id="12" name="Shape 10"/>
          <p:cNvSpPr/>
          <p:nvPr/>
        </p:nvSpPr>
        <p:spPr>
          <a:xfrm>
            <a:off x="4617720" y="2331720"/>
            <a:ext cx="3977640" cy="1828800"/>
          </a:xfrm>
          <a:prstGeom prst="roundRect">
            <a:avLst>
              <a:gd name="adj" fmla="val 3000"/>
            </a:avLst>
          </a:prstGeom>
          <a:solidFill>
            <a:srgbClr val="E8F0FE"/>
          </a:solidFill>
          <a:ln w="6350">
            <a:solidFill>
              <a:srgbClr val="E8F0FE"/>
            </a:solidFill>
            <a:prstDash val="solid"/>
          </a:ln>
        </p:spPr>
        <p:txBody>
          <a:bodyPr/>
          <a:lstStyle/>
          <a:p>
            <a:endParaRPr lang="en-US"/>
          </a:p>
        </p:txBody>
      </p:sp>
      <p:sp>
        <p:nvSpPr>
          <p:cNvPr id="13" name="Text 11"/>
          <p:cNvSpPr txBox="1"/>
          <p:nvPr/>
        </p:nvSpPr>
        <p:spPr>
          <a:xfrm>
            <a:off x="4818888" y="2468880"/>
            <a:ext cx="3611880" cy="256032"/>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Nhóm B — KPI Phần mềm &amp; vận hành</a:t>
            </a:r>
            <a:endParaRPr lang="en-US" sz="1250" dirty="0"/>
          </a:p>
        </p:txBody>
      </p:sp>
      <p:sp>
        <p:nvSpPr>
          <p:cNvPr id="14" name="Text 12"/>
          <p:cNvSpPr txBox="1"/>
          <p:nvPr/>
        </p:nvSpPr>
        <p:spPr>
          <a:xfrm>
            <a:off x="4818888" y="2761488"/>
            <a:ext cx="3611880" cy="548640"/>
          </a:xfrm>
          <a:prstGeom prst="rect">
            <a:avLst/>
          </a:prstGeom>
          <a:noFill/>
          <a:ln/>
        </p:spPr>
        <p:txBody>
          <a:bodyPr wrap="square" lIns="0" tIns="0" rIns="0" bIns="0" rtlCol="0" anchor="ctr"/>
          <a:lstStyle/>
          <a:p>
            <a:pPr marL="0" indent="0">
              <a:buNone/>
            </a:pPr>
            <a:r>
              <a:rPr lang="en-US" sz="1200" dirty="0">
                <a:solidFill>
                  <a:srgbClr val="222833"/>
                </a:solidFill>
                <a:latin typeface="Calibri" pitchFamily="34" charset="0"/>
                <a:ea typeface="Calibri" pitchFamily="34" charset="-122"/>
                <a:cs typeface="Calibri" pitchFamily="34" charset="-120"/>
              </a:rPr>
              <a:t>Đo tính sẵn sàng, độ tin cậy và chất lượng kỹ thuật của ứng dụng trong môi trường vận hành.</a:t>
            </a:r>
            <a:endParaRPr lang="en-US" sz="1200" dirty="0"/>
          </a:p>
        </p:txBody>
      </p:sp>
      <p:sp>
        <p:nvSpPr>
          <p:cNvPr id="15" name="Text 13"/>
          <p:cNvSpPr txBox="1"/>
          <p:nvPr/>
        </p:nvSpPr>
        <p:spPr>
          <a:xfrm>
            <a:off x="4818888" y="3364992"/>
            <a:ext cx="3611880" cy="640080"/>
          </a:xfrm>
          <a:prstGeom prst="rect">
            <a:avLst/>
          </a:prstGeom>
          <a:noFill/>
          <a:ln/>
        </p:spPr>
        <p:txBody>
          <a:bodyPr wrap="square" lIns="0" tIns="0" rIns="0" bIns="0" rtlCol="0" anchor="ctr"/>
          <a:lstStyle/>
          <a:p>
            <a:pPr marL="0" indent="0">
              <a:buNone/>
            </a:pPr>
            <a:r>
              <a:rPr lang="en-US" sz="1200" dirty="0">
                <a:solidFill>
                  <a:srgbClr val="E08A1E"/>
                </a:solidFill>
                <a:latin typeface="Calibri" pitchFamily="34" charset="0"/>
                <a:ea typeface="Calibri" pitchFamily="34" charset="-122"/>
                <a:cs typeface="Calibri" pitchFamily="34" charset="-120"/>
              </a:rPr>
              <a:t>Response time · Batch duration · Uptime · Completeness · Freshness · Error rate · MTTD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txBox="1"/>
          <p:nvPr/>
        </p:nvSpPr>
        <p:spPr>
          <a:xfrm>
            <a:off x="548640" y="475488"/>
            <a:ext cx="8046720" cy="777240"/>
          </a:xfrm>
          <a:prstGeom prst="rect">
            <a:avLst/>
          </a:prstGeom>
          <a:noFill/>
          <a:ln/>
        </p:spPr>
        <p:txBody>
          <a:bodyPr wrap="square" lIns="0" tIns="0" rIns="0" bIns="0" rtlCol="0" anchor="t"/>
          <a:lstStyle/>
          <a:p>
            <a:pPr marL="0" indent="0">
              <a:buNone/>
            </a:pPr>
            <a:r>
              <a:rPr lang="en-US" sz="2500" b="1" dirty="0">
                <a:solidFill>
                  <a:srgbClr val="1E2761"/>
                </a:solidFill>
                <a:latin typeface="Cambria" pitchFamily="34" charset="0"/>
                <a:ea typeface="Cambria" pitchFamily="34" charset="-122"/>
                <a:cs typeface="Cambria" pitchFamily="34" charset="-120"/>
              </a:rPr>
              <a:t>KPI mô hình AI — có baseline và mốc đo</a:t>
            </a:r>
            <a:endParaRPr lang="en-US" sz="2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8046720" cy="2852928"/>
        </p:xfrm>
        <a:graphic>
          <a:graphicData uri="http://schemas.openxmlformats.org/drawingml/2006/table">
            <a:tbl>
              <a:tblPr/>
              <a:tblGrid>
                <a:gridCol w="50292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47548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Mã</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Độ đo</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Baseline đối chứng</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Target</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Mốc đo</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75488">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A.1</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MAPE (scikit-learn, Hyndman)</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MA 7 ngày ~25–30%; ARIMA ~18–22%</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&lt; 15% tại Pilot → &lt; 10% sau 3 tháng</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G3; +1/3/6 th</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A.2</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MAE (scikit-learn)</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Không đo lường được</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 3 khách / CN / khung giờ</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G3; +3 th</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A.3</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Peak Detection Precision (Powers)</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Không đo lường được</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 85% (ngưỡng 1,5× trung bình)</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G3; +3 th</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A.4</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Model Inference Latency</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Không áp dụng</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 200 ms / chi nhánh</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G3; G4</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A.5</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Độ ổn định đa ngữ cảnh (Δ MAPE)</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Không đo lường được</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Δ ≤ 10% trên ≥ 4 bộ dữ liệu</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G3; +6 th</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txBox="1"/>
          <p:nvPr/>
        </p:nvSpPr>
        <p:spPr>
          <a:xfrm>
            <a:off x="548640" y="475488"/>
            <a:ext cx="8046720" cy="777240"/>
          </a:xfrm>
          <a:prstGeom prst="rect">
            <a:avLst/>
          </a:prstGeom>
          <a:noFill/>
          <a:ln/>
        </p:spPr>
        <p:txBody>
          <a:bodyPr wrap="square" lIns="0" tIns="0" rIns="0" bIns="0" rtlCol="0" anchor="t"/>
          <a:lstStyle/>
          <a:p>
            <a:pPr marL="0" indent="0">
              <a:buNone/>
            </a:pPr>
            <a:r>
              <a:rPr lang="en-US" sz="2500" b="1" dirty="0">
                <a:solidFill>
                  <a:srgbClr val="1E2761"/>
                </a:solidFill>
                <a:latin typeface="Cambria" pitchFamily="34" charset="0"/>
                <a:ea typeface="Cambria" pitchFamily="34" charset="-122"/>
                <a:cs typeface="Cambria" pitchFamily="34" charset="-120"/>
              </a:rPr>
              <a:t>KPI phần mềm và vận hành hệ thống</a:t>
            </a:r>
            <a:endParaRPr lang="en-US" sz="2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8046720" cy="3072384"/>
        </p:xfrm>
        <a:graphic>
          <a:graphicData uri="http://schemas.openxmlformats.org/drawingml/2006/table">
            <a:tbl>
              <a:tblPr/>
              <a:tblGrid>
                <a:gridCol w="50292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38404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Mã</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Độ đo</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Baseline</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Target</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Owner</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84048">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B.1</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API Response Time P95 (AWS)</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Chưa có API</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 500 ms / request</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Backend Dev</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B.2</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Batch Job Duration</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Tổng hợp thủ công 48–72h</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 30 phút cho 34 chi nhánh</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Data Engineer</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B.3</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Software Availability (Google SRE)</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Chưa có hệ thống</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 99,9% (≤ 43,2 phút/tháng)</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DevOps/SRE</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B.4</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Data Completeness (ISO 25012)</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Dữ liệu rời rạc, chưa làm sạch</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 99,5% bản ghi POS</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Data Engineer</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B.5</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Batch Data Freshness (ISO 25012)</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48–72 giờ</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 24 giờ (hoàn tất 01:00 AM)</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Data Engineer</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B.6</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API Error Rate (Google SRE)</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Không áp dụng</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&lt; 0,1% (HTTP 5xx)</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QA / SRE</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B.7</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MTTD — phát hiện sự cố</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4–8 giờ (báo qua Zalo)</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 15 phút</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DevOps/SRE</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txBox="1"/>
          <p:nvPr/>
        </p:nvSpPr>
        <p:spPr>
          <a:xfrm>
            <a:off x="548640" y="475488"/>
            <a:ext cx="8046720" cy="777240"/>
          </a:xfrm>
          <a:prstGeom prst="rect">
            <a:avLst/>
          </a:prstGeom>
          <a:noFill/>
          <a:ln/>
        </p:spPr>
        <p:txBody>
          <a:bodyPr wrap="square" lIns="0" tIns="0" rIns="0" bIns="0" rtlCol="0" anchor="t"/>
          <a:lstStyle/>
          <a:p>
            <a:pPr marL="0" indent="0">
              <a:buNone/>
            </a:pPr>
            <a:r>
              <a:rPr lang="en-US" sz="2500" b="1" dirty="0">
                <a:solidFill>
                  <a:srgbClr val="1E2761"/>
                </a:solidFill>
                <a:latin typeface="Cambria" pitchFamily="34" charset="0"/>
                <a:ea typeface="Cambria" pitchFamily="34" charset="-122"/>
                <a:cs typeface="Cambria" pitchFamily="34" charset="-120"/>
              </a:rPr>
              <a:t>KPI gắn với từng giai đoạn nghiệm thu</a:t>
            </a:r>
            <a:endParaRPr lang="en-US" sz="2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8046720" cy="3072384"/>
        </p:xfrm>
        <a:graphic>
          <a:graphicData uri="http://schemas.openxmlformats.org/drawingml/2006/table">
            <a:tbl>
              <a:tblPr/>
              <a:tblGrid>
                <a:gridCol w="219456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60604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438912">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Giai đoạn</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Sản phẩm bàn giao</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KPI nghiệm thu</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Phụ trách</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38912">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G1 — Khảo sát &amp; phân tích dữ liệu</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Tài liệu đặc tả dữ liệu, dataset sạch</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B.4 ≥ 99,5%; Schema hợp lệ 100%</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Data Engineer</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1"/>
                  </a:ext>
                </a:extLst>
              </a:tr>
              <a:tr h="438912">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G2 — Thiết kế kiến trúc phần mềm</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Tài liệu kiến trúc, API Contract</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100% API đạt chuẩn RESTful</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Software Architect</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2"/>
                  </a:ext>
                </a:extLst>
              </a:tr>
              <a:tr h="438912">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G3 — Phát triển mô hình &amp; pipeline</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Mã nguồn pipeline, artifact mô hình</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A.1 &lt; 15%; A.3 ≥ 85%; A.4 ≤ 200ms; A.5 ≤ 10%</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ML Engineer</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3"/>
                  </a:ext>
                </a:extLst>
              </a:tr>
              <a:tr h="438912">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G4 — Kiểm thử &amp; đóng gói</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Docker image, bộ test, báo cáo UAT</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B.1 ≤ 500ms; B.6 &lt; 0,1%; B.2 ≤ 30 phút</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QA Engineer</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4"/>
                  </a:ext>
                </a:extLst>
              </a:tr>
              <a:tr h="438912">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G5 — Triển khai &amp; vận hành</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Hệ thống API Production, dashboard</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B.3 ≥ 99,9%; B.5 ≤ 24h; B.7 ≤ 15 phút</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DevOps / SRE</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5"/>
                  </a:ext>
                </a:extLst>
              </a:tr>
              <a:tr h="438912">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Sau go-live</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Báo cáo Benefit Realization</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A.1 &lt; 10% tại mốc +3 tháng</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00" dirty="0">
                          <a:solidFill>
                            <a:srgbClr val="222833"/>
                          </a:solidFill>
                          <a:latin typeface="Calibri" pitchFamily="34" charset="0"/>
                          <a:ea typeface="Calibri" pitchFamily="34" charset="-122"/>
                          <a:cs typeface="Calibri" pitchFamily="34" charset="-120"/>
                        </a:rPr>
                        <a:t>ML Engineer + PM</a:t>
                      </a:r>
                      <a:endParaRPr lang="en-US" sz="90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txBox="1"/>
          <p:nvPr/>
        </p:nvSpPr>
        <p:spPr>
          <a:xfrm>
            <a:off x="548640" y="475488"/>
            <a:ext cx="8046720" cy="777240"/>
          </a:xfrm>
          <a:prstGeom prst="rect">
            <a:avLst/>
          </a:prstGeom>
          <a:noFill/>
          <a:ln/>
        </p:spPr>
        <p:txBody>
          <a:bodyPr wrap="square" lIns="0" tIns="0" rIns="0" bIns="0" rtlCol="0" anchor="t"/>
          <a:lstStyle/>
          <a:p>
            <a:pPr marL="0" indent="0">
              <a:buNone/>
            </a:pPr>
            <a:r>
              <a:rPr lang="en-US" sz="2500" b="1" dirty="0">
                <a:solidFill>
                  <a:srgbClr val="1E2761"/>
                </a:solidFill>
                <a:latin typeface="Cambria" pitchFamily="34" charset="0"/>
                <a:ea typeface="Cambria" pitchFamily="34" charset="-122"/>
                <a:cs typeface="Cambria" pitchFamily="34" charset="-120"/>
              </a:rPr>
              <a:t>Phạm vi, giới hạn AI và phương án dự phòng</a:t>
            </a:r>
            <a:endParaRPr lang="en-US" sz="2500" dirty="0"/>
          </a:p>
        </p:txBody>
      </p:sp>
      <p:sp>
        <p:nvSpPr>
          <p:cNvPr id="5" name="Shape 3"/>
          <p:cNvSpPr/>
          <p:nvPr/>
        </p:nvSpPr>
        <p:spPr>
          <a:xfrm>
            <a:off x="548640" y="1298448"/>
            <a:ext cx="3977640" cy="1417320"/>
          </a:xfrm>
          <a:prstGeom prst="roundRect">
            <a:avLst>
              <a:gd name="adj" fmla="val 3871"/>
            </a:avLst>
          </a:prstGeom>
          <a:solidFill>
            <a:srgbClr val="E8F0FE"/>
          </a:solidFill>
          <a:ln w="6350">
            <a:solidFill>
              <a:srgbClr val="E8F0FE"/>
            </a:solidFill>
            <a:prstDash val="solid"/>
          </a:ln>
        </p:spPr>
        <p:txBody>
          <a:bodyPr/>
          <a:lstStyle/>
          <a:p>
            <a:endParaRPr lang="en-US"/>
          </a:p>
        </p:txBody>
      </p:sp>
      <p:sp>
        <p:nvSpPr>
          <p:cNvPr id="6" name="Text 4"/>
          <p:cNvSpPr txBox="1"/>
          <p:nvPr/>
        </p:nvSpPr>
        <p:spPr>
          <a:xfrm>
            <a:off x="749808" y="1417320"/>
            <a:ext cx="3611880" cy="237744"/>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Trong phạm vi</a:t>
            </a:r>
            <a:endParaRPr lang="en-US" sz="1150" dirty="0"/>
          </a:p>
        </p:txBody>
      </p:sp>
      <p:sp>
        <p:nvSpPr>
          <p:cNvPr id="7" name="Text 5"/>
          <p:cNvSpPr txBox="1"/>
          <p:nvPr/>
        </p:nvSpPr>
        <p:spPr>
          <a:xfrm>
            <a:off x="749808" y="1700784"/>
            <a:ext cx="3611880" cy="905256"/>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222833"/>
                </a:solidFill>
                <a:latin typeface="Calibri" pitchFamily="34" charset="0"/>
                <a:ea typeface="Calibri" pitchFamily="34" charset="-122"/>
                <a:cs typeface="Calibri" pitchFamily="34" charset="-120"/>
              </a:rPr>
              <a:t>Luồng tích hợp dữ liệu POS → Cloud</a:t>
            </a:r>
            <a:endParaRPr lang="en-US" sz="1100" dirty="0"/>
          </a:p>
          <a:p>
            <a:pPr marL="342900" indent="-342900">
              <a:spcAft>
                <a:spcPts val="600"/>
              </a:spcAft>
              <a:buSzPct val="100000"/>
              <a:buChar char="•"/>
            </a:pPr>
            <a:r>
              <a:rPr lang="en-US" sz="1100" dirty="0">
                <a:solidFill>
                  <a:srgbClr val="222833"/>
                </a:solidFill>
                <a:latin typeface="Calibri" pitchFamily="34" charset="0"/>
                <a:ea typeface="Calibri" pitchFamily="34" charset="-122"/>
                <a:cs typeface="Calibri" pitchFamily="34" charset="-120"/>
              </a:rPr>
              <a:t>Huấn luyện mô hình dự báo chuỗi thời gian</a:t>
            </a:r>
            <a:endParaRPr lang="en-US" sz="1100" dirty="0"/>
          </a:p>
          <a:p>
            <a:pPr marL="342900" indent="-342900">
              <a:spcAft>
                <a:spcPts val="600"/>
              </a:spcAft>
              <a:buSzPct val="100000"/>
              <a:buChar char="•"/>
            </a:pPr>
            <a:r>
              <a:rPr lang="en-US" sz="1100" dirty="0">
                <a:solidFill>
                  <a:srgbClr val="222833"/>
                </a:solidFill>
                <a:latin typeface="Calibri" pitchFamily="34" charset="0"/>
                <a:ea typeface="Calibri" pitchFamily="34" charset="-122"/>
                <a:cs typeface="Calibri" pitchFamily="34" charset="-120"/>
              </a:rPr>
              <a:t>Cung cấp kết quả qua RESTful API và dashboard</a:t>
            </a:r>
            <a:endParaRPr lang="en-US" sz="1100" dirty="0"/>
          </a:p>
        </p:txBody>
      </p:sp>
      <p:sp>
        <p:nvSpPr>
          <p:cNvPr id="8" name="Shape 6"/>
          <p:cNvSpPr/>
          <p:nvPr/>
        </p:nvSpPr>
        <p:spPr>
          <a:xfrm>
            <a:off x="4617720" y="1298448"/>
            <a:ext cx="3977640" cy="1417320"/>
          </a:xfrm>
          <a:prstGeom prst="roundRect">
            <a:avLst>
              <a:gd name="adj" fmla="val 3871"/>
            </a:avLst>
          </a:prstGeom>
          <a:solidFill>
            <a:srgbClr val="E8F0FE"/>
          </a:solidFill>
          <a:ln w="6350">
            <a:solidFill>
              <a:srgbClr val="E8F0FE"/>
            </a:solidFill>
            <a:prstDash val="solid"/>
          </a:ln>
        </p:spPr>
        <p:txBody>
          <a:bodyPr/>
          <a:lstStyle/>
          <a:p>
            <a:endParaRPr lang="en-US"/>
          </a:p>
        </p:txBody>
      </p:sp>
      <p:sp>
        <p:nvSpPr>
          <p:cNvPr id="9" name="Text 7"/>
          <p:cNvSpPr txBox="1"/>
          <p:nvPr/>
        </p:nvSpPr>
        <p:spPr>
          <a:xfrm>
            <a:off x="4818888" y="1417320"/>
            <a:ext cx="3611880" cy="237744"/>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Ngoài phạm vi</a:t>
            </a:r>
            <a:endParaRPr lang="en-US" sz="1150" dirty="0"/>
          </a:p>
        </p:txBody>
      </p:sp>
      <p:sp>
        <p:nvSpPr>
          <p:cNvPr id="10" name="Text 8"/>
          <p:cNvSpPr txBox="1"/>
          <p:nvPr/>
        </p:nvSpPr>
        <p:spPr>
          <a:xfrm>
            <a:off x="4818888" y="1572768"/>
            <a:ext cx="3611880" cy="905256"/>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222833"/>
                </a:solidFill>
                <a:latin typeface="Calibri" pitchFamily="34" charset="0"/>
                <a:ea typeface="Calibri" pitchFamily="34" charset="-122"/>
                <a:cs typeface="Calibri" pitchFamily="34" charset="-120"/>
              </a:rPr>
              <a:t>Không sửa kiến trúc phần mềm kho, nhân sự, ERP </a:t>
            </a:r>
            <a:r>
              <a:rPr lang="en-US" sz="1100" dirty="0" err="1">
                <a:solidFill>
                  <a:srgbClr val="222833"/>
                </a:solidFill>
                <a:latin typeface="Calibri" pitchFamily="34" charset="0"/>
                <a:ea typeface="Calibri" pitchFamily="34" charset="-122"/>
                <a:cs typeface="Calibri" pitchFamily="34" charset="-120"/>
              </a:rPr>
              <a:t>hiện</a:t>
            </a:r>
            <a:r>
              <a:rPr lang="en-US" sz="1100" dirty="0">
                <a:solidFill>
                  <a:srgbClr val="222833"/>
                </a:solidFill>
                <a:latin typeface="Calibri" pitchFamily="34" charset="0"/>
                <a:ea typeface="Calibri" pitchFamily="34" charset="-122"/>
                <a:cs typeface="Calibri" pitchFamily="34" charset="-120"/>
              </a:rPr>
              <a:t> </a:t>
            </a:r>
            <a:r>
              <a:rPr lang="en-US" sz="1100" dirty="0" err="1">
                <a:solidFill>
                  <a:srgbClr val="222833"/>
                </a:solidFill>
                <a:latin typeface="Calibri" pitchFamily="34" charset="0"/>
                <a:ea typeface="Calibri" pitchFamily="34" charset="-122"/>
                <a:cs typeface="Calibri" pitchFamily="34" charset="-120"/>
              </a:rPr>
              <a:t>hành</a:t>
            </a:r>
            <a:endParaRPr lang="en-US" sz="1100" dirty="0"/>
          </a:p>
        </p:txBody>
      </p:sp>
      <p:sp>
        <p:nvSpPr>
          <p:cNvPr id="11" name="Shape 9"/>
          <p:cNvSpPr/>
          <p:nvPr/>
        </p:nvSpPr>
        <p:spPr>
          <a:xfrm>
            <a:off x="548640" y="2834640"/>
            <a:ext cx="3977640" cy="1783080"/>
          </a:xfrm>
          <a:prstGeom prst="roundRect">
            <a:avLst>
              <a:gd name="adj" fmla="val 3077"/>
            </a:avLst>
          </a:prstGeom>
          <a:solidFill>
            <a:srgbClr val="FDF0DC"/>
          </a:solidFill>
          <a:ln w="6350">
            <a:solidFill>
              <a:srgbClr val="FDF0DC"/>
            </a:solidFill>
            <a:prstDash val="solid"/>
          </a:ln>
        </p:spPr>
        <p:txBody>
          <a:bodyPr/>
          <a:lstStyle/>
          <a:p>
            <a:endParaRPr lang="en-US"/>
          </a:p>
        </p:txBody>
      </p:sp>
      <p:sp>
        <p:nvSpPr>
          <p:cNvPr id="12" name="Text 10"/>
          <p:cNvSpPr txBox="1"/>
          <p:nvPr/>
        </p:nvSpPr>
        <p:spPr>
          <a:xfrm>
            <a:off x="749808" y="2953512"/>
            <a:ext cx="3611880" cy="237744"/>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Giới hạn vai trò AI</a:t>
            </a:r>
            <a:endParaRPr lang="en-US" sz="1150" dirty="0"/>
          </a:p>
        </p:txBody>
      </p:sp>
      <p:sp>
        <p:nvSpPr>
          <p:cNvPr id="13" name="Text 11"/>
          <p:cNvSpPr txBox="1"/>
          <p:nvPr/>
        </p:nvSpPr>
        <p:spPr>
          <a:xfrm>
            <a:off x="749808" y="3236976"/>
            <a:ext cx="3611880" cy="1271016"/>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222833"/>
                </a:solidFill>
                <a:latin typeface="Calibri" pitchFamily="34" charset="0"/>
                <a:ea typeface="Calibri" pitchFamily="34" charset="-122"/>
                <a:cs typeface="Calibri" pitchFamily="34" charset="-120"/>
              </a:rPr>
              <a:t>AI chỉ hỗ trợ ra quyết định; quản lý con người chốt quyết định cuối cùng</a:t>
            </a:r>
            <a:endParaRPr lang="en-US" sz="1100" dirty="0"/>
          </a:p>
          <a:p>
            <a:pPr marL="342900" indent="-342900">
              <a:spcAft>
                <a:spcPts val="600"/>
              </a:spcAft>
              <a:buSzPct val="100000"/>
              <a:buChar char="•"/>
            </a:pPr>
            <a:r>
              <a:rPr lang="en-US" sz="1100" dirty="0">
                <a:solidFill>
                  <a:srgbClr val="222833"/>
                </a:solidFill>
                <a:latin typeface="Calibri" pitchFamily="34" charset="0"/>
                <a:ea typeface="Calibri" pitchFamily="34" charset="-122"/>
                <a:cs typeface="Calibri" pitchFamily="34" charset="-120"/>
              </a:rPr>
              <a:t>Độ chính xác suy giảm với sự kiện đột biến không có mẫu lịch sử; cần tái huấn luyện hàng tháng</a:t>
            </a:r>
            <a:endParaRPr lang="en-US" sz="1100" dirty="0"/>
          </a:p>
        </p:txBody>
      </p:sp>
      <p:sp>
        <p:nvSpPr>
          <p:cNvPr id="14" name="Shape 12"/>
          <p:cNvSpPr/>
          <p:nvPr/>
        </p:nvSpPr>
        <p:spPr>
          <a:xfrm>
            <a:off x="4617720" y="2834640"/>
            <a:ext cx="3977640" cy="1783080"/>
          </a:xfrm>
          <a:prstGeom prst="roundRect">
            <a:avLst>
              <a:gd name="adj" fmla="val 3077"/>
            </a:avLst>
          </a:prstGeom>
          <a:solidFill>
            <a:srgbClr val="FDF0DC"/>
          </a:solidFill>
          <a:ln w="6350">
            <a:solidFill>
              <a:srgbClr val="FDF0DC"/>
            </a:solidFill>
            <a:prstDash val="solid"/>
          </a:ln>
        </p:spPr>
        <p:txBody>
          <a:bodyPr/>
          <a:lstStyle/>
          <a:p>
            <a:endParaRPr lang="en-US"/>
          </a:p>
        </p:txBody>
      </p:sp>
      <p:sp>
        <p:nvSpPr>
          <p:cNvPr id="15" name="Text 13"/>
          <p:cNvSpPr txBox="1"/>
          <p:nvPr/>
        </p:nvSpPr>
        <p:spPr>
          <a:xfrm>
            <a:off x="4818888" y="2953512"/>
            <a:ext cx="3611880" cy="237744"/>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Phương án kỹ thuật dự phòng</a:t>
            </a:r>
            <a:endParaRPr lang="en-US" sz="1150" dirty="0"/>
          </a:p>
        </p:txBody>
      </p:sp>
      <p:sp>
        <p:nvSpPr>
          <p:cNvPr id="16" name="Text 14"/>
          <p:cNvSpPr txBox="1"/>
          <p:nvPr/>
        </p:nvSpPr>
        <p:spPr>
          <a:xfrm>
            <a:off x="4818888" y="3236976"/>
            <a:ext cx="3611880" cy="1271016"/>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222833"/>
                </a:solidFill>
                <a:latin typeface="Calibri" pitchFamily="34" charset="0"/>
                <a:ea typeface="Calibri" pitchFamily="34" charset="-122"/>
                <a:cs typeface="Calibri" pitchFamily="34" charset="-120"/>
              </a:rPr>
              <a:t>Nhóm cam kết ngưỡng chỉ số, không cam kết một thuật toán cụ thể</a:t>
            </a:r>
            <a:endParaRPr lang="en-US" sz="1100" dirty="0"/>
          </a:p>
          <a:p>
            <a:pPr marL="342900" indent="-342900">
              <a:spcAft>
                <a:spcPts val="600"/>
              </a:spcAft>
              <a:buSzPct val="100000"/>
              <a:buChar char="•"/>
            </a:pPr>
            <a:r>
              <a:rPr lang="en-US" sz="1100" dirty="0">
                <a:solidFill>
                  <a:srgbClr val="222833"/>
                </a:solidFill>
                <a:latin typeface="Calibri" pitchFamily="34" charset="0"/>
                <a:ea typeface="Calibri" pitchFamily="34" charset="-122"/>
                <a:cs typeface="Calibri" pitchFamily="34" charset="-120"/>
              </a:rPr>
              <a:t>Thực nghiệm song song TSFM, LSTM/BiLSTM, Prophet, ARIMA rồi chọn mô hình tốt và ổn định nhất</a:t>
            </a:r>
            <a:endParaRPr lang="en-US" sz="1100" dirty="0"/>
          </a:p>
          <a:p>
            <a:pPr marL="342900" indent="-342900">
              <a:spcAft>
                <a:spcPts val="600"/>
              </a:spcAft>
              <a:buSzPct val="100000"/>
              <a:buChar char="•"/>
            </a:pPr>
            <a:r>
              <a:rPr lang="en-US" sz="1100" dirty="0">
                <a:solidFill>
                  <a:srgbClr val="222833"/>
                </a:solidFill>
                <a:latin typeface="Calibri" pitchFamily="34" charset="0"/>
                <a:ea typeface="Calibri" pitchFamily="34" charset="-122"/>
                <a:cs typeface="Calibri" pitchFamily="34" charset="-120"/>
              </a:rPr>
              <a:t>Nếu chưa đạt tại Pilot: phát hành chế độ beta, giữ Moving Average làm fallback, lập Change Request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txBox="1"/>
          <p:nvPr/>
        </p:nvSpPr>
        <p:spPr>
          <a:xfrm>
            <a:off x="548640" y="475488"/>
            <a:ext cx="8046720" cy="777240"/>
          </a:xfrm>
          <a:prstGeom prst="rect">
            <a:avLst/>
          </a:prstGeom>
          <a:noFill/>
          <a:ln/>
        </p:spPr>
        <p:txBody>
          <a:bodyPr wrap="square" lIns="0" tIns="0" rIns="0" bIns="0" rtlCol="0" anchor="t"/>
          <a:lstStyle/>
          <a:p>
            <a:pPr marL="0" indent="0">
              <a:buNone/>
            </a:pPr>
            <a:r>
              <a:rPr lang="en-US" sz="2500" b="1" dirty="0">
                <a:solidFill>
                  <a:srgbClr val="1E2761"/>
                </a:solidFill>
                <a:latin typeface="Cambria" pitchFamily="34" charset="0"/>
                <a:ea typeface="Cambria" pitchFamily="34" charset="-122"/>
                <a:cs typeface="Cambria" pitchFamily="34" charset="-120"/>
              </a:rPr>
              <a:t>Use case: tác nhân, luồng chính, ngoại lệ</a:t>
            </a:r>
            <a:endParaRPr lang="en-US" sz="2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8046720" cy="3291840"/>
        </p:xfrm>
        <a:graphic>
          <a:graphicData uri="http://schemas.openxmlformats.org/drawingml/2006/table">
            <a:tbl>
              <a:tblPr/>
              <a:tblGrid>
                <a:gridCol w="64008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251460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tblGrid>
              <a:tr h="54864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ID</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Nghiệp vụ</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Tác nhân</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Luồng chính</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Ngoại lệ</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48640">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BR-01</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Xem dự báo lưu lượng khách</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Quản lý chi nhánh</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Đăng nhập → chọn chi nhánh &amp; thời gian → API trả dữ liệu dự báo</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API lỗi → hiển thị dữ liệu lịch sử tuần trước</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BR-02</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Nhận cảnh báo giờ cao điểm</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Bộ phận Điều phối</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Hệ thống phân tích dự báo → nếu &gt; 1,5× trung bình thì tự gửi cảnh báo</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Gửi webhook thất bại → đẩy noti trên dashboard</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BR-03</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Tự động hoá pipeline dữ liệu</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Hệ thống (Cronjob)</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01:00 kết nối POS → trích xuất → làm sạch → nạp Data Warehouse</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Rớt kết nối → retry 3 lần → alert Data Engineer</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BR-04</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Giám sát trạng thái hệ thống</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Kỹ sư vận hành</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Truy cập Grafana → xem metrics pipeline, API, model, tài nguyên</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Mất Prometheus → cảnh báo khẩn PagerDuty/Slack</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BR-05</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Lập kế hoạch nhập hàng</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Bộ phận Kho hàng</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Xem dự báo tổng hợp → xuất báo cáo nhu cầu 7 ngày</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Thiếu dữ liệu → cảnh báo độ tin cậy thấp</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txBox="1"/>
          <p:nvPr/>
        </p:nvSpPr>
        <p:spPr>
          <a:xfrm>
            <a:off x="548640" y="475488"/>
            <a:ext cx="8046720" cy="777240"/>
          </a:xfrm>
          <a:prstGeom prst="rect">
            <a:avLst/>
          </a:prstGeom>
          <a:noFill/>
          <a:ln/>
        </p:spPr>
        <p:txBody>
          <a:bodyPr wrap="square" lIns="0" tIns="0" rIns="0" bIns="0" rtlCol="0" anchor="t"/>
          <a:lstStyle/>
          <a:p>
            <a:pPr marL="0" indent="0">
              <a:buNone/>
            </a:pPr>
            <a:r>
              <a:rPr lang="en-US" sz="2500" b="1" dirty="0">
                <a:solidFill>
                  <a:srgbClr val="1E2761"/>
                </a:solidFill>
                <a:latin typeface="Cambria" pitchFamily="34" charset="0"/>
                <a:ea typeface="Cambria" pitchFamily="34" charset="-122"/>
                <a:cs typeface="Cambria" pitchFamily="34" charset="-120"/>
              </a:rPr>
              <a:t>13 yêu cầu chức năng theo 3 module</a:t>
            </a:r>
            <a:endParaRPr lang="en-US" sz="2500" dirty="0"/>
          </a:p>
        </p:txBody>
      </p:sp>
      <p:sp>
        <p:nvSpPr>
          <p:cNvPr id="5" name="Shape 3"/>
          <p:cNvSpPr/>
          <p:nvPr/>
        </p:nvSpPr>
        <p:spPr>
          <a:xfrm>
            <a:off x="548640" y="1325880"/>
            <a:ext cx="2286000" cy="3017520"/>
          </a:xfrm>
          <a:prstGeom prst="roundRect">
            <a:avLst>
              <a:gd name="adj" fmla="val 2400"/>
            </a:avLst>
          </a:prstGeom>
          <a:solidFill>
            <a:srgbClr val="E8F0FE"/>
          </a:solidFill>
          <a:ln w="6350">
            <a:solidFill>
              <a:srgbClr val="E8F0FE"/>
            </a:solidFill>
            <a:prstDash val="solid"/>
          </a:ln>
        </p:spPr>
        <p:txBody>
          <a:bodyPr/>
          <a:lstStyle/>
          <a:p>
            <a:endParaRPr lang="en-US"/>
          </a:p>
        </p:txBody>
      </p:sp>
      <p:sp>
        <p:nvSpPr>
          <p:cNvPr id="6" name="Text 4"/>
          <p:cNvSpPr txBox="1"/>
          <p:nvPr/>
        </p:nvSpPr>
        <p:spPr>
          <a:xfrm>
            <a:off x="731520" y="1364566"/>
            <a:ext cx="1920240" cy="4572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Module 1 — Data Pipeline</a:t>
            </a:r>
            <a:endParaRPr lang="en-US" sz="1100" dirty="0"/>
          </a:p>
        </p:txBody>
      </p:sp>
      <p:sp>
        <p:nvSpPr>
          <p:cNvPr id="7" name="Text 5"/>
          <p:cNvSpPr txBox="1"/>
          <p:nvPr/>
        </p:nvSpPr>
        <p:spPr>
          <a:xfrm>
            <a:off x="731520" y="1714500"/>
            <a:ext cx="1920240" cy="2240280"/>
          </a:xfrm>
          <a:prstGeom prst="rect">
            <a:avLst/>
          </a:prstGeom>
          <a:noFill/>
          <a:ln/>
        </p:spPr>
        <p:txBody>
          <a:bodyPr wrap="square" lIns="0" tIns="0" rIns="0" bIns="0" rtlCol="0" anchor="ctr"/>
          <a:lstStyle/>
          <a:p>
            <a:pPr marL="342900" indent="-342900">
              <a:spcAft>
                <a:spcPts val="700"/>
              </a:spcAft>
              <a:buSzPct val="100000"/>
              <a:buChar char="•"/>
            </a:pPr>
            <a:r>
              <a:rPr lang="en-US" sz="1100" dirty="0" err="1">
                <a:solidFill>
                  <a:srgbClr val="222833"/>
                </a:solidFill>
                <a:latin typeface="Calibri" pitchFamily="34" charset="0"/>
                <a:ea typeface="Calibri" pitchFamily="34" charset="-122"/>
                <a:cs typeface="Calibri" pitchFamily="34" charset="-120"/>
              </a:rPr>
              <a:t>Trích</a:t>
            </a:r>
            <a:r>
              <a:rPr lang="en-US" sz="1100" dirty="0">
                <a:solidFill>
                  <a:srgbClr val="222833"/>
                </a:solidFill>
                <a:latin typeface="Calibri" pitchFamily="34" charset="0"/>
                <a:ea typeface="Calibri" pitchFamily="34" charset="-122"/>
                <a:cs typeface="Calibri" pitchFamily="34" charset="-120"/>
              </a:rPr>
              <a:t> xuất POS tự động qua TLS, batch 01:00 AM</a:t>
            </a:r>
            <a:endParaRPr lang="en-US" sz="1100" dirty="0"/>
          </a:p>
          <a:p>
            <a:pPr marL="342900" indent="-342900">
              <a:spcAft>
                <a:spcPts val="700"/>
              </a:spcAft>
              <a:buSzPct val="100000"/>
              <a:buChar char="•"/>
            </a:pPr>
            <a:r>
              <a:rPr lang="en-US" sz="1100" dirty="0" err="1">
                <a:solidFill>
                  <a:srgbClr val="222833"/>
                </a:solidFill>
                <a:latin typeface="Calibri" pitchFamily="34" charset="0"/>
                <a:ea typeface="Calibri" pitchFamily="34" charset="-122"/>
                <a:cs typeface="Calibri" pitchFamily="34" charset="-120"/>
              </a:rPr>
              <a:t>Làm</a:t>
            </a:r>
            <a:r>
              <a:rPr lang="en-US" sz="1100" dirty="0">
                <a:solidFill>
                  <a:srgbClr val="222833"/>
                </a:solidFill>
                <a:latin typeface="Calibri" pitchFamily="34" charset="0"/>
                <a:ea typeface="Calibri" pitchFamily="34" charset="-122"/>
                <a:cs typeface="Calibri" pitchFamily="34" charset="-120"/>
              </a:rPr>
              <a:t> sạch, khử trùng lặp, chuẩn hóa schema</a:t>
            </a:r>
            <a:endParaRPr lang="en-US" sz="1100" dirty="0"/>
          </a:p>
          <a:p>
            <a:pPr marL="342900" indent="-342900">
              <a:spcAft>
                <a:spcPts val="700"/>
              </a:spcAft>
              <a:buSzPct val="100000"/>
              <a:buChar char="•"/>
            </a:pPr>
            <a:r>
              <a:rPr lang="en-US" sz="1100" dirty="0" err="1">
                <a:solidFill>
                  <a:srgbClr val="222833"/>
                </a:solidFill>
                <a:latin typeface="Calibri" pitchFamily="34" charset="0"/>
                <a:ea typeface="Calibri" pitchFamily="34" charset="-122"/>
                <a:cs typeface="Calibri" pitchFamily="34" charset="-120"/>
              </a:rPr>
              <a:t>Nạp</a:t>
            </a:r>
            <a:r>
              <a:rPr lang="en-US" sz="1100" dirty="0">
                <a:solidFill>
                  <a:srgbClr val="222833"/>
                </a:solidFill>
                <a:latin typeface="Calibri" pitchFamily="34" charset="0"/>
                <a:ea typeface="Calibri" pitchFamily="34" charset="-122"/>
                <a:cs typeface="Calibri" pitchFamily="34" charset="-120"/>
              </a:rPr>
              <a:t> Data Warehouse theo quy trình ELT</a:t>
            </a:r>
            <a:endParaRPr lang="en-US" sz="1100" dirty="0"/>
          </a:p>
          <a:p>
            <a:pPr marL="342900" indent="-342900">
              <a:spcAft>
                <a:spcPts val="700"/>
              </a:spcAft>
              <a:buSzPct val="100000"/>
              <a:buChar char="•"/>
            </a:pPr>
            <a:r>
              <a:rPr lang="en-US" sz="1100" dirty="0" err="1">
                <a:solidFill>
                  <a:srgbClr val="222833"/>
                </a:solidFill>
                <a:latin typeface="Calibri" pitchFamily="34" charset="0"/>
                <a:ea typeface="Calibri" pitchFamily="34" charset="-122"/>
                <a:cs typeface="Calibri" pitchFamily="34" charset="-120"/>
              </a:rPr>
              <a:t>Ghi</a:t>
            </a:r>
            <a:r>
              <a:rPr lang="en-US" sz="1100" dirty="0">
                <a:solidFill>
                  <a:srgbClr val="222833"/>
                </a:solidFill>
                <a:latin typeface="Calibri" pitchFamily="34" charset="0"/>
                <a:ea typeface="Calibri" pitchFamily="34" charset="-122"/>
                <a:cs typeface="Calibri" pitchFamily="34" charset="-120"/>
              </a:rPr>
              <a:t> log trạng thái mỗi lần chạy batch</a:t>
            </a:r>
            <a:endParaRPr lang="en-US" sz="1100" dirty="0"/>
          </a:p>
        </p:txBody>
      </p:sp>
      <p:sp>
        <p:nvSpPr>
          <p:cNvPr id="8" name="Shape 6"/>
          <p:cNvSpPr/>
          <p:nvPr/>
        </p:nvSpPr>
        <p:spPr>
          <a:xfrm>
            <a:off x="3429000" y="1325880"/>
            <a:ext cx="2286000" cy="3017520"/>
          </a:xfrm>
          <a:prstGeom prst="roundRect">
            <a:avLst>
              <a:gd name="adj" fmla="val 2400"/>
            </a:avLst>
          </a:prstGeom>
          <a:solidFill>
            <a:srgbClr val="E8F0FE"/>
          </a:solidFill>
          <a:ln w="6350">
            <a:solidFill>
              <a:srgbClr val="E8F0FE"/>
            </a:solidFill>
            <a:prstDash val="solid"/>
          </a:ln>
        </p:spPr>
        <p:txBody>
          <a:bodyPr/>
          <a:lstStyle/>
          <a:p>
            <a:endParaRPr lang="en-US"/>
          </a:p>
        </p:txBody>
      </p:sp>
      <p:sp>
        <p:nvSpPr>
          <p:cNvPr id="9" name="Text 7"/>
          <p:cNvSpPr txBox="1"/>
          <p:nvPr/>
        </p:nvSpPr>
        <p:spPr>
          <a:xfrm>
            <a:off x="3611880" y="1463040"/>
            <a:ext cx="1920240" cy="4572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Module 2 — AI Forecasting Engine</a:t>
            </a:r>
            <a:endParaRPr lang="en-US" sz="1100" dirty="0"/>
          </a:p>
        </p:txBody>
      </p:sp>
      <p:sp>
        <p:nvSpPr>
          <p:cNvPr id="10" name="Text 8"/>
          <p:cNvSpPr txBox="1"/>
          <p:nvPr/>
        </p:nvSpPr>
        <p:spPr>
          <a:xfrm>
            <a:off x="3611880" y="1965960"/>
            <a:ext cx="1920240" cy="2240280"/>
          </a:xfrm>
          <a:prstGeom prst="rect">
            <a:avLst/>
          </a:prstGeom>
          <a:noFill/>
          <a:ln/>
        </p:spPr>
        <p:txBody>
          <a:bodyPr wrap="square" lIns="0" tIns="0" rIns="0" bIns="0" rtlCol="0" anchor="ctr"/>
          <a:lstStyle/>
          <a:p>
            <a:pPr marL="342900" indent="-342900">
              <a:spcAft>
                <a:spcPts val="700"/>
              </a:spcAft>
              <a:buSzPct val="100000"/>
              <a:buChar char="•"/>
            </a:pPr>
            <a:r>
              <a:rPr lang="en-US" sz="1100" dirty="0" err="1">
                <a:solidFill>
                  <a:srgbClr val="222833"/>
                </a:solidFill>
                <a:latin typeface="Calibri" pitchFamily="34" charset="0"/>
                <a:ea typeface="Calibri" pitchFamily="34" charset="-122"/>
                <a:cs typeface="Calibri" pitchFamily="34" charset="-120"/>
              </a:rPr>
              <a:t>Huấn</a:t>
            </a:r>
            <a:r>
              <a:rPr lang="en-US" sz="1100" dirty="0">
                <a:solidFill>
                  <a:srgbClr val="222833"/>
                </a:solidFill>
                <a:latin typeface="Calibri" pitchFamily="34" charset="0"/>
                <a:ea typeface="Calibri" pitchFamily="34" charset="-122"/>
                <a:cs typeface="Calibri" pitchFamily="34" charset="-120"/>
              </a:rPr>
              <a:t> luyện trên ≥ 12 tháng dữ liệu, retrain hàng tháng</a:t>
            </a:r>
            <a:endParaRPr lang="en-US" sz="1100" dirty="0"/>
          </a:p>
          <a:p>
            <a:pPr marL="342900" indent="-342900">
              <a:spcAft>
                <a:spcPts val="700"/>
              </a:spcAft>
              <a:buSzPct val="100000"/>
              <a:buChar char="•"/>
            </a:pPr>
            <a:r>
              <a:rPr lang="en-US" sz="1100" dirty="0" err="1">
                <a:solidFill>
                  <a:srgbClr val="222833"/>
                </a:solidFill>
                <a:latin typeface="Calibri" pitchFamily="34" charset="0"/>
                <a:ea typeface="Calibri" pitchFamily="34" charset="-122"/>
                <a:cs typeface="Calibri" pitchFamily="34" charset="-120"/>
              </a:rPr>
              <a:t>Dự</a:t>
            </a:r>
            <a:r>
              <a:rPr lang="en-US" sz="1100" dirty="0">
                <a:solidFill>
                  <a:srgbClr val="222833"/>
                </a:solidFill>
                <a:latin typeface="Calibri" pitchFamily="34" charset="0"/>
                <a:ea typeface="Calibri" pitchFamily="34" charset="-122"/>
                <a:cs typeface="Calibri" pitchFamily="34" charset="-120"/>
              </a:rPr>
              <a:t> báo theo khung giờ, 7 ngày tới, từng chi nhánh</a:t>
            </a:r>
            <a:endParaRPr lang="en-US" sz="1100" dirty="0"/>
          </a:p>
          <a:p>
            <a:pPr marL="342900" indent="-342900">
              <a:spcAft>
                <a:spcPts val="700"/>
              </a:spcAft>
              <a:buSzPct val="100000"/>
              <a:buChar char="•"/>
            </a:pPr>
            <a:r>
              <a:rPr lang="en-US" sz="1100" dirty="0" err="1">
                <a:solidFill>
                  <a:srgbClr val="222833"/>
                </a:solidFill>
                <a:latin typeface="Calibri" pitchFamily="34" charset="0"/>
                <a:ea typeface="Calibri" pitchFamily="34" charset="-122"/>
                <a:cs typeface="Calibri" pitchFamily="34" charset="-120"/>
              </a:rPr>
              <a:t>Gán</a:t>
            </a:r>
            <a:r>
              <a:rPr lang="en-US" sz="1100" dirty="0">
                <a:solidFill>
                  <a:srgbClr val="222833"/>
                </a:solidFill>
                <a:latin typeface="Calibri" pitchFamily="34" charset="0"/>
                <a:ea typeface="Calibri" pitchFamily="34" charset="-122"/>
                <a:cs typeface="Calibri" pitchFamily="34" charset="-120"/>
              </a:rPr>
              <a:t> nhãn peak khi vượt 1,5× trung bình</a:t>
            </a:r>
            <a:endParaRPr lang="en-US" sz="1100" dirty="0"/>
          </a:p>
          <a:p>
            <a:pPr marL="342900" indent="-342900">
              <a:spcAft>
                <a:spcPts val="700"/>
              </a:spcAft>
              <a:buSzPct val="100000"/>
              <a:buChar char="•"/>
            </a:pPr>
            <a:r>
              <a:rPr lang="en-US" sz="1100" dirty="0">
                <a:solidFill>
                  <a:srgbClr val="222833"/>
                </a:solidFill>
                <a:latin typeface="Calibri" pitchFamily="34" charset="0"/>
                <a:ea typeface="Calibri" pitchFamily="34" charset="-122"/>
                <a:cs typeface="Calibri" pitchFamily="34" charset="-120"/>
              </a:rPr>
              <a:t>Quản lý phiên bản mô hình, hỗ trợ rollback</a:t>
            </a:r>
            <a:endParaRPr lang="en-US" sz="1100" dirty="0"/>
          </a:p>
          <a:p>
            <a:pPr marL="342900" indent="-342900">
              <a:spcAft>
                <a:spcPts val="700"/>
              </a:spcAft>
              <a:buSzPct val="100000"/>
              <a:buChar char="•"/>
            </a:pPr>
            <a:r>
              <a:rPr lang="en-US" sz="1100" dirty="0">
                <a:solidFill>
                  <a:srgbClr val="222833"/>
                </a:solidFill>
                <a:latin typeface="Calibri" pitchFamily="34" charset="0"/>
                <a:ea typeface="Calibri" pitchFamily="34" charset="-122"/>
                <a:cs typeface="Calibri" pitchFamily="34" charset="-120"/>
              </a:rPr>
              <a:t>Benchmark song song ≥ 4 phương pháp</a:t>
            </a:r>
            <a:endParaRPr lang="en-US" sz="1100" dirty="0"/>
          </a:p>
        </p:txBody>
      </p:sp>
      <p:sp>
        <p:nvSpPr>
          <p:cNvPr id="11" name="Shape 9"/>
          <p:cNvSpPr/>
          <p:nvPr/>
        </p:nvSpPr>
        <p:spPr>
          <a:xfrm>
            <a:off x="6309360" y="1325880"/>
            <a:ext cx="2286000" cy="3017520"/>
          </a:xfrm>
          <a:prstGeom prst="roundRect">
            <a:avLst>
              <a:gd name="adj" fmla="val 2400"/>
            </a:avLst>
          </a:prstGeom>
          <a:solidFill>
            <a:srgbClr val="E8F0FE"/>
          </a:solidFill>
          <a:ln w="6350">
            <a:solidFill>
              <a:srgbClr val="E8F0FE"/>
            </a:solidFill>
            <a:prstDash val="solid"/>
          </a:ln>
        </p:spPr>
        <p:txBody>
          <a:bodyPr/>
          <a:lstStyle/>
          <a:p>
            <a:endParaRPr lang="en-US"/>
          </a:p>
        </p:txBody>
      </p:sp>
      <p:sp>
        <p:nvSpPr>
          <p:cNvPr id="12" name="Text 10"/>
          <p:cNvSpPr txBox="1"/>
          <p:nvPr/>
        </p:nvSpPr>
        <p:spPr>
          <a:xfrm>
            <a:off x="6492240" y="1463040"/>
            <a:ext cx="1920240" cy="4572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Module 3 — API &amp; Dashboard</a:t>
            </a:r>
            <a:endParaRPr lang="en-US" sz="1100" dirty="0"/>
          </a:p>
        </p:txBody>
      </p:sp>
      <p:sp>
        <p:nvSpPr>
          <p:cNvPr id="13" name="Text 11"/>
          <p:cNvSpPr txBox="1"/>
          <p:nvPr/>
        </p:nvSpPr>
        <p:spPr>
          <a:xfrm>
            <a:off x="6492240" y="1252728"/>
            <a:ext cx="1920240" cy="2240280"/>
          </a:xfrm>
          <a:prstGeom prst="rect">
            <a:avLst/>
          </a:prstGeom>
          <a:noFill/>
          <a:ln/>
        </p:spPr>
        <p:txBody>
          <a:bodyPr wrap="square" lIns="0" tIns="0" rIns="0" bIns="0" rtlCol="0" anchor="ctr"/>
          <a:lstStyle/>
          <a:p>
            <a:pPr marL="342900" indent="-342900">
              <a:spcAft>
                <a:spcPts val="700"/>
              </a:spcAft>
              <a:buSzPct val="100000"/>
              <a:buChar char="•"/>
            </a:pPr>
            <a:r>
              <a:rPr lang="en-US" sz="1100" dirty="0">
                <a:solidFill>
                  <a:srgbClr val="222833"/>
                </a:solidFill>
                <a:latin typeface="Calibri" pitchFamily="34" charset="0"/>
                <a:ea typeface="Calibri" pitchFamily="34" charset="-122"/>
                <a:cs typeface="Calibri" pitchFamily="34" charset="-120"/>
              </a:rPr>
              <a:t>Dashboard metrics pipeline, API và mô hình</a:t>
            </a:r>
            <a:endParaRPr lang="en-US" sz="1100" dirty="0"/>
          </a:p>
          <a:p>
            <a:pPr marL="342900" indent="-342900">
              <a:spcAft>
                <a:spcPts val="700"/>
              </a:spcAft>
              <a:buSzPct val="100000"/>
              <a:buChar char="•"/>
            </a:pPr>
            <a:r>
              <a:rPr lang="en-US" sz="1100" dirty="0" err="1">
                <a:solidFill>
                  <a:srgbClr val="222833"/>
                </a:solidFill>
                <a:latin typeface="Calibri" pitchFamily="34" charset="0"/>
                <a:ea typeface="Calibri" pitchFamily="34" charset="-122"/>
                <a:cs typeface="Calibri" pitchFamily="34" charset="-120"/>
              </a:rPr>
              <a:t>Xác</a:t>
            </a:r>
            <a:r>
              <a:rPr lang="en-US" sz="1100" dirty="0">
                <a:solidFill>
                  <a:srgbClr val="222833"/>
                </a:solidFill>
                <a:latin typeface="Calibri" pitchFamily="34" charset="0"/>
                <a:ea typeface="Calibri" pitchFamily="34" charset="-122"/>
                <a:cs typeface="Calibri" pitchFamily="34" charset="-120"/>
              </a:rPr>
              <a:t> thực API Key/JWT, phân quyền RBAC</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txBox="1"/>
          <p:nvPr/>
        </p:nvSpPr>
        <p:spPr>
          <a:xfrm>
            <a:off x="548640" y="475488"/>
            <a:ext cx="8046720" cy="777240"/>
          </a:xfrm>
          <a:prstGeom prst="rect">
            <a:avLst/>
          </a:prstGeom>
          <a:noFill/>
          <a:ln/>
        </p:spPr>
        <p:txBody>
          <a:bodyPr wrap="square" lIns="0" tIns="0" rIns="0" bIns="0" rtlCol="0" anchor="t"/>
          <a:lstStyle/>
          <a:p>
            <a:pPr marL="0" indent="0">
              <a:buNone/>
            </a:pPr>
            <a:r>
              <a:rPr lang="en-US" sz="2500" b="1" dirty="0" err="1">
                <a:solidFill>
                  <a:srgbClr val="1E2761"/>
                </a:solidFill>
                <a:latin typeface="Cambria" pitchFamily="34" charset="0"/>
                <a:ea typeface="Cambria" pitchFamily="34" charset="-122"/>
                <a:cs typeface="Cambria" pitchFamily="34" charset="-120"/>
              </a:rPr>
              <a:t>Yêu</a:t>
            </a:r>
            <a:r>
              <a:rPr lang="en-US" sz="2500" b="1" dirty="0">
                <a:solidFill>
                  <a:srgbClr val="1E2761"/>
                </a:solidFill>
                <a:latin typeface="Cambria" pitchFamily="34" charset="0"/>
                <a:ea typeface="Cambria" pitchFamily="34" charset="-122"/>
                <a:cs typeface="Cambria" pitchFamily="34" charset="-120"/>
              </a:rPr>
              <a:t> </a:t>
            </a:r>
            <a:r>
              <a:rPr lang="en-US" sz="2500" b="1" dirty="0" err="1">
                <a:solidFill>
                  <a:srgbClr val="1E2761"/>
                </a:solidFill>
                <a:latin typeface="Cambria" pitchFamily="34" charset="0"/>
                <a:ea typeface="Cambria" pitchFamily="34" charset="-122"/>
                <a:cs typeface="Cambria" pitchFamily="34" charset="-120"/>
              </a:rPr>
              <a:t>cầu</a:t>
            </a:r>
            <a:r>
              <a:rPr lang="en-US" sz="2500" b="1" dirty="0">
                <a:solidFill>
                  <a:srgbClr val="1E2761"/>
                </a:solidFill>
                <a:latin typeface="Cambria" pitchFamily="34" charset="0"/>
                <a:ea typeface="Cambria" pitchFamily="34" charset="-122"/>
                <a:cs typeface="Cambria" pitchFamily="34" charset="-120"/>
              </a:rPr>
              <a:t> phi </a:t>
            </a:r>
            <a:r>
              <a:rPr lang="en-US" sz="2500" b="1" dirty="0" err="1">
                <a:solidFill>
                  <a:srgbClr val="1E2761"/>
                </a:solidFill>
                <a:latin typeface="Cambria" pitchFamily="34" charset="0"/>
                <a:ea typeface="Cambria" pitchFamily="34" charset="-122"/>
                <a:cs typeface="Cambria" pitchFamily="34" charset="-120"/>
              </a:rPr>
              <a:t>chức</a:t>
            </a:r>
            <a:r>
              <a:rPr lang="en-US" sz="2500" b="1" dirty="0">
                <a:solidFill>
                  <a:srgbClr val="1E2761"/>
                </a:solidFill>
                <a:latin typeface="Cambria" pitchFamily="34" charset="0"/>
                <a:ea typeface="Cambria" pitchFamily="34" charset="-122"/>
                <a:cs typeface="Cambria" pitchFamily="34" charset="-120"/>
              </a:rPr>
              <a:t> </a:t>
            </a:r>
            <a:r>
              <a:rPr lang="en-US" sz="2500" b="1" dirty="0" err="1">
                <a:solidFill>
                  <a:srgbClr val="1E2761"/>
                </a:solidFill>
                <a:latin typeface="Cambria" pitchFamily="34" charset="0"/>
                <a:ea typeface="Cambria" pitchFamily="34" charset="-122"/>
                <a:cs typeface="Cambria" pitchFamily="34" charset="-120"/>
              </a:rPr>
              <a:t>năng</a:t>
            </a:r>
            <a:r>
              <a:rPr lang="en-US" sz="2500" b="1" dirty="0">
                <a:solidFill>
                  <a:srgbClr val="1E2761"/>
                </a:solidFill>
                <a:latin typeface="Cambria" pitchFamily="34" charset="0"/>
                <a:ea typeface="Cambria" pitchFamily="34" charset="-122"/>
                <a:cs typeface="Cambria" pitchFamily="34" charset="-120"/>
              </a:rPr>
              <a:t> (NFR) </a:t>
            </a:r>
            <a:r>
              <a:rPr lang="en-US" sz="2500" b="1" dirty="0" err="1">
                <a:solidFill>
                  <a:srgbClr val="1E2761"/>
                </a:solidFill>
                <a:latin typeface="Cambria" pitchFamily="34" charset="0"/>
                <a:ea typeface="Cambria" pitchFamily="34" charset="-122"/>
                <a:cs typeface="Cambria" pitchFamily="34" charset="-120"/>
              </a:rPr>
              <a:t>với</a:t>
            </a:r>
            <a:r>
              <a:rPr lang="en-US" sz="2500" b="1" dirty="0">
                <a:solidFill>
                  <a:srgbClr val="1E2761"/>
                </a:solidFill>
                <a:latin typeface="Cambria" pitchFamily="34" charset="0"/>
                <a:ea typeface="Cambria" pitchFamily="34" charset="-122"/>
                <a:cs typeface="Cambria" pitchFamily="34" charset="-120"/>
              </a:rPr>
              <a:t> bộ KPI đã cam kết</a:t>
            </a:r>
            <a:endParaRPr lang="en-US" sz="2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8046720" cy="3127248"/>
        </p:xfrm>
        <a:graphic>
          <a:graphicData uri="http://schemas.openxmlformats.org/drawingml/2006/table">
            <a:tbl>
              <a:tblPr/>
              <a:tblGrid>
                <a:gridCol w="123444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347472">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Nhóm NFR</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Yêu cầu</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Ngưỡng đo lường (tiêu chí test)</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KPI liên kết</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47472">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Hiệu năng</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Thời gian phản hồi API dự báo (P95)</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 500 ms / request</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B.1</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Hiệu năng</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Thời gian suy luận mô hình AI</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 200 ms / chi nhánh</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A.4</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Sẵn sàng</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Uptime dịch vụ API</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 99,9% (downtime ≤ 43,2 phút/tháng)</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B.3</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Sẵn sàng</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Thời gian phát hiện sự cố (MTTD)</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 15 phút</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B.7</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Dữ liệu</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Tính đầy đủ và độ trễ đồng bộ</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 99,5% · ≤ 24 giờ</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B.4, B.5</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5"/>
                  </a:ext>
                </a:extLst>
              </a:tr>
              <a:tr h="347472">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Bảo mật</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Mã hóa kết nối và xác thực API</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TLS 1.2+ · bắt buộc API Key / JWT</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FR-12</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6"/>
                  </a:ext>
                </a:extLst>
              </a:tr>
              <a:tr h="347472">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Mở rộng</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Scale số lượng chi nhánh</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Thêm lên 50 CN không cần đổi kiến trúc</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Giả định mục 4</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7"/>
                  </a:ext>
                </a:extLst>
              </a:tr>
              <a:tr h="347472">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Tuân thủ</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Bảo mật thông tin cá nhân (PII)</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Dữ liệu giao dịch được ẩn danh 100%</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950" dirty="0">
                          <a:solidFill>
                            <a:srgbClr val="222833"/>
                          </a:solidFill>
                          <a:latin typeface="Calibri" pitchFamily="34" charset="0"/>
                          <a:ea typeface="Calibri" pitchFamily="34" charset="-122"/>
                          <a:cs typeface="Calibri" pitchFamily="34" charset="-120"/>
                        </a:rPr>
                        <a:t>Ràng buộc NĐ13</a:t>
                      </a:r>
                      <a:endParaRPr lang="en-US" sz="9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txBox="1"/>
          <p:nvPr/>
        </p:nvSpPr>
        <p:spPr>
          <a:xfrm>
            <a:off x="548640" y="475488"/>
            <a:ext cx="8046720" cy="777240"/>
          </a:xfrm>
          <a:prstGeom prst="rect">
            <a:avLst/>
          </a:prstGeom>
          <a:noFill/>
          <a:ln/>
        </p:spPr>
        <p:txBody>
          <a:bodyPr wrap="square" lIns="0" tIns="0" rIns="0" bIns="0" rtlCol="0" anchor="t"/>
          <a:lstStyle/>
          <a:p>
            <a:pPr marL="0" indent="0">
              <a:buNone/>
            </a:pPr>
            <a:r>
              <a:rPr lang="en-US" sz="2500" b="1" dirty="0">
                <a:solidFill>
                  <a:srgbClr val="1E2761"/>
                </a:solidFill>
                <a:latin typeface="Cambria" pitchFamily="34" charset="0"/>
                <a:ea typeface="Cambria" pitchFamily="34" charset="-122"/>
                <a:cs typeface="Cambria" pitchFamily="34" charset="-120"/>
              </a:rPr>
              <a:t>Quy trình nghiệp vụ và luồng dữ liệu tự động</a:t>
            </a:r>
            <a:endParaRPr lang="en-US" sz="2500" dirty="0"/>
          </a:p>
        </p:txBody>
      </p:sp>
      <p:sp>
        <p:nvSpPr>
          <p:cNvPr id="5" name="Shape 3"/>
          <p:cNvSpPr/>
          <p:nvPr/>
        </p:nvSpPr>
        <p:spPr>
          <a:xfrm>
            <a:off x="548640" y="1325880"/>
            <a:ext cx="8046720" cy="512064"/>
          </a:xfrm>
          <a:prstGeom prst="roundRect">
            <a:avLst>
              <a:gd name="adj" fmla="val 10714"/>
            </a:avLst>
          </a:prstGeom>
          <a:solidFill>
            <a:srgbClr val="E8F0FE"/>
          </a:solidFill>
          <a:ln w="6350">
            <a:solidFill>
              <a:srgbClr val="E8F0FE"/>
            </a:solidFill>
            <a:prstDash val="solid"/>
          </a:ln>
        </p:spPr>
        <p:txBody>
          <a:bodyPr/>
          <a:lstStyle/>
          <a:p>
            <a:endParaRPr lang="en-US"/>
          </a:p>
        </p:txBody>
      </p:sp>
      <p:sp>
        <p:nvSpPr>
          <p:cNvPr id="6" name="Text 4"/>
          <p:cNvSpPr txBox="1"/>
          <p:nvPr/>
        </p:nvSpPr>
        <p:spPr>
          <a:xfrm>
            <a:off x="777240" y="1463040"/>
            <a:ext cx="777240"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24/7</a:t>
            </a:r>
            <a:endParaRPr lang="en-US" sz="1050" dirty="0"/>
          </a:p>
        </p:txBody>
      </p:sp>
      <p:sp>
        <p:nvSpPr>
          <p:cNvPr id="7" name="Text 5"/>
          <p:cNvSpPr txBox="1"/>
          <p:nvPr/>
        </p:nvSpPr>
        <p:spPr>
          <a:xfrm>
            <a:off x="1645920" y="1463040"/>
            <a:ext cx="1371600"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Thu thập</a:t>
            </a:r>
            <a:endParaRPr lang="en-US" sz="1050" dirty="0"/>
          </a:p>
        </p:txBody>
      </p:sp>
      <p:sp>
        <p:nvSpPr>
          <p:cNvPr id="8" name="Text 6"/>
          <p:cNvSpPr txBox="1"/>
          <p:nvPr/>
        </p:nvSpPr>
        <p:spPr>
          <a:xfrm>
            <a:off x="3108960" y="1463040"/>
            <a:ext cx="5303520" cy="274320"/>
          </a:xfrm>
          <a:prstGeom prst="rect">
            <a:avLst/>
          </a:prstGeom>
          <a:noFill/>
          <a:ln/>
        </p:spPr>
        <p:txBody>
          <a:bodyPr wrap="square" lIns="0" tIns="0" rIns="0" bIns="0" rtlCol="0" anchor="ctr"/>
          <a:lstStyle/>
          <a:p>
            <a:pPr marL="0" indent="0">
              <a:buNone/>
            </a:pPr>
            <a:r>
              <a:rPr lang="en-US" sz="1000" dirty="0">
                <a:solidFill>
                  <a:srgbClr val="222833"/>
                </a:solidFill>
                <a:latin typeface="Calibri" pitchFamily="34" charset="0"/>
                <a:ea typeface="Calibri" pitchFamily="34" charset="-122"/>
                <a:cs typeface="Calibri" pitchFamily="34" charset="-120"/>
              </a:rPr>
              <a:t>Khách hàng giao dịch tại hệ thống POS của chi nhánh</a:t>
            </a:r>
            <a:endParaRPr lang="en-US" sz="1000" dirty="0"/>
          </a:p>
        </p:txBody>
      </p:sp>
      <p:sp>
        <p:nvSpPr>
          <p:cNvPr id="9" name="Shape 7"/>
          <p:cNvSpPr/>
          <p:nvPr/>
        </p:nvSpPr>
        <p:spPr>
          <a:xfrm>
            <a:off x="548640" y="1911096"/>
            <a:ext cx="8046720" cy="512064"/>
          </a:xfrm>
          <a:prstGeom prst="roundRect">
            <a:avLst>
              <a:gd name="adj" fmla="val 10714"/>
            </a:avLst>
          </a:prstGeom>
          <a:solidFill>
            <a:srgbClr val="E8F0FE"/>
          </a:solidFill>
          <a:ln w="6350">
            <a:solidFill>
              <a:srgbClr val="E8F0FE"/>
            </a:solidFill>
            <a:prstDash val="solid"/>
          </a:ln>
        </p:spPr>
        <p:txBody>
          <a:bodyPr/>
          <a:lstStyle/>
          <a:p>
            <a:endParaRPr lang="en-US"/>
          </a:p>
        </p:txBody>
      </p:sp>
      <p:sp>
        <p:nvSpPr>
          <p:cNvPr id="10" name="Text 8"/>
          <p:cNvSpPr txBox="1"/>
          <p:nvPr/>
        </p:nvSpPr>
        <p:spPr>
          <a:xfrm>
            <a:off x="777240" y="2048256"/>
            <a:ext cx="777240"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01:00</a:t>
            </a:r>
            <a:endParaRPr lang="en-US" sz="1050" dirty="0"/>
          </a:p>
        </p:txBody>
      </p:sp>
      <p:sp>
        <p:nvSpPr>
          <p:cNvPr id="11" name="Text 9"/>
          <p:cNvSpPr txBox="1"/>
          <p:nvPr/>
        </p:nvSpPr>
        <p:spPr>
          <a:xfrm>
            <a:off x="1645920" y="2048256"/>
            <a:ext cx="1371600"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Extract</a:t>
            </a:r>
            <a:endParaRPr lang="en-US" sz="1050" dirty="0"/>
          </a:p>
        </p:txBody>
      </p:sp>
      <p:sp>
        <p:nvSpPr>
          <p:cNvPr id="12" name="Text 10"/>
          <p:cNvSpPr txBox="1"/>
          <p:nvPr/>
        </p:nvSpPr>
        <p:spPr>
          <a:xfrm>
            <a:off x="3108960" y="2048256"/>
            <a:ext cx="5303520" cy="274320"/>
          </a:xfrm>
          <a:prstGeom prst="rect">
            <a:avLst/>
          </a:prstGeom>
          <a:noFill/>
          <a:ln/>
        </p:spPr>
        <p:txBody>
          <a:bodyPr wrap="square" lIns="0" tIns="0" rIns="0" bIns="0" rtlCol="0" anchor="ctr"/>
          <a:lstStyle/>
          <a:p>
            <a:pPr marL="0" indent="0">
              <a:buNone/>
            </a:pPr>
            <a:r>
              <a:rPr lang="en-US" sz="1000" dirty="0">
                <a:solidFill>
                  <a:srgbClr val="222833"/>
                </a:solidFill>
                <a:latin typeface="Calibri" pitchFamily="34" charset="0"/>
                <a:ea typeface="Calibri" pitchFamily="34" charset="-122"/>
                <a:cs typeface="Calibri" pitchFamily="34" charset="-120"/>
              </a:rPr>
              <a:t>Airflow rút dữ liệu POS 34 chi nhánh qua TLS → S3 Raw Zone</a:t>
            </a:r>
            <a:endParaRPr lang="en-US" sz="1000" dirty="0"/>
          </a:p>
        </p:txBody>
      </p:sp>
      <p:sp>
        <p:nvSpPr>
          <p:cNvPr id="13" name="Shape 11"/>
          <p:cNvSpPr/>
          <p:nvPr/>
        </p:nvSpPr>
        <p:spPr>
          <a:xfrm>
            <a:off x="548640" y="2496312"/>
            <a:ext cx="8046720" cy="512064"/>
          </a:xfrm>
          <a:prstGeom prst="roundRect">
            <a:avLst>
              <a:gd name="adj" fmla="val 10714"/>
            </a:avLst>
          </a:prstGeom>
          <a:solidFill>
            <a:srgbClr val="E8F0FE"/>
          </a:solidFill>
          <a:ln w="6350">
            <a:solidFill>
              <a:srgbClr val="E8F0FE"/>
            </a:solidFill>
            <a:prstDash val="solid"/>
          </a:ln>
        </p:spPr>
        <p:txBody>
          <a:bodyPr/>
          <a:lstStyle/>
          <a:p>
            <a:endParaRPr lang="en-US"/>
          </a:p>
        </p:txBody>
      </p:sp>
      <p:sp>
        <p:nvSpPr>
          <p:cNvPr id="14" name="Text 12"/>
          <p:cNvSpPr txBox="1"/>
          <p:nvPr/>
        </p:nvSpPr>
        <p:spPr>
          <a:xfrm>
            <a:off x="777240" y="2633472"/>
            <a:ext cx="777240"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01:15</a:t>
            </a:r>
            <a:endParaRPr lang="en-US" sz="1050" dirty="0"/>
          </a:p>
        </p:txBody>
      </p:sp>
      <p:sp>
        <p:nvSpPr>
          <p:cNvPr id="15" name="Text 13"/>
          <p:cNvSpPr txBox="1"/>
          <p:nvPr/>
        </p:nvSpPr>
        <p:spPr>
          <a:xfrm>
            <a:off x="1645920" y="2633472"/>
            <a:ext cx="1371600"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Transform</a:t>
            </a:r>
            <a:endParaRPr lang="en-US" sz="1050" dirty="0"/>
          </a:p>
        </p:txBody>
      </p:sp>
      <p:sp>
        <p:nvSpPr>
          <p:cNvPr id="16" name="Text 14"/>
          <p:cNvSpPr txBox="1"/>
          <p:nvPr/>
        </p:nvSpPr>
        <p:spPr>
          <a:xfrm>
            <a:off x="3108960" y="2633472"/>
            <a:ext cx="5303520" cy="274320"/>
          </a:xfrm>
          <a:prstGeom prst="rect">
            <a:avLst/>
          </a:prstGeom>
          <a:noFill/>
          <a:ln/>
        </p:spPr>
        <p:txBody>
          <a:bodyPr wrap="square" lIns="0" tIns="0" rIns="0" bIns="0" rtlCol="0" anchor="ctr"/>
          <a:lstStyle/>
          <a:p>
            <a:pPr marL="0" indent="0">
              <a:buNone/>
            </a:pPr>
            <a:r>
              <a:rPr lang="en-US" sz="1000" dirty="0">
                <a:solidFill>
                  <a:srgbClr val="222833"/>
                </a:solidFill>
                <a:latin typeface="Calibri" pitchFamily="34" charset="0"/>
                <a:ea typeface="Calibri" pitchFamily="34" charset="-122"/>
                <a:cs typeface="Calibri" pitchFamily="34" charset="-120"/>
              </a:rPr>
              <a:t>Làm sạch, khử trùng lặp, ẩn danh PII → PostgreSQL Clean Zone</a:t>
            </a:r>
            <a:endParaRPr lang="en-US" sz="1000" dirty="0"/>
          </a:p>
        </p:txBody>
      </p:sp>
      <p:sp>
        <p:nvSpPr>
          <p:cNvPr id="17" name="Shape 15"/>
          <p:cNvSpPr/>
          <p:nvPr/>
        </p:nvSpPr>
        <p:spPr>
          <a:xfrm>
            <a:off x="548640" y="3081528"/>
            <a:ext cx="8046720" cy="512064"/>
          </a:xfrm>
          <a:prstGeom prst="roundRect">
            <a:avLst>
              <a:gd name="adj" fmla="val 10714"/>
            </a:avLst>
          </a:prstGeom>
          <a:solidFill>
            <a:srgbClr val="E8F0FE"/>
          </a:solidFill>
          <a:ln w="6350">
            <a:solidFill>
              <a:srgbClr val="E8F0FE"/>
            </a:solidFill>
            <a:prstDash val="solid"/>
          </a:ln>
        </p:spPr>
        <p:txBody>
          <a:bodyPr/>
          <a:lstStyle/>
          <a:p>
            <a:endParaRPr lang="en-US"/>
          </a:p>
        </p:txBody>
      </p:sp>
      <p:sp>
        <p:nvSpPr>
          <p:cNvPr id="18" name="Text 16"/>
          <p:cNvSpPr txBox="1"/>
          <p:nvPr/>
        </p:nvSpPr>
        <p:spPr>
          <a:xfrm>
            <a:off x="777240" y="3218688"/>
            <a:ext cx="777240"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02:00</a:t>
            </a:r>
            <a:endParaRPr lang="en-US" sz="1050" dirty="0"/>
          </a:p>
        </p:txBody>
      </p:sp>
      <p:sp>
        <p:nvSpPr>
          <p:cNvPr id="19" name="Text 17"/>
          <p:cNvSpPr txBox="1"/>
          <p:nvPr/>
        </p:nvSpPr>
        <p:spPr>
          <a:xfrm>
            <a:off x="1645920" y="3218688"/>
            <a:ext cx="1371600"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Predict</a:t>
            </a:r>
            <a:endParaRPr lang="en-US" sz="1050" dirty="0"/>
          </a:p>
        </p:txBody>
      </p:sp>
      <p:sp>
        <p:nvSpPr>
          <p:cNvPr id="20" name="Text 18"/>
          <p:cNvSpPr txBox="1"/>
          <p:nvPr/>
        </p:nvSpPr>
        <p:spPr>
          <a:xfrm>
            <a:off x="3108960" y="3218688"/>
            <a:ext cx="5303520" cy="274320"/>
          </a:xfrm>
          <a:prstGeom prst="rect">
            <a:avLst/>
          </a:prstGeom>
          <a:noFill/>
          <a:ln/>
        </p:spPr>
        <p:txBody>
          <a:bodyPr wrap="square" lIns="0" tIns="0" rIns="0" bIns="0" rtlCol="0" anchor="ctr"/>
          <a:lstStyle/>
          <a:p>
            <a:pPr marL="0" indent="0">
              <a:buNone/>
            </a:pPr>
            <a:r>
              <a:rPr lang="en-US" sz="1000" dirty="0">
                <a:solidFill>
                  <a:srgbClr val="222833"/>
                </a:solidFill>
                <a:latin typeface="Calibri" pitchFamily="34" charset="0"/>
                <a:ea typeface="Calibri" pitchFamily="34" charset="-122"/>
                <a:cs typeface="Calibri" pitchFamily="34" charset="-120"/>
              </a:rPr>
              <a:t>Batch inference 34 chi nhánh × 7 ngày → bảng Forecast_Result</a:t>
            </a:r>
            <a:endParaRPr lang="en-US" sz="1000" dirty="0"/>
          </a:p>
        </p:txBody>
      </p:sp>
      <p:sp>
        <p:nvSpPr>
          <p:cNvPr id="21" name="Shape 19"/>
          <p:cNvSpPr/>
          <p:nvPr/>
        </p:nvSpPr>
        <p:spPr>
          <a:xfrm>
            <a:off x="548640" y="3666744"/>
            <a:ext cx="8046720" cy="512064"/>
          </a:xfrm>
          <a:prstGeom prst="roundRect">
            <a:avLst>
              <a:gd name="adj" fmla="val 10714"/>
            </a:avLst>
          </a:prstGeom>
          <a:solidFill>
            <a:srgbClr val="E8F0FE"/>
          </a:solidFill>
          <a:ln w="6350">
            <a:solidFill>
              <a:srgbClr val="E8F0FE"/>
            </a:solidFill>
            <a:prstDash val="solid"/>
          </a:ln>
        </p:spPr>
        <p:txBody>
          <a:bodyPr/>
          <a:lstStyle/>
          <a:p>
            <a:endParaRPr lang="en-US"/>
          </a:p>
        </p:txBody>
      </p:sp>
      <p:sp>
        <p:nvSpPr>
          <p:cNvPr id="22" name="Text 20"/>
          <p:cNvSpPr txBox="1"/>
          <p:nvPr/>
        </p:nvSpPr>
        <p:spPr>
          <a:xfrm>
            <a:off x="777240" y="3803904"/>
            <a:ext cx="777240"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Tự động</a:t>
            </a:r>
            <a:endParaRPr lang="en-US" sz="1050" dirty="0"/>
          </a:p>
        </p:txBody>
      </p:sp>
      <p:sp>
        <p:nvSpPr>
          <p:cNvPr id="23" name="Text 21"/>
          <p:cNvSpPr txBox="1"/>
          <p:nvPr/>
        </p:nvSpPr>
        <p:spPr>
          <a:xfrm>
            <a:off x="1645920" y="3803904"/>
            <a:ext cx="1371600"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Alert</a:t>
            </a:r>
            <a:endParaRPr lang="en-US" sz="1050" dirty="0"/>
          </a:p>
        </p:txBody>
      </p:sp>
      <p:sp>
        <p:nvSpPr>
          <p:cNvPr id="24" name="Text 22"/>
          <p:cNvSpPr txBox="1"/>
          <p:nvPr/>
        </p:nvSpPr>
        <p:spPr>
          <a:xfrm>
            <a:off x="3108960" y="3803904"/>
            <a:ext cx="5303520" cy="274320"/>
          </a:xfrm>
          <a:prstGeom prst="rect">
            <a:avLst/>
          </a:prstGeom>
          <a:noFill/>
          <a:ln/>
        </p:spPr>
        <p:txBody>
          <a:bodyPr wrap="square" lIns="0" tIns="0" rIns="0" bIns="0" rtlCol="0" anchor="ctr"/>
          <a:lstStyle/>
          <a:p>
            <a:pPr marL="0" indent="0">
              <a:buNone/>
            </a:pPr>
            <a:r>
              <a:rPr lang="en-US" sz="1000" dirty="0">
                <a:solidFill>
                  <a:srgbClr val="222833"/>
                </a:solidFill>
                <a:latin typeface="Calibri" pitchFamily="34" charset="0"/>
                <a:ea typeface="Calibri" pitchFamily="34" charset="-122"/>
                <a:cs typeface="Calibri" pitchFamily="34" charset="-120"/>
              </a:rPr>
              <a:t>Quét kết quả, đẩy webhook/email nếu vượt 1,5× lưu lượng trung bình</a:t>
            </a:r>
            <a:endParaRPr lang="en-US" sz="1000" dirty="0"/>
          </a:p>
        </p:txBody>
      </p:sp>
      <p:sp>
        <p:nvSpPr>
          <p:cNvPr id="25" name="Shape 23"/>
          <p:cNvSpPr/>
          <p:nvPr/>
        </p:nvSpPr>
        <p:spPr>
          <a:xfrm>
            <a:off x="548640" y="4251960"/>
            <a:ext cx="8046720" cy="512064"/>
          </a:xfrm>
          <a:prstGeom prst="roundRect">
            <a:avLst>
              <a:gd name="adj" fmla="val 10714"/>
            </a:avLst>
          </a:prstGeom>
          <a:solidFill>
            <a:srgbClr val="E8F0FE"/>
          </a:solidFill>
          <a:ln w="6350">
            <a:solidFill>
              <a:srgbClr val="FDF0DC"/>
            </a:solidFill>
            <a:prstDash val="solid"/>
          </a:ln>
        </p:spPr>
        <p:txBody>
          <a:bodyPr/>
          <a:lstStyle/>
          <a:p>
            <a:endParaRPr lang="en-US"/>
          </a:p>
        </p:txBody>
      </p:sp>
      <p:sp>
        <p:nvSpPr>
          <p:cNvPr id="26" name="Text 24"/>
          <p:cNvSpPr txBox="1"/>
          <p:nvPr/>
        </p:nvSpPr>
        <p:spPr>
          <a:xfrm>
            <a:off x="777240" y="4389120"/>
            <a:ext cx="777240" cy="237744"/>
          </a:xfrm>
          <a:prstGeom prst="rect">
            <a:avLst/>
          </a:prstGeom>
          <a:noFill/>
          <a:ln/>
        </p:spPr>
        <p:txBody>
          <a:bodyPr wrap="square" lIns="0" tIns="0" rIns="0" bIns="0" rtlCol="0" anchor="ctr"/>
          <a:lstStyle/>
          <a:p>
            <a:pPr marL="0" indent="0">
              <a:buNone/>
            </a:pPr>
            <a:r>
              <a:rPr lang="en-US" sz="1050" b="1" dirty="0">
                <a:solidFill>
                  <a:srgbClr val="424A7D"/>
                </a:solidFill>
                <a:latin typeface="Calibri" pitchFamily="34" charset="0"/>
                <a:ea typeface="Calibri" pitchFamily="34" charset="-122"/>
                <a:cs typeface="Calibri" pitchFamily="34" charset="-120"/>
              </a:rPr>
              <a:t>08:00</a:t>
            </a:r>
            <a:endParaRPr lang="en-US" sz="1050" dirty="0">
              <a:solidFill>
                <a:srgbClr val="424A7D"/>
              </a:solidFill>
            </a:endParaRPr>
          </a:p>
        </p:txBody>
      </p:sp>
      <p:sp>
        <p:nvSpPr>
          <p:cNvPr id="27" name="Text 25"/>
          <p:cNvSpPr txBox="1"/>
          <p:nvPr/>
        </p:nvSpPr>
        <p:spPr>
          <a:xfrm>
            <a:off x="1645920" y="4389120"/>
            <a:ext cx="1371600"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Ra quyết định</a:t>
            </a:r>
            <a:endParaRPr lang="en-US" sz="1050" dirty="0"/>
          </a:p>
        </p:txBody>
      </p:sp>
      <p:sp>
        <p:nvSpPr>
          <p:cNvPr id="28" name="Text 26"/>
          <p:cNvSpPr txBox="1"/>
          <p:nvPr/>
        </p:nvSpPr>
        <p:spPr>
          <a:xfrm>
            <a:off x="3108960" y="4389120"/>
            <a:ext cx="5303520" cy="274320"/>
          </a:xfrm>
          <a:prstGeom prst="rect">
            <a:avLst/>
          </a:prstGeom>
          <a:noFill/>
          <a:ln/>
        </p:spPr>
        <p:txBody>
          <a:bodyPr wrap="square" lIns="0" tIns="0" rIns="0" bIns="0" rtlCol="0" anchor="ctr"/>
          <a:lstStyle/>
          <a:p>
            <a:pPr marL="0" indent="0">
              <a:buNone/>
            </a:pPr>
            <a:r>
              <a:rPr lang="en-US" sz="1000" dirty="0">
                <a:solidFill>
                  <a:srgbClr val="222833"/>
                </a:solidFill>
                <a:latin typeface="Calibri" pitchFamily="34" charset="0"/>
                <a:ea typeface="Calibri" pitchFamily="34" charset="-122"/>
                <a:cs typeface="Calibri" pitchFamily="34" charset="-120"/>
              </a:rPr>
              <a:t>Quản lý chi nhánh xem dự báo và DUYỆT lịch phân ca — con người chốt</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txBox="1"/>
          <p:nvPr/>
        </p:nvSpPr>
        <p:spPr>
          <a:xfrm>
            <a:off x="548640" y="475488"/>
            <a:ext cx="8046720" cy="777240"/>
          </a:xfrm>
          <a:prstGeom prst="rect">
            <a:avLst/>
          </a:prstGeom>
          <a:noFill/>
          <a:ln/>
        </p:spPr>
        <p:txBody>
          <a:bodyPr wrap="square" lIns="0" tIns="0" rIns="0" bIns="0" rtlCol="0" anchor="t"/>
          <a:lstStyle/>
          <a:p>
            <a:pPr marL="0" indent="0">
              <a:buNone/>
            </a:pPr>
            <a:r>
              <a:rPr lang="en-US" sz="2500" b="1" dirty="0">
                <a:solidFill>
                  <a:srgbClr val="1E2761"/>
                </a:solidFill>
                <a:latin typeface="Cambria" pitchFamily="34" charset="0"/>
                <a:ea typeface="Cambria" pitchFamily="34" charset="-122"/>
                <a:cs typeface="Cambria" pitchFamily="34" charset="-120"/>
              </a:rPr>
              <a:t>Kiến trúc ba tầng, </a:t>
            </a:r>
            <a:r>
              <a:rPr lang="en-US" sz="2500" b="1" dirty="0" err="1">
                <a:solidFill>
                  <a:srgbClr val="1E2761"/>
                </a:solidFill>
                <a:latin typeface="Cambria" pitchFamily="34" charset="0"/>
                <a:ea typeface="Cambria" pitchFamily="34" charset="-122"/>
                <a:cs typeface="Cambria" pitchFamily="34" charset="-120"/>
              </a:rPr>
              <a:t>tích</a:t>
            </a:r>
            <a:r>
              <a:rPr lang="en-US" sz="2500" b="1" dirty="0">
                <a:solidFill>
                  <a:srgbClr val="1E2761"/>
                </a:solidFill>
                <a:latin typeface="Cambria" pitchFamily="34" charset="0"/>
                <a:ea typeface="Cambria" pitchFamily="34" charset="-122"/>
                <a:cs typeface="Cambria" pitchFamily="34" charset="-120"/>
              </a:rPr>
              <a:t> </a:t>
            </a:r>
            <a:r>
              <a:rPr lang="en-US" sz="2500" b="1" dirty="0" err="1">
                <a:solidFill>
                  <a:srgbClr val="1E2761"/>
                </a:solidFill>
                <a:latin typeface="Cambria" pitchFamily="34" charset="0"/>
                <a:ea typeface="Cambria" pitchFamily="34" charset="-122"/>
                <a:cs typeface="Cambria" pitchFamily="34" charset="-120"/>
              </a:rPr>
              <a:t>hợp</a:t>
            </a:r>
            <a:endParaRPr lang="en-US" sz="2500" dirty="0"/>
          </a:p>
        </p:txBody>
      </p:sp>
      <p:sp>
        <p:nvSpPr>
          <p:cNvPr id="5" name="Shape 3"/>
          <p:cNvSpPr/>
          <p:nvPr/>
        </p:nvSpPr>
        <p:spPr>
          <a:xfrm>
            <a:off x="1364566" y="1645920"/>
            <a:ext cx="6112412" cy="685800"/>
          </a:xfrm>
          <a:prstGeom prst="roundRect">
            <a:avLst>
              <a:gd name="adj" fmla="val 8000"/>
            </a:avLst>
          </a:prstGeom>
          <a:solidFill>
            <a:srgbClr val="E8F0FE"/>
          </a:solidFill>
          <a:ln w="6350">
            <a:solidFill>
              <a:srgbClr val="E8F0FE"/>
            </a:solidFill>
            <a:prstDash val="solid"/>
          </a:ln>
        </p:spPr>
        <p:txBody>
          <a:bodyPr/>
          <a:lstStyle/>
          <a:p>
            <a:endParaRPr lang="en-US"/>
          </a:p>
        </p:txBody>
      </p:sp>
      <p:sp>
        <p:nvSpPr>
          <p:cNvPr id="6" name="Text 4"/>
          <p:cNvSpPr txBox="1"/>
          <p:nvPr/>
        </p:nvSpPr>
        <p:spPr>
          <a:xfrm>
            <a:off x="1565733" y="1728216"/>
            <a:ext cx="5623419" cy="219456"/>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Trình bày</a:t>
            </a:r>
            <a:endParaRPr lang="en-US" sz="1100" dirty="0"/>
          </a:p>
        </p:txBody>
      </p:sp>
      <p:sp>
        <p:nvSpPr>
          <p:cNvPr id="7" name="Text 5"/>
          <p:cNvSpPr txBox="1"/>
          <p:nvPr/>
        </p:nvSpPr>
        <p:spPr>
          <a:xfrm>
            <a:off x="1565733" y="1956816"/>
            <a:ext cx="5623419" cy="310896"/>
          </a:xfrm>
          <a:prstGeom prst="rect">
            <a:avLst/>
          </a:prstGeom>
          <a:noFill/>
          <a:ln/>
        </p:spPr>
        <p:txBody>
          <a:bodyPr wrap="square" lIns="0" tIns="0" rIns="0" bIns="0" rtlCol="0" anchor="ctr"/>
          <a:lstStyle/>
          <a:p>
            <a:pPr marL="0" indent="0">
              <a:buNone/>
            </a:pPr>
            <a:r>
              <a:rPr lang="en-US" sz="1050" dirty="0">
                <a:solidFill>
                  <a:srgbClr val="5A6478"/>
                </a:solidFill>
                <a:latin typeface="Calibri" pitchFamily="34" charset="0"/>
                <a:ea typeface="Calibri" pitchFamily="34" charset="-122"/>
                <a:cs typeface="Calibri" pitchFamily="34" charset="-120"/>
              </a:rPr>
              <a:t>Web Dashboard (DSS) · Grafana · Webhook / Email Alert</a:t>
            </a:r>
            <a:endParaRPr lang="en-US" sz="1050" dirty="0"/>
          </a:p>
        </p:txBody>
      </p:sp>
      <p:sp>
        <p:nvSpPr>
          <p:cNvPr id="8" name="Shape 6"/>
          <p:cNvSpPr/>
          <p:nvPr/>
        </p:nvSpPr>
        <p:spPr>
          <a:xfrm>
            <a:off x="1364566" y="2404872"/>
            <a:ext cx="6112412" cy="685800"/>
          </a:xfrm>
          <a:prstGeom prst="roundRect">
            <a:avLst>
              <a:gd name="adj" fmla="val 8000"/>
            </a:avLst>
          </a:prstGeom>
          <a:solidFill>
            <a:srgbClr val="E8F0FE"/>
          </a:solidFill>
          <a:ln w="6350">
            <a:noFill/>
            <a:prstDash val="solid"/>
          </a:ln>
        </p:spPr>
        <p:txBody>
          <a:bodyPr/>
          <a:lstStyle/>
          <a:p>
            <a:endParaRPr lang="en-US"/>
          </a:p>
        </p:txBody>
      </p:sp>
      <p:sp>
        <p:nvSpPr>
          <p:cNvPr id="9" name="Text 7"/>
          <p:cNvSpPr txBox="1"/>
          <p:nvPr/>
        </p:nvSpPr>
        <p:spPr>
          <a:xfrm>
            <a:off x="1565733" y="2487168"/>
            <a:ext cx="5623419" cy="219456"/>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Ứng dụng</a:t>
            </a:r>
            <a:endParaRPr lang="en-US" sz="1100" dirty="0">
              <a:solidFill>
                <a:srgbClr val="1E2761"/>
              </a:solidFill>
            </a:endParaRPr>
          </a:p>
        </p:txBody>
      </p:sp>
      <p:sp>
        <p:nvSpPr>
          <p:cNvPr id="10" name="Text 8"/>
          <p:cNvSpPr txBox="1"/>
          <p:nvPr/>
        </p:nvSpPr>
        <p:spPr>
          <a:xfrm>
            <a:off x="1565733" y="2715768"/>
            <a:ext cx="5623419" cy="310896"/>
          </a:xfrm>
          <a:prstGeom prst="rect">
            <a:avLst/>
          </a:prstGeom>
          <a:noFill/>
          <a:ln/>
        </p:spPr>
        <p:txBody>
          <a:bodyPr wrap="square" lIns="0" tIns="0" rIns="0" bIns="0" rtlCol="0" anchor="ctr"/>
          <a:lstStyle/>
          <a:p>
            <a:pPr marL="0" indent="0">
              <a:buNone/>
            </a:pPr>
            <a:r>
              <a:rPr lang="en-US" sz="1050" dirty="0">
                <a:solidFill>
                  <a:srgbClr val="768093"/>
                </a:solidFill>
                <a:latin typeface="Calibri" pitchFamily="34" charset="0"/>
                <a:ea typeface="Calibri" pitchFamily="34" charset="-122"/>
                <a:cs typeface="Calibri" pitchFamily="34" charset="-120"/>
              </a:rPr>
              <a:t>API Gateway (JWT, rate limit) · Forecast Service · Alert Service · Apache Airflow</a:t>
            </a:r>
            <a:endParaRPr lang="en-US" sz="1050" dirty="0">
              <a:solidFill>
                <a:srgbClr val="768093"/>
              </a:solidFill>
            </a:endParaRPr>
          </a:p>
        </p:txBody>
      </p:sp>
      <p:sp>
        <p:nvSpPr>
          <p:cNvPr id="11" name="Shape 9"/>
          <p:cNvSpPr/>
          <p:nvPr/>
        </p:nvSpPr>
        <p:spPr>
          <a:xfrm>
            <a:off x="1364566" y="3163824"/>
            <a:ext cx="6112412" cy="685800"/>
          </a:xfrm>
          <a:prstGeom prst="roundRect">
            <a:avLst>
              <a:gd name="adj" fmla="val 8000"/>
            </a:avLst>
          </a:prstGeom>
          <a:solidFill>
            <a:srgbClr val="E8F0FE"/>
          </a:solidFill>
          <a:ln w="6350">
            <a:solidFill>
              <a:srgbClr val="E8F0FE"/>
            </a:solidFill>
            <a:prstDash val="solid"/>
          </a:ln>
        </p:spPr>
        <p:txBody>
          <a:bodyPr/>
          <a:lstStyle/>
          <a:p>
            <a:endParaRPr lang="en-US"/>
          </a:p>
        </p:txBody>
      </p:sp>
      <p:sp>
        <p:nvSpPr>
          <p:cNvPr id="12" name="Text 10"/>
          <p:cNvSpPr txBox="1"/>
          <p:nvPr/>
        </p:nvSpPr>
        <p:spPr>
          <a:xfrm>
            <a:off x="1565733" y="3246120"/>
            <a:ext cx="5623419" cy="219456"/>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Dữ liệu</a:t>
            </a:r>
            <a:endParaRPr lang="en-US" sz="1100" dirty="0"/>
          </a:p>
        </p:txBody>
      </p:sp>
      <p:sp>
        <p:nvSpPr>
          <p:cNvPr id="13" name="Text 11"/>
          <p:cNvSpPr txBox="1"/>
          <p:nvPr/>
        </p:nvSpPr>
        <p:spPr>
          <a:xfrm>
            <a:off x="1565733" y="3474720"/>
            <a:ext cx="5623419" cy="310896"/>
          </a:xfrm>
          <a:prstGeom prst="rect">
            <a:avLst/>
          </a:prstGeom>
          <a:noFill/>
          <a:ln/>
        </p:spPr>
        <p:txBody>
          <a:bodyPr wrap="square" lIns="0" tIns="0" rIns="0" bIns="0" rtlCol="0" anchor="ctr"/>
          <a:lstStyle/>
          <a:p>
            <a:pPr marL="0" indent="0">
              <a:buNone/>
            </a:pPr>
            <a:r>
              <a:rPr lang="en-US" sz="1050" dirty="0">
                <a:solidFill>
                  <a:srgbClr val="5A6478"/>
                </a:solidFill>
                <a:latin typeface="Calibri" pitchFamily="34" charset="0"/>
                <a:ea typeface="Calibri" pitchFamily="34" charset="-122"/>
                <a:cs typeface="Calibri" pitchFamily="34" charset="-120"/>
              </a:rPr>
              <a:t>PostgreSQL DWH · MLflow Registry · Object Storage S3 · Prometheus + Loki</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txBox="1"/>
          <p:nvPr/>
        </p:nvSpPr>
        <p:spPr>
          <a:xfrm>
            <a:off x="548640" y="475488"/>
            <a:ext cx="8046720" cy="777240"/>
          </a:xfrm>
          <a:prstGeom prst="rect">
            <a:avLst/>
          </a:prstGeom>
          <a:noFill/>
          <a:ln/>
        </p:spPr>
        <p:txBody>
          <a:bodyPr wrap="square" lIns="0" tIns="0" rIns="0" bIns="0" rtlCol="0" anchor="t"/>
          <a:lstStyle/>
          <a:p>
            <a:pPr marL="0" indent="0">
              <a:buNone/>
            </a:pPr>
            <a:r>
              <a:rPr lang="en-US" sz="2500" b="1" dirty="0">
                <a:solidFill>
                  <a:srgbClr val="1E2761"/>
                </a:solidFill>
                <a:latin typeface="Cambria" pitchFamily="34" charset="0"/>
                <a:ea typeface="Cambria" pitchFamily="34" charset="-122"/>
                <a:cs typeface="Cambria" pitchFamily="34" charset="-120"/>
              </a:rPr>
              <a:t>Kế hoạch triển khai và tổ chức nhân sự</a:t>
            </a:r>
            <a:endParaRPr lang="en-US" sz="2500" dirty="0"/>
          </a:p>
        </p:txBody>
      </p:sp>
      <p:graphicFrame>
        <p:nvGraphicFramePr>
          <p:cNvPr id="16" name="Table 0"/>
          <p:cNvGraphicFramePr>
            <a:graphicFrameLocks noGrp="1"/>
          </p:cNvGraphicFramePr>
          <p:nvPr>
            <p:extLst>
              <p:ext uri="{D42A27DB-BD31-4B8C-83A1-F6EECF244321}">
                <p14:modId xmlns:p14="http://schemas.microsoft.com/office/powerpoint/2010/main" val="3207676480"/>
              </p:ext>
            </p:extLst>
          </p:nvPr>
        </p:nvGraphicFramePr>
        <p:xfrm>
          <a:off x="422031" y="1307592"/>
          <a:ext cx="6080760" cy="2816352"/>
        </p:xfrm>
        <a:graphic>
          <a:graphicData uri="http://schemas.openxmlformats.org/drawingml/2006/table">
            <a:tbl>
              <a:tblPr/>
              <a:tblGrid>
                <a:gridCol w="155448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402336">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Pha</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Tuần</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Sản phẩm bàn giao</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Nghiệm thu</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Owner</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02336">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1. Khảo sát &amp; phân tích</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T1–T3</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Data Dictionary, dataset sạch</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B.4 ≥ 99,5%</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Data Eng</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2. Thiết kế HLD/LLD</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T4–T5</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API Contract, ERD, Terraform</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Sponsor duyệt 100%</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Architect</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3. Phát triển</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T6–T10</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Pipeline, model artifact, benchmark</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A.1 &lt; 15%; A.3 ≥ 85%</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ML Eng</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4. Kiểm thử SIT/UAT</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T11–T13</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Docker image, báo cáo SIT, UAT</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B.1 ≤ 500ms; B.6 &lt; 0,1%</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QA</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4"/>
                  </a:ext>
                </a:extLst>
              </a:tr>
              <a:tr h="402336">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5. Triển khai</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T14–T15</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Hệ thống live, dashboard</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B.3 ≥ 99,9%; B.5 ≤ 24h</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DevOps/SRE</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5"/>
                  </a:ext>
                </a:extLst>
              </a:tr>
              <a:tr h="402336">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6. Hypercare</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T16–T19</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Báo cáo hypercare, model v2</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14 ngày không sự cố P0/P1</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SRE + ML</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Shape 3"/>
          <p:cNvSpPr/>
          <p:nvPr/>
        </p:nvSpPr>
        <p:spPr>
          <a:xfrm>
            <a:off x="6727874" y="1307592"/>
            <a:ext cx="1994095" cy="2834640"/>
          </a:xfrm>
          <a:prstGeom prst="roundRect">
            <a:avLst>
              <a:gd name="adj" fmla="val 2449"/>
            </a:avLst>
          </a:prstGeom>
          <a:solidFill>
            <a:srgbClr val="1E2761"/>
          </a:solidFill>
          <a:ln w="6350">
            <a:solidFill>
              <a:srgbClr val="1E2761"/>
            </a:solidFill>
            <a:prstDash val="solid"/>
          </a:ln>
        </p:spPr>
        <p:txBody>
          <a:bodyPr/>
          <a:lstStyle/>
          <a:p>
            <a:endParaRPr lang="en-US"/>
          </a:p>
        </p:txBody>
      </p:sp>
      <p:sp>
        <p:nvSpPr>
          <p:cNvPr id="7" name="Text 4"/>
          <p:cNvSpPr txBox="1"/>
          <p:nvPr/>
        </p:nvSpPr>
        <p:spPr>
          <a:xfrm>
            <a:off x="6910754" y="1555887"/>
            <a:ext cx="1828800" cy="237744"/>
          </a:xfrm>
          <a:prstGeom prst="rect">
            <a:avLst/>
          </a:prstGeom>
          <a:noFill/>
          <a:ln/>
        </p:spPr>
        <p:txBody>
          <a:bodyPr wrap="square" lIns="0" tIns="0" rIns="0" bIns="0" rtlCol="0" anchor="ctr"/>
          <a:lstStyle/>
          <a:p>
            <a:pPr marL="0" indent="0">
              <a:buNone/>
            </a:pPr>
            <a:r>
              <a:rPr lang="en-US" sz="1200" b="1" dirty="0">
                <a:solidFill>
                  <a:srgbClr val="E08A1E"/>
                </a:solidFill>
                <a:latin typeface="Calibri" pitchFamily="34" charset="0"/>
                <a:ea typeface="Calibri" pitchFamily="34" charset="-122"/>
                <a:cs typeface="Calibri" pitchFamily="34" charset="-120"/>
              </a:rPr>
              <a:t>Nhân sự</a:t>
            </a:r>
            <a:endParaRPr lang="en-US" sz="1200" dirty="0"/>
          </a:p>
        </p:txBody>
      </p:sp>
      <p:sp>
        <p:nvSpPr>
          <p:cNvPr id="8" name="Text 5"/>
          <p:cNvSpPr txBox="1"/>
          <p:nvPr/>
        </p:nvSpPr>
        <p:spPr>
          <a:xfrm>
            <a:off x="6893169" y="1793631"/>
            <a:ext cx="1828800" cy="2194560"/>
          </a:xfrm>
          <a:prstGeom prst="rect">
            <a:avLst/>
          </a:prstGeom>
          <a:noFill/>
          <a:ln/>
        </p:spPr>
        <p:txBody>
          <a:bodyPr wrap="square" lIns="0" tIns="0" rIns="0" bIns="0" rtlCol="0" anchor="ctr"/>
          <a:lstStyle/>
          <a:p>
            <a:pPr marL="342900" indent="-342900">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1 Project Manager</a:t>
            </a:r>
            <a:endParaRPr lang="en-US" sz="1000" dirty="0"/>
          </a:p>
          <a:p>
            <a:pPr marL="342900" indent="-342900">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2 Data Engineer</a:t>
            </a:r>
            <a:endParaRPr lang="en-US" sz="1000" dirty="0"/>
          </a:p>
          <a:p>
            <a:pPr marL="342900" indent="-342900">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2 ML Engineer</a:t>
            </a:r>
            <a:endParaRPr lang="en-US" sz="1000" dirty="0"/>
          </a:p>
          <a:p>
            <a:pPr marL="342900" indent="-342900">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1 Backend Dev</a:t>
            </a:r>
            <a:endParaRPr lang="en-US" sz="1000" dirty="0"/>
          </a:p>
          <a:p>
            <a:pPr marL="342900" indent="-342900">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1 DevOps / SRE</a:t>
            </a:r>
            <a:endParaRPr lang="en-US" sz="1000" dirty="0"/>
          </a:p>
          <a:p>
            <a:pPr marL="342900" indent="-342900">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1 QA Engineer</a:t>
            </a:r>
            <a:endParaRPr lang="en-US" sz="1000" dirty="0"/>
          </a:p>
          <a:p>
            <a:pPr marL="342900" indent="-342900">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2 Key User (QL chi nhánh)</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txBox="1"/>
          <p:nvPr/>
        </p:nvSpPr>
        <p:spPr>
          <a:xfrm>
            <a:off x="548640" y="475488"/>
            <a:ext cx="8046720" cy="777240"/>
          </a:xfrm>
          <a:prstGeom prst="rect">
            <a:avLst/>
          </a:prstGeom>
          <a:noFill/>
          <a:ln/>
        </p:spPr>
        <p:txBody>
          <a:bodyPr wrap="square" lIns="0" tIns="0" rIns="0" bIns="0" rtlCol="0" anchor="t"/>
          <a:lstStyle/>
          <a:p>
            <a:pPr marL="0" indent="0">
              <a:buNone/>
            </a:pPr>
            <a:r>
              <a:rPr lang="en-US" sz="2500" b="1" dirty="0">
                <a:solidFill>
                  <a:srgbClr val="1E2761"/>
                </a:solidFill>
                <a:latin typeface="Cambria" pitchFamily="34" charset="0"/>
                <a:ea typeface="Cambria" pitchFamily="34" charset="-122"/>
                <a:cs typeface="Cambria" pitchFamily="34" charset="-120"/>
              </a:rPr>
              <a:t>Chi phí và phương án tài chính</a:t>
            </a:r>
            <a:endParaRPr lang="en-US" sz="2500" dirty="0"/>
          </a:p>
        </p:txBody>
      </p:sp>
      <p:sp>
        <p:nvSpPr>
          <p:cNvPr id="5" name="Text 3"/>
          <p:cNvSpPr txBox="1"/>
          <p:nvPr/>
        </p:nvSpPr>
        <p:spPr>
          <a:xfrm>
            <a:off x="548640" y="1234440"/>
            <a:ext cx="2514600" cy="548640"/>
          </a:xfrm>
          <a:prstGeom prst="rect">
            <a:avLst/>
          </a:prstGeom>
          <a:noFill/>
          <a:ln/>
        </p:spPr>
        <p:txBody>
          <a:bodyPr wrap="square" lIns="0" tIns="0" rIns="0" bIns="0" rtlCol="0" anchor="ctr"/>
          <a:lstStyle/>
          <a:p>
            <a:pPr marL="0" indent="0" algn="ctr">
              <a:buNone/>
            </a:pPr>
            <a:r>
              <a:rPr lang="en-US" sz="2900" b="1" dirty="0">
                <a:solidFill>
                  <a:srgbClr val="1E2761"/>
                </a:solidFill>
                <a:latin typeface="Cambria" pitchFamily="34" charset="0"/>
                <a:ea typeface="Cambria" pitchFamily="34" charset="-122"/>
                <a:cs typeface="Cambria" pitchFamily="34" charset="-120"/>
              </a:rPr>
              <a:t>663 tr</a:t>
            </a:r>
            <a:endParaRPr lang="en-US" sz="2900" dirty="0"/>
          </a:p>
        </p:txBody>
      </p:sp>
      <p:sp>
        <p:nvSpPr>
          <p:cNvPr id="6" name="Text 4"/>
          <p:cNvSpPr txBox="1"/>
          <p:nvPr/>
        </p:nvSpPr>
        <p:spPr>
          <a:xfrm>
            <a:off x="548640" y="1764792"/>
            <a:ext cx="2514600" cy="457200"/>
          </a:xfrm>
          <a:prstGeom prst="rect">
            <a:avLst/>
          </a:prstGeom>
          <a:noFill/>
          <a:ln/>
        </p:spPr>
        <p:txBody>
          <a:bodyPr wrap="square" lIns="0" tIns="0" rIns="0" bIns="0" rtlCol="0" anchor="ctr"/>
          <a:lstStyle/>
          <a:p>
            <a:pPr marL="0" indent="0" algn="ctr">
              <a:buNone/>
            </a:pPr>
            <a:r>
              <a:rPr lang="en-US" sz="1050" dirty="0">
                <a:solidFill>
                  <a:srgbClr val="5A6478"/>
                </a:solidFill>
                <a:latin typeface="Calibri" pitchFamily="34" charset="0"/>
                <a:ea typeface="Calibri" pitchFamily="34" charset="-122"/>
                <a:cs typeface="Calibri" pitchFamily="34" charset="-120"/>
              </a:rPr>
              <a:t>CAPEX — giai đoạn 15 tuần</a:t>
            </a:r>
            <a:endParaRPr lang="en-US" sz="1050" dirty="0"/>
          </a:p>
        </p:txBody>
      </p:sp>
      <p:sp>
        <p:nvSpPr>
          <p:cNvPr id="7" name="Text 5"/>
          <p:cNvSpPr txBox="1"/>
          <p:nvPr/>
        </p:nvSpPr>
        <p:spPr>
          <a:xfrm>
            <a:off x="3154680" y="1234440"/>
            <a:ext cx="2514600" cy="548640"/>
          </a:xfrm>
          <a:prstGeom prst="rect">
            <a:avLst/>
          </a:prstGeom>
          <a:noFill/>
          <a:ln/>
        </p:spPr>
        <p:txBody>
          <a:bodyPr wrap="square" lIns="0" tIns="0" rIns="0" bIns="0" rtlCol="0" anchor="ctr"/>
          <a:lstStyle/>
          <a:p>
            <a:pPr marL="0" indent="0" algn="ctr">
              <a:buNone/>
            </a:pPr>
            <a:r>
              <a:rPr lang="en-US" sz="2900" b="1" dirty="0">
                <a:solidFill>
                  <a:srgbClr val="1E2761"/>
                </a:solidFill>
                <a:latin typeface="Cambria" pitchFamily="34" charset="0"/>
                <a:ea typeface="Cambria" pitchFamily="34" charset="-122"/>
                <a:cs typeface="Cambria" pitchFamily="34" charset="-120"/>
              </a:rPr>
              <a:t>325,8 tr</a:t>
            </a:r>
            <a:endParaRPr lang="en-US" sz="2900" dirty="0"/>
          </a:p>
        </p:txBody>
      </p:sp>
      <p:sp>
        <p:nvSpPr>
          <p:cNvPr id="8" name="Text 6"/>
          <p:cNvSpPr txBox="1"/>
          <p:nvPr/>
        </p:nvSpPr>
        <p:spPr>
          <a:xfrm>
            <a:off x="3154680" y="1764792"/>
            <a:ext cx="2514600" cy="457200"/>
          </a:xfrm>
          <a:prstGeom prst="rect">
            <a:avLst/>
          </a:prstGeom>
          <a:noFill/>
          <a:ln/>
        </p:spPr>
        <p:txBody>
          <a:bodyPr wrap="square" lIns="0" tIns="0" rIns="0" bIns="0" rtlCol="0" anchor="ctr"/>
          <a:lstStyle/>
          <a:p>
            <a:pPr marL="0" indent="0" algn="ctr">
              <a:buNone/>
            </a:pPr>
            <a:r>
              <a:rPr lang="en-US" sz="1050" dirty="0">
                <a:solidFill>
                  <a:srgbClr val="5A6478"/>
                </a:solidFill>
                <a:latin typeface="Calibri" pitchFamily="34" charset="0"/>
                <a:ea typeface="Calibri" pitchFamily="34" charset="-122"/>
                <a:cs typeface="Calibri" pitchFamily="34" charset="-120"/>
              </a:rPr>
              <a:t>OPEX năm 1 sau Go-live</a:t>
            </a:r>
            <a:endParaRPr lang="en-US" sz="1050" dirty="0"/>
          </a:p>
        </p:txBody>
      </p:sp>
      <p:sp>
        <p:nvSpPr>
          <p:cNvPr id="9" name="Text 7"/>
          <p:cNvSpPr txBox="1"/>
          <p:nvPr/>
        </p:nvSpPr>
        <p:spPr>
          <a:xfrm>
            <a:off x="5760720" y="1234440"/>
            <a:ext cx="2834640" cy="548640"/>
          </a:xfrm>
          <a:prstGeom prst="rect">
            <a:avLst/>
          </a:prstGeom>
          <a:noFill/>
          <a:ln/>
        </p:spPr>
        <p:txBody>
          <a:bodyPr wrap="square" lIns="0" tIns="0" rIns="0" bIns="0" rtlCol="0" anchor="ctr"/>
          <a:lstStyle/>
          <a:p>
            <a:pPr marL="0" indent="0" algn="ctr">
              <a:buNone/>
            </a:pPr>
            <a:r>
              <a:rPr lang="en-US" sz="2900" b="1" dirty="0">
                <a:solidFill>
                  <a:srgbClr val="E08A1E"/>
                </a:solidFill>
                <a:latin typeface="Cambria" pitchFamily="34" charset="0"/>
                <a:ea typeface="Cambria" pitchFamily="34" charset="-122"/>
                <a:cs typeface="Cambria" pitchFamily="34" charset="-120"/>
              </a:rPr>
              <a:t>1,088 tỷ</a:t>
            </a:r>
            <a:endParaRPr lang="en-US" sz="2900" dirty="0"/>
          </a:p>
        </p:txBody>
      </p:sp>
      <p:sp>
        <p:nvSpPr>
          <p:cNvPr id="10" name="Text 8"/>
          <p:cNvSpPr txBox="1"/>
          <p:nvPr/>
        </p:nvSpPr>
        <p:spPr>
          <a:xfrm>
            <a:off x="5760720" y="1764792"/>
            <a:ext cx="2834640" cy="457200"/>
          </a:xfrm>
          <a:prstGeom prst="rect">
            <a:avLst/>
          </a:prstGeom>
          <a:noFill/>
          <a:ln/>
        </p:spPr>
        <p:txBody>
          <a:bodyPr wrap="square" lIns="0" tIns="0" rIns="0" bIns="0" rtlCol="0" anchor="ctr"/>
          <a:lstStyle/>
          <a:p>
            <a:pPr marL="0" indent="0" algn="ctr">
              <a:buNone/>
            </a:pPr>
            <a:r>
              <a:rPr lang="en-US" sz="1050" dirty="0">
                <a:solidFill>
                  <a:srgbClr val="5A6478"/>
                </a:solidFill>
                <a:latin typeface="Calibri" pitchFamily="34" charset="0"/>
                <a:ea typeface="Calibri" pitchFamily="34" charset="-122"/>
                <a:cs typeface="Calibri" pitchFamily="34" charset="-120"/>
              </a:rPr>
              <a:t>TCO năm 1 (đã gồm dự phòng 10%)</a:t>
            </a:r>
            <a:endParaRPr lang="en-US" sz="10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2286000"/>
          <a:ext cx="5623560" cy="2161032"/>
        </p:xfrm>
        <a:graphic>
          <a:graphicData uri="http://schemas.openxmlformats.org/drawingml/2006/table">
            <a:tbl>
              <a:tblPr/>
              <a:tblGrid>
                <a:gridCol w="182880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301752">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Nhóm chi phí</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Chi tiết</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Thành tiền</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01752">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Nhân công (CAPEX)</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PM, Data, ML, Backend, SRE, QA — ~27 người-tháng</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594,0 tr</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1"/>
                  </a:ext>
                </a:extLst>
              </a:tr>
              <a:tr h="301752">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Hạ tầng phát triển (CAPEX)</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VM, GPU training, PostgreSQL, S3 môi trường Dev/Staging</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64,0 tr</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2"/>
                  </a:ext>
                </a:extLst>
              </a:tr>
              <a:tr h="301752">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Đào tạo &amp; chuyển giao (CAPEX)</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2 buổi hướng dẫn đọc dashboard cho Key User</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5,0 tr</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3"/>
                  </a:ext>
                </a:extLst>
              </a:tr>
              <a:tr h="301752">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Bản quyền</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Open-source: Airflow, MLflow, FastAPI</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0 đ</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4"/>
                  </a:ext>
                </a:extLst>
              </a:tr>
              <a:tr h="301752">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Cloud production (OPEX)</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K8s, PostgreSQL HA, S3, băng thông, GPU retrain</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172,8 tr/năm</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5"/>
                  </a:ext>
                </a:extLst>
              </a:tr>
              <a:tr h="301752">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Nhân sự Ops + bảo mật (OPEX)</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SRE/Data Eng part-time, pentest 2 lần/năm</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152,0 tr/năm</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2" name="Shape 9"/>
          <p:cNvSpPr/>
          <p:nvPr/>
        </p:nvSpPr>
        <p:spPr>
          <a:xfrm>
            <a:off x="6355080" y="2286000"/>
            <a:ext cx="2240280" cy="2103120"/>
          </a:xfrm>
          <a:prstGeom prst="roundRect">
            <a:avLst>
              <a:gd name="adj" fmla="val 2609"/>
            </a:avLst>
          </a:prstGeom>
          <a:solidFill>
            <a:srgbClr val="1E2761"/>
          </a:solidFill>
          <a:ln w="6350">
            <a:solidFill>
              <a:srgbClr val="1E2761"/>
            </a:solidFill>
            <a:prstDash val="solid"/>
          </a:ln>
        </p:spPr>
        <p:txBody>
          <a:bodyPr/>
          <a:lstStyle/>
          <a:p>
            <a:endParaRPr lang="en-US"/>
          </a:p>
        </p:txBody>
      </p:sp>
      <p:sp>
        <p:nvSpPr>
          <p:cNvPr id="13" name="Text 10"/>
          <p:cNvSpPr txBox="1"/>
          <p:nvPr/>
        </p:nvSpPr>
        <p:spPr>
          <a:xfrm>
            <a:off x="6583680" y="2404872"/>
            <a:ext cx="1828800" cy="457200"/>
          </a:xfrm>
          <a:prstGeom prst="rect">
            <a:avLst/>
          </a:prstGeom>
          <a:noFill/>
          <a:ln/>
        </p:spPr>
        <p:txBody>
          <a:bodyPr wrap="square" lIns="0" tIns="0" rIns="0" bIns="0" rtlCol="0" anchor="ctr"/>
          <a:lstStyle/>
          <a:p>
            <a:pPr marL="0" indent="0">
              <a:buNone/>
            </a:pPr>
            <a:r>
              <a:rPr lang="en-US" sz="1100" b="1" dirty="0">
                <a:solidFill>
                  <a:srgbClr val="E08A1E"/>
                </a:solidFill>
                <a:latin typeface="Calibri" pitchFamily="34" charset="0"/>
                <a:ea typeface="Calibri" pitchFamily="34" charset="-122"/>
                <a:cs typeface="Calibri" pitchFamily="34" charset="-120"/>
              </a:rPr>
              <a:t>Không cộng dồn với đồ án</a:t>
            </a:r>
            <a:endParaRPr lang="en-US" sz="1100" dirty="0"/>
          </a:p>
        </p:txBody>
      </p:sp>
      <p:sp>
        <p:nvSpPr>
          <p:cNvPr id="14" name="Text 11"/>
          <p:cNvSpPr txBox="1"/>
          <p:nvPr/>
        </p:nvSpPr>
        <p:spPr>
          <a:xfrm>
            <a:off x="6583680" y="2834640"/>
            <a:ext cx="1828800" cy="141732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Nếu triển khai chung với nền tảng của đồ án, chi phí hạ tầng Cloud được hấp thụ vào OPEX nền tảng, GPU dùng chung.</a:t>
            </a:r>
            <a:endParaRPr lang="en-US" sz="950" dirty="0"/>
          </a:p>
          <a:p>
            <a:pPr marL="0" indent="0">
              <a:buNone/>
            </a:pPr>
            <a:endParaRPr lang="en-US" sz="950" dirty="0"/>
          </a:p>
          <a:p>
            <a:pPr marL="0" indent="0">
              <a:buNone/>
            </a:pPr>
            <a:r>
              <a:rPr lang="en-US" sz="950" dirty="0">
                <a:solidFill>
                  <a:srgbClr val="FFFFFF"/>
                </a:solidFill>
                <a:latin typeface="Calibri" pitchFamily="34" charset="0"/>
                <a:ea typeface="Calibri" pitchFamily="34" charset="-122"/>
                <a:cs typeface="Calibri" pitchFamily="34" charset="-120"/>
              </a:rPr>
              <a:t>TCO năm 1 giảm còn ~925 triệu.</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txBox="1"/>
          <p:nvPr/>
        </p:nvSpPr>
        <p:spPr>
          <a:xfrm>
            <a:off x="548640" y="475488"/>
            <a:ext cx="8046720" cy="777240"/>
          </a:xfrm>
          <a:prstGeom prst="rect">
            <a:avLst/>
          </a:prstGeom>
          <a:noFill/>
          <a:ln/>
        </p:spPr>
        <p:txBody>
          <a:bodyPr wrap="square" lIns="0" tIns="0" rIns="0" bIns="0" rtlCol="0" anchor="t"/>
          <a:lstStyle/>
          <a:p>
            <a:pPr marL="0" indent="0">
              <a:buNone/>
            </a:pPr>
            <a:r>
              <a:rPr lang="en-US" sz="2500" b="1" dirty="0">
                <a:solidFill>
                  <a:srgbClr val="1E2761"/>
                </a:solidFill>
                <a:latin typeface="Cambria" pitchFamily="34" charset="0"/>
                <a:ea typeface="Cambria" pitchFamily="34" charset="-122"/>
                <a:cs typeface="Cambria" pitchFamily="34" charset="-120"/>
              </a:rPr>
              <a:t>Risk register và kế hoạch kiểm thử</a:t>
            </a:r>
            <a:endParaRPr lang="en-US" sz="2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8046720" cy="2304288"/>
        </p:xfrm>
        <a:graphic>
          <a:graphicData uri="http://schemas.openxmlformats.org/drawingml/2006/table">
            <a:tbl>
              <a:tblPr/>
              <a:tblGrid>
                <a:gridCol w="5486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384048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329184">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Mã</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Rủi ro</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Mức</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Biện pháp giảm thiểu</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Owner</a:t>
                      </a:r>
                      <a:endParaRPr lang="en-US" sz="10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29184">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R01</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Dữ liệu POS bẩn / thiếu hụt</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Cao</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Làm sạch tự động trong pipeline; cảnh báo Data Quality cho Key User</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Data Eng</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R02</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Mô hình không đạt ngưỡng MAPE</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Cao</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Thực nghiệm ≥ 4 phương pháp; beta không ràng buộc; fallback Moving Average</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ML Eng</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R03</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Data Drift do hành vi thay đổi</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Cao</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Ngưỡng cảnh báo MAPE &gt; 15% tự kích hoạt tái huấn luyện</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ML Eng</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R04</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Scope creep từ Key User</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Vừa</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Kiểm soát qua Change Request; Sponsor duyệt chi phí phát sinh</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PM</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4"/>
                  </a:ext>
                </a:extLst>
              </a:tr>
              <a:tr h="329184">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R05</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Nghẽn tải lúc 08:00 AM</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Vừa</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Auto-scaling K8s; rate limiting tại gateway; cache kết quả dự báo</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SRE</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5"/>
                  </a:ext>
                </a:extLst>
              </a:tr>
              <a:tr h="329184">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R06</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Key User chậm tham gia UAT</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Vừa</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Chốt lịch UAT từ Pha 2; chuẩn bị sẵn kịch bản test</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tc>
                  <a:txBody>
                    <a:bodyPr/>
                    <a:lstStyle/>
                    <a:p>
                      <a:pPr marL="0" indent="0">
                        <a:buNone/>
                      </a:pPr>
                      <a:r>
                        <a:rPr lang="en-US" sz="850" dirty="0">
                          <a:solidFill>
                            <a:srgbClr val="222833"/>
                          </a:solidFill>
                          <a:latin typeface="Calibri" pitchFamily="34" charset="0"/>
                          <a:ea typeface="Calibri" pitchFamily="34" charset="-122"/>
                          <a:cs typeface="Calibri" pitchFamily="34" charset="-120"/>
                        </a:rPr>
                        <a:t>PM</a:t>
                      </a:r>
                      <a:endParaRPr lang="en-US" sz="850" dirty="0">
                        <a:latin typeface="Calibri" charset="0"/>
                        <a:ea typeface="Calibri" charset="0"/>
                        <a:cs typeface="Calibri" charset="0"/>
                      </a:endParaRPr>
                    </a:p>
                  </a:txBody>
                  <a:tcPr anchor="ctr">
                    <a:lnL w="6350" cap="flat" cmpd="sng" algn="ctr">
                      <a:solidFill>
                        <a:srgbClr val="DDE3EE"/>
                      </a:solidFill>
                      <a:prstDash val="solid"/>
                      <a:round/>
                      <a:headEnd type="none" w="med" len="med"/>
                      <a:tailEnd type="none" w="med" len="med"/>
                    </a:lnL>
                    <a:lnR w="6350" cap="flat" cmpd="sng" algn="ctr">
                      <a:solidFill>
                        <a:srgbClr val="DDE3EE"/>
                      </a:solidFill>
                      <a:prstDash val="solid"/>
                      <a:round/>
                      <a:headEnd type="none" w="med" len="med"/>
                      <a:tailEnd type="none" w="med" len="med"/>
                    </a:lnR>
                    <a:lnT w="6350" cap="flat" cmpd="sng" algn="ctr">
                      <a:solidFill>
                        <a:srgbClr val="DDE3EE"/>
                      </a:solidFill>
                      <a:prstDash val="solid"/>
                      <a:round/>
                      <a:headEnd type="none" w="med" len="med"/>
                      <a:tailEnd type="none" w="med" len="med"/>
                    </a:lnT>
                    <a:lnB w="6350" cap="flat" cmpd="sng" algn="ctr">
                      <a:solidFill>
                        <a:srgbClr val="DDE3EE"/>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Shape 3"/>
          <p:cNvSpPr/>
          <p:nvPr/>
        </p:nvSpPr>
        <p:spPr>
          <a:xfrm>
            <a:off x="548640" y="3794760"/>
            <a:ext cx="8046720" cy="822960"/>
          </a:xfrm>
          <a:prstGeom prst="roundRect">
            <a:avLst>
              <a:gd name="adj" fmla="val 6667"/>
            </a:avLst>
          </a:prstGeom>
          <a:solidFill>
            <a:srgbClr val="E8F0FE"/>
          </a:solidFill>
          <a:ln w="6350">
            <a:solidFill>
              <a:srgbClr val="E8F0FE"/>
            </a:solidFill>
            <a:prstDash val="solid"/>
          </a:ln>
        </p:spPr>
        <p:txBody>
          <a:bodyPr/>
          <a:lstStyle/>
          <a:p>
            <a:endParaRPr lang="en-US"/>
          </a:p>
        </p:txBody>
      </p:sp>
      <p:sp>
        <p:nvSpPr>
          <p:cNvPr id="7" name="Text 4"/>
          <p:cNvSpPr txBox="1"/>
          <p:nvPr/>
        </p:nvSpPr>
        <p:spPr>
          <a:xfrm>
            <a:off x="777240" y="3895344"/>
            <a:ext cx="1828800" cy="219456"/>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Kế hoạch kiểm thử</a:t>
            </a:r>
            <a:endParaRPr lang="en-US" sz="1100" dirty="0"/>
          </a:p>
        </p:txBody>
      </p:sp>
      <p:sp>
        <p:nvSpPr>
          <p:cNvPr id="8" name="Text 5"/>
          <p:cNvSpPr txBox="1"/>
          <p:nvPr/>
        </p:nvSpPr>
        <p:spPr>
          <a:xfrm>
            <a:off x="2697480" y="3877056"/>
            <a:ext cx="5715000" cy="713232"/>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222833"/>
                </a:solidFill>
                <a:latin typeface="Calibri" pitchFamily="34" charset="0"/>
                <a:ea typeface="Calibri" pitchFamily="34" charset="-122"/>
                <a:cs typeface="Calibri" pitchFamily="34" charset="-120"/>
              </a:rPr>
              <a:t>Data Testing — 100% schema hợp lệ, ≥ 99,5% bản ghi luân chuyển</a:t>
            </a:r>
            <a:endParaRPr lang="en-US" sz="900" dirty="0"/>
          </a:p>
          <a:p>
            <a:pPr marL="342900" indent="-342900">
              <a:spcAft>
                <a:spcPts val="200"/>
              </a:spcAft>
              <a:buSzPct val="100000"/>
              <a:buChar char="•"/>
            </a:pPr>
            <a:r>
              <a:rPr lang="en-US" sz="900" dirty="0">
                <a:solidFill>
                  <a:srgbClr val="222833"/>
                </a:solidFill>
                <a:latin typeface="Calibri" pitchFamily="34" charset="0"/>
                <a:ea typeface="Calibri" pitchFamily="34" charset="-122"/>
                <a:cs typeface="Calibri" pitchFamily="34" charset="-120"/>
              </a:rPr>
              <a:t>Model Testing — backtesting: MAPE, MAE, Precision, Δ ổn định</a:t>
            </a:r>
            <a:endParaRPr lang="en-US" sz="900" dirty="0"/>
          </a:p>
          <a:p>
            <a:pPr marL="342900" indent="-342900">
              <a:spcAft>
                <a:spcPts val="200"/>
              </a:spcAft>
              <a:buSzPct val="100000"/>
              <a:buChar char="•"/>
            </a:pPr>
            <a:r>
              <a:rPr lang="en-US" sz="900" dirty="0">
                <a:solidFill>
                  <a:srgbClr val="222833"/>
                </a:solidFill>
                <a:latin typeface="Calibri" pitchFamily="34" charset="0"/>
                <a:ea typeface="Calibri" pitchFamily="34" charset="-122"/>
                <a:cs typeface="Calibri" pitchFamily="34" charset="-120"/>
              </a:rPr>
              <a:t>Load Testing — JMeter 500 CCU: P95 ≤ 500ms, 5xx &lt; 0,1%</a:t>
            </a:r>
            <a:endParaRPr lang="en-US" sz="900" dirty="0"/>
          </a:p>
          <a:p>
            <a:pPr marL="342900" indent="-342900">
              <a:spcAft>
                <a:spcPts val="200"/>
              </a:spcAft>
              <a:buSzPct val="100000"/>
              <a:buChar char="•"/>
            </a:pPr>
            <a:r>
              <a:rPr lang="en-US" sz="900" dirty="0">
                <a:solidFill>
                  <a:srgbClr val="222833"/>
                </a:solidFill>
                <a:latin typeface="Calibri" pitchFamily="34" charset="0"/>
                <a:ea typeface="Calibri" pitchFamily="34" charset="-122"/>
                <a:cs typeface="Calibri" pitchFamily="34" charset="-120"/>
              </a:rPr>
              <a:t>UAT — Key User ký sign-off trước Go-live</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txBox="1"/>
          <p:nvPr/>
        </p:nvSpPr>
        <p:spPr>
          <a:xfrm>
            <a:off x="548640" y="475488"/>
            <a:ext cx="8046720" cy="777240"/>
          </a:xfrm>
          <a:prstGeom prst="rect">
            <a:avLst/>
          </a:prstGeom>
          <a:noFill/>
          <a:ln/>
        </p:spPr>
        <p:txBody>
          <a:bodyPr wrap="square" lIns="0" tIns="0" rIns="0" bIns="0" rtlCol="0" anchor="t"/>
          <a:lstStyle/>
          <a:p>
            <a:pPr marL="0" indent="0">
              <a:buNone/>
            </a:pPr>
            <a:r>
              <a:rPr lang="en-US" sz="2500" b="1" dirty="0">
                <a:solidFill>
                  <a:srgbClr val="1E2761"/>
                </a:solidFill>
                <a:latin typeface="Cambria" pitchFamily="34" charset="0"/>
                <a:ea typeface="Cambria" pitchFamily="34" charset="-122"/>
                <a:cs typeface="Cambria" pitchFamily="34" charset="-120"/>
              </a:rPr>
              <a:t>Vận hành, chuyển giao và đánh giá hiệu quả</a:t>
            </a:r>
            <a:endParaRPr lang="en-US" sz="2500" dirty="0"/>
          </a:p>
        </p:txBody>
      </p:sp>
      <p:sp>
        <p:nvSpPr>
          <p:cNvPr id="5" name="Shape 3"/>
          <p:cNvSpPr/>
          <p:nvPr/>
        </p:nvSpPr>
        <p:spPr>
          <a:xfrm>
            <a:off x="548640" y="1298448"/>
            <a:ext cx="3977640" cy="1536192"/>
          </a:xfrm>
          <a:prstGeom prst="roundRect">
            <a:avLst>
              <a:gd name="adj" fmla="val 3571"/>
            </a:avLst>
          </a:prstGeom>
          <a:solidFill>
            <a:srgbClr val="E8F0FE"/>
          </a:solidFill>
          <a:ln w="6350">
            <a:solidFill>
              <a:srgbClr val="E8F0FE"/>
            </a:solidFill>
            <a:prstDash val="solid"/>
          </a:ln>
        </p:spPr>
        <p:txBody>
          <a:bodyPr/>
          <a:lstStyle/>
          <a:p>
            <a:endParaRPr lang="en-US"/>
          </a:p>
        </p:txBody>
      </p:sp>
      <p:sp>
        <p:nvSpPr>
          <p:cNvPr id="6" name="Text 4"/>
          <p:cNvSpPr txBox="1"/>
          <p:nvPr/>
        </p:nvSpPr>
        <p:spPr>
          <a:xfrm>
            <a:off x="749808" y="1417320"/>
            <a:ext cx="3611880" cy="237744"/>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Vận hành &amp; hỗ trợ</a:t>
            </a:r>
            <a:endParaRPr lang="en-US" sz="1150" dirty="0"/>
          </a:p>
        </p:txBody>
      </p:sp>
      <p:sp>
        <p:nvSpPr>
          <p:cNvPr id="7" name="Text 5"/>
          <p:cNvSpPr txBox="1"/>
          <p:nvPr/>
        </p:nvSpPr>
        <p:spPr>
          <a:xfrm>
            <a:off x="749808" y="1700784"/>
            <a:ext cx="3611880" cy="100584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222833"/>
                </a:solidFill>
                <a:latin typeface="Calibri" pitchFamily="34" charset="0"/>
                <a:ea typeface="Calibri" pitchFamily="34" charset="-122"/>
                <a:cs typeface="Calibri" pitchFamily="34" charset="-120"/>
              </a:rPr>
              <a:t>Hypercare 1 tháng sau Go-live, daily standup 09:00</a:t>
            </a:r>
            <a:endParaRPr lang="en-US" sz="1200" dirty="0"/>
          </a:p>
          <a:p>
            <a:pPr marL="342900" indent="-342900">
              <a:spcAft>
                <a:spcPts val="600"/>
              </a:spcAft>
              <a:buSzPct val="100000"/>
              <a:buChar char="•"/>
            </a:pPr>
            <a:r>
              <a:rPr lang="en-US" sz="1200" dirty="0">
                <a:solidFill>
                  <a:srgbClr val="222833"/>
                </a:solidFill>
                <a:latin typeface="Calibri" pitchFamily="34" charset="0"/>
                <a:ea typeface="Calibri" pitchFamily="34" charset="-122"/>
                <a:cs typeface="Calibri" pitchFamily="34" charset="-120"/>
              </a:rPr>
              <a:t>ITSM 3 tier; SLA xử lý lỗi nghiêm trọng ≤ 4 giờ</a:t>
            </a:r>
            <a:endParaRPr lang="en-US" sz="1200" dirty="0"/>
          </a:p>
          <a:p>
            <a:pPr marL="342900" indent="-342900">
              <a:spcAft>
                <a:spcPts val="600"/>
              </a:spcAft>
              <a:buSzPct val="100000"/>
              <a:buChar char="•"/>
            </a:pPr>
            <a:r>
              <a:rPr lang="en-US" sz="1200" dirty="0">
                <a:solidFill>
                  <a:srgbClr val="222833"/>
                </a:solidFill>
                <a:latin typeface="Calibri" pitchFamily="34" charset="0"/>
                <a:ea typeface="Calibri" pitchFamily="34" charset="-122"/>
                <a:cs typeface="Calibri" pitchFamily="34" charset="-120"/>
              </a:rPr>
              <a:t>Grafana giám sát 3 metrics: Freshness, Latency, MAPE</a:t>
            </a:r>
            <a:endParaRPr lang="en-US" sz="1200" dirty="0"/>
          </a:p>
        </p:txBody>
      </p:sp>
      <p:sp>
        <p:nvSpPr>
          <p:cNvPr id="8" name="Shape 6"/>
          <p:cNvSpPr/>
          <p:nvPr/>
        </p:nvSpPr>
        <p:spPr>
          <a:xfrm>
            <a:off x="4617720" y="1298448"/>
            <a:ext cx="3977640" cy="1536192"/>
          </a:xfrm>
          <a:prstGeom prst="roundRect">
            <a:avLst>
              <a:gd name="adj" fmla="val 3571"/>
            </a:avLst>
          </a:prstGeom>
          <a:solidFill>
            <a:srgbClr val="E8F0FE"/>
          </a:solidFill>
          <a:ln w="6350">
            <a:solidFill>
              <a:srgbClr val="E8F0FE"/>
            </a:solidFill>
            <a:prstDash val="solid"/>
          </a:ln>
        </p:spPr>
        <p:txBody>
          <a:bodyPr/>
          <a:lstStyle/>
          <a:p>
            <a:endParaRPr lang="en-US"/>
          </a:p>
        </p:txBody>
      </p:sp>
      <p:sp>
        <p:nvSpPr>
          <p:cNvPr id="9" name="Text 7"/>
          <p:cNvSpPr txBox="1"/>
          <p:nvPr/>
        </p:nvSpPr>
        <p:spPr>
          <a:xfrm>
            <a:off x="4818888" y="1417320"/>
            <a:ext cx="3611880" cy="237744"/>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Sao lưu &amp; DR</a:t>
            </a:r>
            <a:endParaRPr lang="en-US" sz="1150" dirty="0"/>
          </a:p>
        </p:txBody>
      </p:sp>
      <p:sp>
        <p:nvSpPr>
          <p:cNvPr id="10" name="Text 8"/>
          <p:cNvSpPr txBox="1"/>
          <p:nvPr/>
        </p:nvSpPr>
        <p:spPr>
          <a:xfrm>
            <a:off x="4818888" y="1700784"/>
            <a:ext cx="3611880" cy="100584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222833"/>
                </a:solidFill>
                <a:latin typeface="Calibri" pitchFamily="34" charset="0"/>
                <a:ea typeface="Calibri" pitchFamily="34" charset="-122"/>
                <a:cs typeface="Calibri" pitchFamily="34" charset="-120"/>
              </a:rPr>
              <a:t>Nguyên tắc 3-2-1 cho PostgreSQL, sao lưu tự động hàng ngày</a:t>
            </a:r>
            <a:endParaRPr lang="en-US" sz="1200" dirty="0"/>
          </a:p>
          <a:p>
            <a:pPr marL="342900" indent="-342900">
              <a:spcAft>
                <a:spcPts val="600"/>
              </a:spcAft>
              <a:buSzPct val="100000"/>
              <a:buChar char="•"/>
            </a:pPr>
            <a:r>
              <a:rPr lang="en-US" sz="1200" dirty="0">
                <a:solidFill>
                  <a:srgbClr val="222833"/>
                </a:solidFill>
                <a:latin typeface="Calibri" pitchFamily="34" charset="0"/>
                <a:ea typeface="Calibri" pitchFamily="34" charset="-122"/>
                <a:cs typeface="Calibri" pitchFamily="34" charset="-120"/>
              </a:rPr>
              <a:t>DR Drill 6 tháng/lần, RPO &lt; 24h, RTO &lt; 4h</a:t>
            </a:r>
            <a:endParaRPr lang="en-US" sz="1200" dirty="0"/>
          </a:p>
        </p:txBody>
      </p:sp>
      <p:sp>
        <p:nvSpPr>
          <p:cNvPr id="11" name="Shape 9"/>
          <p:cNvSpPr/>
          <p:nvPr/>
        </p:nvSpPr>
        <p:spPr>
          <a:xfrm>
            <a:off x="548640" y="2971800"/>
            <a:ext cx="3977640" cy="1536192"/>
          </a:xfrm>
          <a:prstGeom prst="roundRect">
            <a:avLst>
              <a:gd name="adj" fmla="val 3571"/>
            </a:avLst>
          </a:prstGeom>
          <a:solidFill>
            <a:srgbClr val="E8F0FE"/>
          </a:solidFill>
          <a:ln w="6350">
            <a:solidFill>
              <a:srgbClr val="E8F0FE"/>
            </a:solidFill>
            <a:prstDash val="solid"/>
          </a:ln>
        </p:spPr>
        <p:txBody>
          <a:bodyPr/>
          <a:lstStyle/>
          <a:p>
            <a:endParaRPr lang="en-US"/>
          </a:p>
        </p:txBody>
      </p:sp>
      <p:sp>
        <p:nvSpPr>
          <p:cNvPr id="12" name="Text 10"/>
          <p:cNvSpPr txBox="1"/>
          <p:nvPr/>
        </p:nvSpPr>
        <p:spPr>
          <a:xfrm>
            <a:off x="749808" y="3090672"/>
            <a:ext cx="3611880" cy="237744"/>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Bàn giao</a:t>
            </a:r>
            <a:endParaRPr lang="en-US" sz="1150" dirty="0"/>
          </a:p>
        </p:txBody>
      </p:sp>
      <p:sp>
        <p:nvSpPr>
          <p:cNvPr id="13" name="Text 11"/>
          <p:cNvSpPr txBox="1"/>
          <p:nvPr/>
        </p:nvSpPr>
        <p:spPr>
          <a:xfrm>
            <a:off x="749808" y="3374136"/>
            <a:ext cx="3611880" cy="100584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222833"/>
                </a:solidFill>
                <a:latin typeface="Calibri" pitchFamily="34" charset="0"/>
                <a:ea typeface="Calibri" pitchFamily="34" charset="-122"/>
                <a:cs typeface="Calibri" pitchFamily="34" charset="-120"/>
              </a:rPr>
              <a:t>Source code pipeline, model, API trên GitLab</a:t>
            </a:r>
            <a:endParaRPr lang="en-US" sz="1200" dirty="0"/>
          </a:p>
          <a:p>
            <a:pPr marL="342900" indent="-342900">
              <a:spcAft>
                <a:spcPts val="600"/>
              </a:spcAft>
              <a:buSzPct val="100000"/>
              <a:buChar char="•"/>
            </a:pPr>
            <a:r>
              <a:rPr lang="en-US" sz="1200" dirty="0">
                <a:solidFill>
                  <a:srgbClr val="222833"/>
                </a:solidFill>
                <a:latin typeface="Calibri" pitchFamily="34" charset="0"/>
                <a:ea typeface="Calibri" pitchFamily="34" charset="-122"/>
                <a:cs typeface="Calibri" pitchFamily="34" charset="-120"/>
              </a:rPr>
              <a:t>Tài khoản Cloud, MLflow, Airflow</a:t>
            </a:r>
            <a:endParaRPr lang="en-US" sz="1200" dirty="0"/>
          </a:p>
          <a:p>
            <a:pPr marL="342900" indent="-342900">
              <a:spcAft>
                <a:spcPts val="600"/>
              </a:spcAft>
              <a:buSzPct val="100000"/>
              <a:buChar char="•"/>
            </a:pPr>
            <a:r>
              <a:rPr lang="en-US" sz="1200" dirty="0">
                <a:solidFill>
                  <a:srgbClr val="222833"/>
                </a:solidFill>
                <a:latin typeface="Calibri" pitchFamily="34" charset="0"/>
                <a:ea typeface="Calibri" pitchFamily="34" charset="-122"/>
                <a:cs typeface="Calibri" pitchFamily="34" charset="-120"/>
              </a:rPr>
              <a:t>HLD/LLD, Runbook, báo cáo benchmark đa mô hình</a:t>
            </a:r>
            <a:endParaRPr lang="en-US" sz="1200" dirty="0"/>
          </a:p>
        </p:txBody>
      </p:sp>
      <p:sp>
        <p:nvSpPr>
          <p:cNvPr id="14" name="Shape 12"/>
          <p:cNvSpPr/>
          <p:nvPr/>
        </p:nvSpPr>
        <p:spPr>
          <a:xfrm>
            <a:off x="4617720" y="2971800"/>
            <a:ext cx="3977640" cy="1536192"/>
          </a:xfrm>
          <a:prstGeom prst="roundRect">
            <a:avLst>
              <a:gd name="adj" fmla="val 3571"/>
            </a:avLst>
          </a:prstGeom>
          <a:solidFill>
            <a:srgbClr val="E8F0FE"/>
          </a:solidFill>
          <a:ln w="6350">
            <a:solidFill>
              <a:srgbClr val="E8F0FE"/>
            </a:solidFill>
            <a:prstDash val="solid"/>
          </a:ln>
        </p:spPr>
        <p:txBody>
          <a:bodyPr/>
          <a:lstStyle/>
          <a:p>
            <a:endParaRPr lang="en-US"/>
          </a:p>
        </p:txBody>
      </p:sp>
      <p:sp>
        <p:nvSpPr>
          <p:cNvPr id="15" name="Text 13"/>
          <p:cNvSpPr txBox="1"/>
          <p:nvPr/>
        </p:nvSpPr>
        <p:spPr>
          <a:xfrm>
            <a:off x="4818888" y="3090672"/>
            <a:ext cx="3611880" cy="237744"/>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Nghiệm thu &amp; Benefit Realization</a:t>
            </a:r>
            <a:endParaRPr lang="en-US" sz="1150" dirty="0"/>
          </a:p>
        </p:txBody>
      </p:sp>
      <p:sp>
        <p:nvSpPr>
          <p:cNvPr id="16" name="Text 14"/>
          <p:cNvSpPr txBox="1"/>
          <p:nvPr/>
        </p:nvSpPr>
        <p:spPr>
          <a:xfrm>
            <a:off x="4818888" y="3374136"/>
            <a:ext cx="3611880" cy="100584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222833"/>
                </a:solidFill>
                <a:latin typeface="Calibri" pitchFamily="34" charset="0"/>
                <a:ea typeface="Calibri" pitchFamily="34" charset="-122"/>
                <a:cs typeface="Calibri" pitchFamily="34" charset="-120"/>
              </a:rPr>
              <a:t>UAT ký xác nhận, pass 100% test case Critical/High</a:t>
            </a:r>
            <a:endParaRPr lang="en-US" sz="1200" dirty="0"/>
          </a:p>
          <a:p>
            <a:pPr marL="342900" indent="-342900">
              <a:spcAft>
                <a:spcPts val="600"/>
              </a:spcAft>
              <a:buSzPct val="100000"/>
              <a:buChar char="•"/>
            </a:pPr>
            <a:r>
              <a:rPr lang="en-US" sz="1200" dirty="0">
                <a:solidFill>
                  <a:srgbClr val="222833"/>
                </a:solidFill>
                <a:latin typeface="Calibri" pitchFamily="34" charset="0"/>
                <a:ea typeface="Calibri" pitchFamily="34" charset="-122"/>
                <a:cs typeface="Calibri" pitchFamily="34" charset="-120"/>
              </a:rPr>
              <a:t>14 ngày Production không sự cố P0/P1</a:t>
            </a:r>
            <a:endParaRPr lang="en-US" sz="1200" dirty="0"/>
          </a:p>
          <a:p>
            <a:pPr marL="342900" indent="-342900">
              <a:spcAft>
                <a:spcPts val="600"/>
              </a:spcAft>
              <a:buSzPct val="100000"/>
              <a:buChar char="•"/>
            </a:pPr>
            <a:r>
              <a:rPr lang="en-US" sz="1200" dirty="0">
                <a:solidFill>
                  <a:srgbClr val="222833"/>
                </a:solidFill>
                <a:latin typeface="Calibri" pitchFamily="34" charset="0"/>
                <a:ea typeface="Calibri" pitchFamily="34" charset="-122"/>
                <a:cs typeface="Calibri" pitchFamily="34" charset="-120"/>
              </a:rPr>
              <a:t>Đo lại KPI tại +1, +3, +6 tháng; mốc +3 tháng MAPE phải &lt; 10%</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txBox="1"/>
          <p:nvPr/>
        </p:nvSpPr>
        <p:spPr>
          <a:xfrm>
            <a:off x="640080" y="932688"/>
            <a:ext cx="7863840" cy="548640"/>
          </a:xfrm>
          <a:prstGeom prst="rect">
            <a:avLst/>
          </a:prstGeom>
          <a:noFill/>
          <a:ln/>
        </p:spPr>
        <p:txBody>
          <a:bodyPr wrap="square" lIns="0" tIns="0" rIns="0" bIns="0" rtlCol="0" anchor="ctr"/>
          <a:lstStyle/>
          <a:p>
            <a:pPr marL="0" indent="0">
              <a:buNone/>
            </a:pPr>
            <a:r>
              <a:rPr lang="en-US" sz="2900" b="1" dirty="0">
                <a:solidFill>
                  <a:srgbClr val="FFFFFF"/>
                </a:solidFill>
                <a:latin typeface="Cambria" pitchFamily="34" charset="0"/>
                <a:ea typeface="Cambria" pitchFamily="34" charset="-122"/>
                <a:cs typeface="Cambria" pitchFamily="34" charset="-120"/>
              </a:rPr>
              <a:t>Đề tài khả thi và sẵn sàng triển khai</a:t>
            </a:r>
            <a:endParaRPr lang="en-US" sz="2900" dirty="0"/>
          </a:p>
        </p:txBody>
      </p:sp>
      <p:sp>
        <p:nvSpPr>
          <p:cNvPr id="4" name="Shape 2"/>
          <p:cNvSpPr/>
          <p:nvPr/>
        </p:nvSpPr>
        <p:spPr>
          <a:xfrm>
            <a:off x="658368" y="1691640"/>
            <a:ext cx="384048" cy="384048"/>
          </a:xfrm>
          <a:prstGeom prst="ellipse">
            <a:avLst/>
          </a:prstGeom>
          <a:solidFill>
            <a:srgbClr val="E08A1E"/>
          </a:solidFill>
          <a:ln/>
        </p:spPr>
        <p:txBody>
          <a:bodyPr/>
          <a:lstStyle/>
          <a:p>
            <a:endParaRPr lang="en-US"/>
          </a:p>
        </p:txBody>
      </p:sp>
      <p:sp>
        <p:nvSpPr>
          <p:cNvPr id="5" name="Text 3"/>
          <p:cNvSpPr txBox="1"/>
          <p:nvPr/>
        </p:nvSpPr>
        <p:spPr>
          <a:xfrm>
            <a:off x="658368" y="1691640"/>
            <a:ext cx="384048" cy="384048"/>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188720" y="1673352"/>
            <a:ext cx="7315200" cy="23774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Bài toán có giá trị đa phòng ban</a:t>
            </a:r>
            <a:endParaRPr lang="en-US" sz="1300" dirty="0"/>
          </a:p>
        </p:txBody>
      </p:sp>
      <p:sp>
        <p:nvSpPr>
          <p:cNvPr id="7" name="Text 5"/>
          <p:cNvSpPr txBox="1"/>
          <p:nvPr/>
        </p:nvSpPr>
        <p:spPr>
          <a:xfrm>
            <a:off x="1188720" y="1911096"/>
            <a:ext cx="7315200" cy="27432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Một kết quả dự báo phục vụ điều phối nhân sự, kho vận và marketing</a:t>
            </a:r>
            <a:endParaRPr lang="en-US" sz="1050" dirty="0"/>
          </a:p>
        </p:txBody>
      </p:sp>
      <p:sp>
        <p:nvSpPr>
          <p:cNvPr id="8" name="Shape 6"/>
          <p:cNvSpPr/>
          <p:nvPr/>
        </p:nvSpPr>
        <p:spPr>
          <a:xfrm>
            <a:off x="658368" y="2404872"/>
            <a:ext cx="384048" cy="384048"/>
          </a:xfrm>
          <a:prstGeom prst="ellipse">
            <a:avLst/>
          </a:prstGeom>
          <a:solidFill>
            <a:srgbClr val="E08A1E"/>
          </a:solidFill>
          <a:ln/>
        </p:spPr>
        <p:txBody>
          <a:bodyPr/>
          <a:lstStyle/>
          <a:p>
            <a:endParaRPr lang="en-US"/>
          </a:p>
        </p:txBody>
      </p:sp>
      <p:sp>
        <p:nvSpPr>
          <p:cNvPr id="9" name="Text 7"/>
          <p:cNvSpPr txBox="1"/>
          <p:nvPr/>
        </p:nvSpPr>
        <p:spPr>
          <a:xfrm>
            <a:off x="658368" y="2404872"/>
            <a:ext cx="384048" cy="384048"/>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188720" y="2386584"/>
            <a:ext cx="7315200" cy="23774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KPI đo được, có baseline</a:t>
            </a:r>
            <a:endParaRPr lang="en-US" sz="1300" dirty="0"/>
          </a:p>
        </p:txBody>
      </p:sp>
      <p:sp>
        <p:nvSpPr>
          <p:cNvPr id="11" name="Text 9"/>
          <p:cNvSpPr txBox="1"/>
          <p:nvPr/>
        </p:nvSpPr>
        <p:spPr>
          <a:xfrm>
            <a:off x="1188720" y="2624328"/>
            <a:ext cx="7315200" cy="27432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Hai nhóm KPI độc lập, độ đo chuẩn quốc tế, mốc đo tại +1/+3/+6 tháng</a:t>
            </a:r>
            <a:endParaRPr lang="en-US" sz="1050" dirty="0"/>
          </a:p>
        </p:txBody>
      </p:sp>
      <p:sp>
        <p:nvSpPr>
          <p:cNvPr id="12" name="Shape 10"/>
          <p:cNvSpPr/>
          <p:nvPr/>
        </p:nvSpPr>
        <p:spPr>
          <a:xfrm>
            <a:off x="658368" y="3118104"/>
            <a:ext cx="384048" cy="384048"/>
          </a:xfrm>
          <a:prstGeom prst="ellipse">
            <a:avLst/>
          </a:prstGeom>
          <a:solidFill>
            <a:srgbClr val="E08A1E"/>
          </a:solidFill>
          <a:ln/>
        </p:spPr>
        <p:txBody>
          <a:bodyPr/>
          <a:lstStyle/>
          <a:p>
            <a:endParaRPr lang="en-US"/>
          </a:p>
        </p:txBody>
      </p:sp>
      <p:sp>
        <p:nvSpPr>
          <p:cNvPr id="13" name="Text 11"/>
          <p:cNvSpPr txBox="1"/>
          <p:nvPr/>
        </p:nvSpPr>
        <p:spPr>
          <a:xfrm>
            <a:off x="658368" y="3118104"/>
            <a:ext cx="384048" cy="384048"/>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188720" y="3099816"/>
            <a:ext cx="7315200" cy="23774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Có phương án kỹ thuật dự phòng</a:t>
            </a:r>
            <a:endParaRPr lang="en-US" sz="1300" dirty="0"/>
          </a:p>
        </p:txBody>
      </p:sp>
      <p:sp>
        <p:nvSpPr>
          <p:cNvPr id="15" name="Text 13"/>
          <p:cNvSpPr txBox="1"/>
          <p:nvPr/>
        </p:nvSpPr>
        <p:spPr>
          <a:xfrm>
            <a:off x="1188720" y="3337560"/>
            <a:ext cx="7315200" cy="27432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Cam kết ngưỡng chỉ số, thực nghiệm ≥ 4 phương pháp, có fallback rõ ràng</a:t>
            </a:r>
            <a:endParaRPr lang="en-US" sz="1050" dirty="0"/>
          </a:p>
        </p:txBody>
      </p:sp>
      <p:sp>
        <p:nvSpPr>
          <p:cNvPr id="16" name="Shape 14"/>
          <p:cNvSpPr/>
          <p:nvPr/>
        </p:nvSpPr>
        <p:spPr>
          <a:xfrm>
            <a:off x="658368" y="3831336"/>
            <a:ext cx="384048" cy="384048"/>
          </a:xfrm>
          <a:prstGeom prst="ellipse">
            <a:avLst/>
          </a:prstGeom>
          <a:solidFill>
            <a:srgbClr val="E08A1E"/>
          </a:solidFill>
          <a:ln/>
        </p:spPr>
        <p:txBody>
          <a:bodyPr/>
          <a:lstStyle/>
          <a:p>
            <a:endParaRPr lang="en-US"/>
          </a:p>
        </p:txBody>
      </p:sp>
      <p:sp>
        <p:nvSpPr>
          <p:cNvPr id="17" name="Text 15"/>
          <p:cNvSpPr txBox="1"/>
          <p:nvPr/>
        </p:nvSpPr>
        <p:spPr>
          <a:xfrm>
            <a:off x="658368" y="3831336"/>
            <a:ext cx="384048" cy="384048"/>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1188720" y="3813048"/>
            <a:ext cx="7315200" cy="23774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Chi phí hợp lý, không trùng lặp</a:t>
            </a:r>
            <a:endParaRPr lang="en-US" sz="1300" dirty="0"/>
          </a:p>
        </p:txBody>
      </p:sp>
      <p:sp>
        <p:nvSpPr>
          <p:cNvPr id="19" name="Text 17"/>
          <p:cNvSpPr txBox="1"/>
          <p:nvPr/>
        </p:nvSpPr>
        <p:spPr>
          <a:xfrm>
            <a:off x="1188720" y="4050792"/>
            <a:ext cx="7315200" cy="27432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CAPEX 663 triệu · TCO năm 1 1,088 tỷ · không cộng dồn với đồ án nếu triển khai chung</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TotalTime>
  <Words>3256</Words>
  <Application>Microsoft Office PowerPoint</Application>
  <PresentationFormat>On-screen Show (16:9)</PresentationFormat>
  <Paragraphs>476</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thực hành — Ứng dụng AI dự báo lưu lượng khách hàng đa chi nhánh</dc:title>
  <dc:subject>PptxGenJS Presentation</dc:subject>
  <dc:creator>Nhóm 5</dc:creator>
  <cp:lastModifiedBy>Phạm Minh Mẫn</cp:lastModifiedBy>
  <cp:revision>8</cp:revision>
  <dcterms:created xsi:type="dcterms:W3CDTF">2026-09-16T16:52:56Z</dcterms:created>
  <dcterms:modified xsi:type="dcterms:W3CDTF">2026-09-16T18:48:12Z</dcterms:modified>
</cp:coreProperties>
</file>